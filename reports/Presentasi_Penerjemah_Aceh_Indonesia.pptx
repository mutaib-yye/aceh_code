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3a1c3da6-b1d8-9b7f-f31a-136a42c0310d}">
          <p14:sldIdLst>
            <p14:sldId id="256"/>
            <p14:sldId id="257"/>
          </p14:sldIdLst>
        </p14:section>
        <p14:section name="Gambaran" id="{3a1ad8cd-d7da-dda0-f1f5-f86125ba6747}">
          <p14:sldIdLst>
            <p14:sldId id="258"/>
            <p14:sldId id="259"/>
            <p14:sldId id="260"/>
            <p14:sldId id="261"/>
            <p14:sldId id="262"/>
            <p14:sldId id="263"/>
          </p14:sldIdLst>
        </p14:section>
        <p14:section name="Data" id="{a9bec663-1a58-ca62-0380-3a0d871697e8}">
          <p14:sldIdLst>
            <p14:sldId id="264"/>
            <p14:sldId id="265"/>
            <p14:sldId id="266"/>
            <p14:sldId id="267"/>
            <p14:sldId id="268"/>
            <p14:sldId id="269"/>
            <p14:sldId id="270"/>
            <p14:sldId id="271"/>
            <p14:sldId id="272"/>
          </p14:sldIdLst>
        </p14:section>
        <p14:section name="Metode" id="{381e0333-6667-ee74-d32d-4e1c299aae44}">
          <p14:sldIdLst>
            <p14:sldId id="273"/>
            <p14:sldId id="274"/>
          </p14:sldIdLst>
        </p14:section>
        <p14:section name="Hasil" id="{a9ad1ef1-2b5b-9152-b481-55be878a1e20}">
          <p14:sldIdLst>
            <p14:sldId id="275"/>
            <p14:sldId id="276"/>
            <p14:sldId id="277"/>
            <p14:sldId id="278"/>
            <p14:sldId id="279"/>
            <p14:sldId id="280"/>
            <p14:sldId id="281"/>
          </p14:sldIdLst>
        </p14:section>
        <p14:section name="Aplikasi" id="{b67390cc-0fdd-7293-9d02-afb560208b57}">
          <p14:sldIdLst>
            <p14:sldId id="282"/>
            <p14:sldId id="283"/>
            <p14:sldId id="284"/>
          </p14:sldIdLst>
        </p14:section>
        <p14:section name="Penutup" id="{46f9c945-ff6c-5256-c802-9625338bef24}">
          <p14:sldIdLst>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Kami Kelompok 2 Proyek AcehX. Kami membuat penerjemah dari bahasa Aceh ke bahasa Indonesia. Kami melatih model NLLB-200 dengan 17.547 pasangan kalimat yang kami kumpulkan dan bersihkan, mengujinya pada kalimat yang belum pernah dilihat model, lalu membuat aplikasi yang bisa dijalankan di komputer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sembilan anggota tim Kelompok 2. Kami bekerja bersama: mengumpulkan data, membersihkan dan menyejajarkan teks, melatih model, mengujinya, dan membuat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satu slide. Tiga angka utama: 17.547 pasangan latih, skor chrF++ 57,1 di NusaX dibanding 38,7 pada model dasar, dan kenaikan 36,9 poin pada syair hikayat. Lalu empat bagian kerja kami: data, teknik, evaluasi, dan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brief AcehX menetapkan empat tahap: sourcing, normalisasi, screening, dan capture. Sasaran minimalnya penerjemah Aceh ke Indonesia, idealnya dua arah. Hasilnya berupa proof of concept. Setelah itu data dibagi untuk latih, validasi, dan uji, dan disiapkan data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teknik yang diminta dosen. Direct dan transfer adalah pendekatan klasik berbasis aturan, kami buat sebagai pembanding. Model neural adalah sistem utama, dan encoder bersamanya paling dekat dengan konsep antarlingua. Augmentasi data kami lakukan lewat terjemahan pivot. Disambiguasi adalah pemilih arti kata berbasis kamus di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tahap. Kami mengumpulkan data dari banyak tempat, membersihkan dan menyejajarkannya, menormalkan dan memeriksanya, melatih model, lalu menguji dan menyajikannya. Setiap tahap adalah satu perintah di kode kami, jadi seluruh alur bisa diulang.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Dasar teorinya singkat. Transformer memakai encoder dan decoder. NLLB-200 adalah model terjemahan multibahasa dari Meta yang sudah mengenal bahasa Aceh. NusaX dan FLORES adalah data paralel dan tolok ukur. Dan kami mengikuti prinsip Datasheets for Datasets: setiap data dicatat asal dan lisensinya.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memakai tiga ukuran: BLEU, chrF, dan chrF++. Semua berskala 0 sampai 100 dan makin tinggi makin baik. Penting: skor ini bukan persentase kalimat yang benar. Karena itu kami juga memeriksa contoh keluaran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Delapan sumber data paralel, yaitu kalimat Aceh dengan terjemahan Indonesia. Korpus terbuka: NusaX, FLORES, Wikipedia, dan NLLB-Seed. Buku dan skripsi yang kami digitalkan: Hikayat Abu Sammah dan Malik Mawot. Terjemahan Al-Qur'an. Dan terjemahan buatan tim kami sendiri. Semuanya dicatat sumber dan lisensinya di repositori.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hasil audit korpus AcehX. Ada empat berkas. Corpus TXT punya 63.367 baris Aceh tanpa terjemahan. Dua berkas CSV, cerita dan lagu-puisi, punya 16.374 rekaman, dan hanya 103 yang punya dua sisi bahasa. Berkas JSONL punya 5.000 rekaman dengan 4.146 kandidat pasangan. Kami memisahkan jumlah unit dari jumlah pasangan, karena sebagian besar bahan masih satu bahasa.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rekaman diberi status. KEEP berarti lolos pemeriksaan awal, REVIEW berarti perlu ditinjau lagi, DROP berarti dikeluarkan tetapi tetap disimpan. Ada 4.433 KEEP, 11.562 REVIEW, dan 379 DROP. Semua DROP adalah duplikat persis, sekitar 2,31 persen, di bawah batas 5 persen di brief. Status ini adalah penyaringan awal, bukan pengesahan mutu. Peninjauan oleh penutur adalah langkah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isi pelatihan yang sebenarnya, tercatat di manifest: 17.547 pasangan. Al-Qur'an dan data pivot adalah bagian terbesar, disusul terjemahan tim dan hikayat. Awalnya ada 17.618 kandidat. Satu pasangan yang terlalu mirip dan 70 duplikat dibuang, dan tidak ada kecocokan persis dengan data yang dilindungi. Validasi 379 pasangan dipakai memilih epoch terbaik. Tiga set uji dipisah sepenuhnya.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Hikayat Abu Sammah adalah buku cetak hasil pindai. Bagian Aceh dan bagian Indonesia ada di halaman berbeda. Teks bawaan PDF kurang baik: 11,3 persen kata salah pada contoh yang kami periksa tangan. Setelah kami baca ulang dengan OCR 300 dpi, kata salah turun menjadi 0,8 persen. Lalu kami bersihkan dan sejajarkan bait dengan pemrograman dinamis. Dari 40 pasangan KEEP acak yang kami periksa, 40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sumber yang lebih kecil, masing-masing butuh cara baca sendiri. Malik Mawot adalah skripsi dengan baris Aceh yang diikuti terjemahannya. Kami pisahkan per baris, buang catatan kaki, dan simpan hanya pasangan yang lolos pemeriksaan kemiripan dan bahasa. Berkas tim menghasilkan 2.798 pasangan bersih. Lima cerpen menghasilkan 96 pasangan kalimat.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Augmentasi data berarti membuat data latih baru dari data yang ada. NLLB-Seed punya sekitar enam ribu kalimat Aceh buatan manusia dengan teks Inggris. Terjemahan Inggris ke Indonesia adalah salah satu arah terkuat NLLB, jadi kami menerjemahkan sisi Inggris ke Indonesia dan memasangkannya dengan kalimat Aceh asli. Setelah disaring ada 5.750 kandidat dan 5.733 pasangan dipertahankan. Sisi Indonesia adalah hasil mesin dan ditandai demikian.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pemeriksaan sebelum teks masuk model. Normalisasi menyamakan ejaan, dan aplikasi memakai aturan yang sama persis. Pendeteksi bahasa dari n-gram huruf membuang baris yang bukan bahasa Aceh. Kontrol duplikat memakai kunci pembanding dan pencocokan hampir sama, agar kalimat yang sama tidak muncul dua kali atau bocor ke data 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Skor hanya berarti jika model belum pernah melihat kalimat ujian. Karena itu kami melindunginya berlapis. Halaman dijaga satu blok, kecocokan persis dan hampir sama dibuang, dan skrip pelatihan berhenti jika ada kebocoran. Pada run yang tercatat, jumlah kecocokan persis dengan data yang dilindungi adalah nol. Epoch terbaik dipilih dari validasi, jadi set uji hanya dipakai sekali di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mulai dari NLLB-200 distilled 600 juta parameter, yang sudah mengenal bahasa Aceh. Seluruh bobot dilatih dengan optimizer Adafactor yang hemat memori, sehingga muat di GPU gratis. Label smoothing dan penghentian dini mencegah model menghafal data. Model disimpan dalam setengah presisi agar ukurannya separuh tanpa mengubah terjemahan. Pengaturan ini berasal dari kode pelatihan di repositori kami.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Skor validasi model dasar adalah 41,43. Setelah epoch pertama naik menjadi 52,85, dan mencapai 55,72 di epoch ketiga. Setelah itu sedikit turun, padahal loss latih terus turun. Itu tanda model mulai menghafal data latih. Pelatihan berhenti dini setelah epoch kelima dan kami memakai epoch ketiga, yang terbaik pada validasi.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utama. Pada NusaX, chrF++ naik dari 38,7 menjadi 57,1, atau 18,49 poin. Pada FLORES naik dari 46,3 menjadi 52,8, atau 6,54 poin. Pada hikayat naik dari 24,0 menjadi 60,9, atau 36,94 poin. BLEU dan chrF ikut naik di ketiganya: BLEU naik 17,26, 6,01, dan 33,26 poin. Besarnya kenaikan berbeda antar jenis teks, jadi kami melaporkan ketiganya terpisah dan tidak membuat satu rata-rata. Hikayat paling dekat dengan data syair kami, sehingga NusaX dan FLORES lebih mewakili pemakaian sehari-hari.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dosen tentang pendekatan klasik. Menyalin teks Aceh tanpa diterjemahkan menghasilkan 32,0. Pendekatan direct dengan kamus kata demi kata mencapai 35,5. Dengan analisis dan aturan transfer menjadi 39,2. Model neural yang di-fine-tune mencapai 57,1. Catatan: pada BLEU, NLLB dasar (13,5) lebih tinggi dari transfer (9,1), dan direct (6,1) sedikit di bawah menyalin sumber (6,3). Kesamaan huruf dan kesesuaian susunan kata tidak selalu naik bersama.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mencari tiap kata di kamus dan mempertahankan urutan. Transfer lebih dulu menganalisis kata Aceh: memecah awalan dan akhiran -jih, lalu memindahkan sejumlah kecil kata fungsi dengan aturan, lalu menyusun kalimat. Kami hanya memakai aturan yang didukung data latih NusaX. Pada contoh, direct mengubah 'lon' menjadi 'padam', sedangkan transfer memberi 'saya' yang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terjemahan antarlingua, kalimat sumber diubah menjadi makna yang tidak terikat bahasa, lalu kalimat tujuan ditulis dari makna itu. Sistem klasik membuat representasi itu dengan tangan. NLLB mempelajarinya: encoder-nya memetakan semua bahasa ke ruang bersama, dan decoder menulis bahasa tujuan dari ruang itu. Tag ace_Latn dan ind_Latn memilih sumber dan tujuan. Aplikasi kami menampilkan token encoder dan decoder yang sebenarnya.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Banyak kata Aceh punya lebih dari satu arti. Untuk tiap kata dalam kalimat, modul kami mencari semua artinya di daftar Kamus Aceh-Indonesia 1985. Setiap arti diberi skor menurut berapa banyak kata isinya yang sama dengan terjemahan model, lalu arti terbaik diberi tanda centang jika jelas unggul. Pada contoh, keude punya dua arti dan yang menyebut toko cocok dengan terjemahan. Ini tampil di aplikasi sebagai panel Kata per kata.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keluaran nyata. Yang pertama kalimat sehari-hari sederhana. Yang kedua satu baris syair hikayat yang tidak ada dalam data latih; strukturnya terjaga. Yang ketiga dari set uji NusaX: model dasar salah mengartikan 'warong' menjadi 'warganya', sedangkan model kami menghasilkan 'warung' yang sesuai acuan manusia.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juga memeriksa contoh keluaran, bukan hanya skor. Model kami memperbaiki arti kata, misalnya warung. Tetapi masih ada kesalahan konteks, misalnya memilih menyewa untuk kata pemeliharaan, dan kesalahan arah makna pada contoh FLORES tentang Shark Tank. Ini analisis kualitatif terbatas pada contoh yang tersimpan, bukan penilaian manusia skala penuh. Karena itu pemeriksaan oleh penutur adalah langkah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berjalan di komputer sendiri dan bisa dipakai tanpa internet setelah start pertama. Teks masukan dinormalkan seperti data latih, diterjemahkan kalimat demi kalimat, dan ada tabel rincian. Panel Cara kerja model menampilkan token encoder dan decoder, panel Kata per kata menampilkan arti kamus, dan panel akurasi menampilkan skor uji. Untuk demo, aplikasi juga bisa dijalankan di Colab dengan tautan publik sementara.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ini bisa diulang: ada 91 tes otomatis, satu perintah untuk tiap tahap, dan semuanya ada di repositori Git. Kami juga ingin terbuka soal alat: kami memakai Claude, asisten AI, untuk membantu menulis kode. Tim memutuskan sumber data, aturan pembagian, dan evaluasi, serta menjalankan dan memeriksa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mencatat lisensi tiap sumber. Bobot model NLLB hanya untuk non-komersial, jadi model kami untuk penelitian dan pengajaran. Data terbuka berlisensi CC-BY-SA dan disebut penulisnya. Buku dan skripsi disebut penulis dan penerbitnya. Status lisensi sebagian sumber masih kami konfirmasi, dan daftarnya ada di repositori.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kami membangun alur lengkap dari sumber mentah sampai aplikasi, dan model hasil fine-tuning jelas lebih baik dari model dasar di ketiga set uji. Langkah berikutnya: tinjauan oleh penutur, uji ablasi untuk melihat sumbangan tiap sumber data dengan beberapa seed, mengunci manifest dan konfigurasi, melengkapi dokumentasi lisensi dan data card, serta memperluas augmentasi dan menyediakan versi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Rujukan utama dari makalah kami: Transformer, NLLB, NusaX, ukuran BLEU, chrF, dan chrF++, panduan pelaporan BLEU, Datasheets for Datasets, dan model card NLLB.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Kami siap menjawab pertanyaan. Semua angka berasal dari run pelatihan kami di Colab, model disimpan secara privat di Hugging Face, dan repositori berisi semua perintah untuk mengulang alur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21945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206240"/>
            <a:ext cx="694944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Penerjemah Aceh → Indonesia  ·  Presentasi tengah semester</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3.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2194560"/>
          </a:xfrm>
          <a:prstGeom prst="rect">
            <a:avLst/>
          </a:prstGeom>
          <a:noFill/>
          <a:ln/>
        </p:spPr>
        <p:txBody>
          <a:bodyPr wrap="square" lIns="0" tIns="0" rIns="0" bIns="0" rtlCol="0" anchor="t"/>
          <a:lstStyle/>
          <a:p>
            <a:pPr algn="l" indent="0" marL="0">
              <a:buNone/>
            </a:pPr>
            <a:r>
              <a:rPr lang="en-US" sz="4400" b="1" dirty="0">
                <a:solidFill>
                  <a:schemeClr val="bg1"/>
                </a:solidFill>
              </a:rPr>
              <a:t>Penerjemah Bahasa Aceh ke Bahasa Indonesia</a:t>
            </a:r>
            <a:endParaRPr lang="en-US" sz="4400" dirty="0"/>
          </a:p>
        </p:txBody>
      </p:sp>
      <p:sp>
        <p:nvSpPr>
          <p:cNvPr id="3" name="Text 0"/>
          <p:cNvSpPr/>
          <p:nvPr>
            <p:ph idx="101" type="body" hasCustomPrompt="1"/>
          </p:nvPr>
        </p:nvSpPr>
        <p:spPr>
          <a:xfrm>
            <a:off x="731520" y="4206240"/>
            <a:ext cx="6949440" cy="914400"/>
          </a:xfrm>
          <a:prstGeom prst="rect">
            <a:avLst/>
          </a:prstGeom>
          <a:noFill/>
          <a:ln/>
        </p:spPr>
        <p:txBody>
          <a:bodyPr wrap="square" lIns="0" tIns="0" rIns="0" bIns="0" rtlCol="0" anchor="t"/>
          <a:lstStyle/>
          <a:p>
            <a:pPr indent="0" marL="0">
              <a:buNone/>
            </a:pPr>
            <a:r>
              <a:rPr lang="en-US" sz="2200" dirty="0">
                <a:solidFill>
                  <a:schemeClr val="bg2"/>
                </a:solidFill>
              </a:rPr>
              <a:t>Korpus AcehX dan model NLLB hasil fine-tuning, lengkap dengan aplikasi lokal</a:t>
            </a:r>
            <a:endParaRPr lang="en-US" sz="2200" dirty="0"/>
          </a:p>
        </p:txBody>
      </p:sp>
      <p:sp>
        <p:nvSpPr>
          <p:cNvPr id="4" name="Text 2"/>
          <p:cNvSpPr txBox="1"/>
          <p:nvPr/>
        </p:nvSpPr>
        <p:spPr>
          <a:xfrm>
            <a:off x="731520" y="5943600"/>
            <a:ext cx="7498080" cy="365760"/>
          </a:xfrm>
          <a:prstGeom prst="rect">
            <a:avLst/>
          </a:prstGeom>
          <a:noFill/>
          <a:ln/>
        </p:spPr>
        <p:txBody>
          <a:bodyPr wrap="square" lIns="0" tIns="0" rIns="0" bIns="0" rtlCol="0" anchor="t"/>
          <a:lstStyle/>
          <a:p>
            <a:pPr indent="0" marL="0">
              <a:buNone/>
            </a:pPr>
            <a:r>
              <a:rPr lang="en-US" sz="1300" dirty="0">
                <a:solidFill>
                  <a:schemeClr val="accent6"/>
                </a:solidFill>
              </a:rPr>
              <a:t>Kelompok 2 · Proyek AcehX · Universitas Syiah Kuala · 23 Oktober 2026</a:t>
            </a:r>
            <a:endParaRPr lang="en-US" sz="1300" dirty="0"/>
          </a:p>
        </p:txBody>
      </p:sp>
      <p:sp>
        <p:nvSpPr>
          <p:cNvPr id="5" name="Lingkaran hias"/>
          <p:cNvSpPr/>
          <p:nvPr/>
        </p:nvSpPr>
        <p:spPr>
          <a:xfrm>
            <a:off x="8138160" y="914400"/>
            <a:ext cx="3291840" cy="3291840"/>
          </a:xfrm>
          <a:prstGeom prst="ellipse">
            <a:avLst/>
          </a:prstGeom>
          <a:solidFill>
            <a:srgbClr val="0D9488">
              <a:alpha val="75000"/>
            </a:srgbClr>
          </a:solidFill>
          <a:ln w="12700">
            <a:solidFill>
              <a:srgbClr val="0D9488"/>
            </a:solidFill>
            <a:prstDash val="solid"/>
          </a:ln>
        </p:spPr>
      </p:sp>
      <p:sp>
        <p:nvSpPr>
          <p:cNvPr id="6" name="Lingkaran hias"/>
          <p:cNvSpPr/>
          <p:nvPr/>
        </p:nvSpPr>
        <p:spPr>
          <a:xfrm>
            <a:off x="9692640" y="2926080"/>
            <a:ext cx="2286000" cy="2286000"/>
          </a:xfrm>
          <a:prstGeom prst="ellipse">
            <a:avLst/>
          </a:prstGeom>
          <a:solidFill>
            <a:srgbClr val="E9A23B">
              <a:alpha val="80000"/>
            </a:srgbClr>
          </a:solidFill>
          <a:ln w="12700">
            <a:solidFill>
              <a:srgbClr val="E9A23B"/>
            </a:solidFill>
            <a:prstDash val="solid"/>
          </a:ln>
        </p:spPr>
      </p:sp>
      <p:sp>
        <p:nvSpPr>
          <p:cNvPr id="7" name="Lingkaran hias"/>
          <p:cNvSpPr/>
          <p:nvPr/>
        </p:nvSpPr>
        <p:spPr>
          <a:xfrm>
            <a:off x="7863840" y="4023360"/>
            <a:ext cx="2011680" cy="2011680"/>
          </a:xfrm>
          <a:prstGeom prst="ellipse">
            <a:avLst/>
          </a:prstGeom>
          <a:solidFill>
            <a:srgbClr val="0D9488">
              <a:alpha val="55000"/>
            </a:srgbClr>
          </a:solidFill>
          <a:ln w="12700">
            <a:solidFill>
              <a:srgbClr val="0D9488"/>
            </a:solidFill>
            <a:prstDash val="solid"/>
          </a:ln>
        </p:spPr>
      </p:sp>
      <p:sp>
        <p:nvSpPr>
          <p:cNvPr id="8" name="Text 6"/>
          <p:cNvSpPr txBox="1"/>
          <p:nvPr/>
        </p:nvSpPr>
        <p:spPr>
          <a:xfrm>
            <a:off x="8412480" y="1874520"/>
            <a:ext cx="2743200" cy="731520"/>
          </a:xfrm>
          <a:prstGeom prst="rect">
            <a:avLst/>
          </a:prstGeom>
          <a:noFill/>
          <a:ln/>
        </p:spPr>
        <p:txBody>
          <a:bodyPr wrap="square" lIns="0" tIns="0" rIns="0" bIns="0" rtlCol="0" anchor="t"/>
          <a:lstStyle/>
          <a:p>
            <a:pPr algn="ctr" indent="0" marL="0">
              <a:buNone/>
            </a:pPr>
            <a:r>
              <a:rPr lang="en-US" sz="4000" b="1" dirty="0">
                <a:solidFill>
                  <a:schemeClr val="bg1"/>
                </a:solidFill>
                <a:latin typeface="Georgia" pitchFamily="34" charset="0"/>
                <a:ea typeface="Georgia" pitchFamily="34" charset="-122"/>
                <a:cs typeface="Georgia" pitchFamily="34" charset="-120"/>
              </a:rPr>
              <a:t>17.547</a:t>
            </a:r>
            <a:endParaRPr lang="en-US" sz="4000" dirty="0"/>
          </a:p>
        </p:txBody>
      </p:sp>
      <p:sp>
        <p:nvSpPr>
          <p:cNvPr id="9" name="Text 7"/>
          <p:cNvSpPr txBox="1"/>
          <p:nvPr/>
        </p:nvSpPr>
        <p:spPr>
          <a:xfrm>
            <a:off x="8412480" y="2606040"/>
            <a:ext cx="2743200" cy="365760"/>
          </a:xfrm>
          <a:prstGeom prst="rect">
            <a:avLst/>
          </a:prstGeom>
          <a:noFill/>
          <a:ln/>
        </p:spPr>
        <p:txBody>
          <a:bodyPr wrap="square" lIns="0" tIns="0" rIns="0" bIns="0" rtlCol="0" anchor="t"/>
          <a:lstStyle/>
          <a:p>
            <a:pPr algn="ctr" indent="0" marL="0">
              <a:buNone/>
            </a:pPr>
            <a:r>
              <a:rPr lang="en-US" sz="1500" dirty="0">
                <a:solidFill>
                  <a:schemeClr val="bg1"/>
                </a:solidFill>
              </a:rPr>
              <a:t>pasangan kalimat latih</a:t>
            </a:r>
            <a:endParaRPr lang="en-US" sz="1500" dirty="0"/>
          </a:p>
        </p:txBody>
      </p:sp>
      <p:sp>
        <p:nvSpPr>
          <p:cNvPr id="10" name="Text 8"/>
          <p:cNvSpPr txBox="1"/>
          <p:nvPr/>
        </p:nvSpPr>
        <p:spPr>
          <a:xfrm>
            <a:off x="9692640" y="3611880"/>
            <a:ext cx="2286000" cy="640080"/>
          </a:xfrm>
          <a:prstGeom prst="rect">
            <a:avLst/>
          </a:prstGeom>
          <a:noFill/>
          <a:ln/>
        </p:spPr>
        <p:txBody>
          <a:bodyPr wrap="square" lIns="0" tIns="0" rIns="0" bIns="0" rtlCol="0" anchor="t"/>
          <a:lstStyle/>
          <a:p>
            <a:pPr algn="ctr" indent="0" marL="0">
              <a:buNone/>
            </a:pPr>
            <a:r>
              <a:rPr lang="en-US" sz="3600" b="1" dirty="0">
                <a:solidFill>
                  <a:schemeClr val="tx2"/>
                </a:solidFill>
                <a:latin typeface="Georgia" pitchFamily="34" charset="0"/>
                <a:ea typeface="Georgia" pitchFamily="34" charset="-122"/>
                <a:cs typeface="Georgia" pitchFamily="34" charset="-120"/>
              </a:rPr>
              <a:t>57,1</a:t>
            </a:r>
            <a:endParaRPr lang="en-US" sz="3600" dirty="0"/>
          </a:p>
        </p:txBody>
      </p:sp>
      <p:sp>
        <p:nvSpPr>
          <p:cNvPr id="11" name="Text 9"/>
          <p:cNvSpPr txBox="1"/>
          <p:nvPr/>
        </p:nvSpPr>
        <p:spPr>
          <a:xfrm>
            <a:off x="9692640" y="4206240"/>
            <a:ext cx="2286000" cy="365760"/>
          </a:xfrm>
          <a:prstGeom prst="rect">
            <a:avLst/>
          </a:prstGeom>
          <a:noFill/>
          <a:ln/>
        </p:spPr>
        <p:txBody>
          <a:bodyPr wrap="square" lIns="0" tIns="0" rIns="0" bIns="0" rtlCol="0" anchor="t"/>
          <a:lstStyle/>
          <a:p>
            <a:pPr algn="ctr" indent="0" marL="0">
              <a:buNone/>
            </a:pPr>
            <a:r>
              <a:rPr lang="en-US" sz="1400" dirty="0">
                <a:solidFill>
                  <a:schemeClr val="tx2"/>
                </a:solidFill>
              </a:rPr>
              <a:t>chrF++ di NusaX</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TIM</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Anggota tim Kelompok 2</a:t>
            </a:r>
            <a:endParaRPr lang="en-US" sz="3600" dirty="0"/>
          </a:p>
        </p:txBody>
      </p:sp>
      <p:sp>
        <p:nvSpPr>
          <p:cNvPr id="4" name="Kartu anggota"/>
          <p:cNvSpPr/>
          <p:nvPr/>
        </p:nvSpPr>
        <p:spPr>
          <a:xfrm>
            <a:off x="548640" y="1508760"/>
            <a:ext cx="3593592" cy="1371600"/>
          </a:xfrm>
          <a:prstGeom prst="roundRect">
            <a:avLst>
              <a:gd name="adj" fmla="val 8000"/>
            </a:avLst>
          </a:prstGeom>
          <a:solidFill>
            <a:schemeClr val="bg2"/>
          </a:solidFill>
          <a:ln w="12700">
            <a:solidFill>
              <a:schemeClr val="bg2"/>
            </a:solidFill>
            <a:prstDash val="solid"/>
          </a:ln>
        </p:spPr>
      </p:sp>
      <p:sp>
        <p:nvSpPr>
          <p:cNvPr id="5" name="Inisial"/>
          <p:cNvSpPr/>
          <p:nvPr/>
        </p:nvSpPr>
        <p:spPr>
          <a:xfrm>
            <a:off x="822960" y="1801368"/>
            <a:ext cx="786384" cy="786384"/>
          </a:xfrm>
          <a:prstGeom prst="ellipse">
            <a:avLst/>
          </a:prstGeom>
          <a:solidFill>
            <a:schemeClr val="accent1"/>
          </a:solidFill>
          <a:ln w="12700">
            <a:solidFill>
              <a:schemeClr val="accent1"/>
            </a:solidFill>
            <a:prstDash val="solid"/>
          </a:ln>
        </p:spPr>
      </p:sp>
      <p:sp>
        <p:nvSpPr>
          <p:cNvPr id="6" name="Text 4"/>
          <p:cNvSpPr txBox="1"/>
          <p:nvPr/>
        </p:nvSpPr>
        <p:spPr>
          <a:xfrm>
            <a:off x="822960" y="180136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AF</a:t>
            </a:r>
            <a:endParaRPr lang="en-US" sz="2000" dirty="0"/>
          </a:p>
        </p:txBody>
      </p:sp>
      <p:sp>
        <p:nvSpPr>
          <p:cNvPr id="7" name="Text 5"/>
          <p:cNvSpPr txBox="1"/>
          <p:nvPr/>
        </p:nvSpPr>
        <p:spPr>
          <a:xfrm>
            <a:off x="1828800" y="150876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Andrie Fadhlullah Wahby</a:t>
            </a:r>
            <a:endParaRPr lang="en-US" sz="1700" dirty="0"/>
          </a:p>
        </p:txBody>
      </p:sp>
      <p:sp>
        <p:nvSpPr>
          <p:cNvPr id="8" name="Kartu anggota"/>
          <p:cNvSpPr/>
          <p:nvPr/>
        </p:nvSpPr>
        <p:spPr>
          <a:xfrm>
            <a:off x="4297680" y="1508760"/>
            <a:ext cx="3593592" cy="1371600"/>
          </a:xfrm>
          <a:prstGeom prst="roundRect">
            <a:avLst>
              <a:gd name="adj" fmla="val 8000"/>
            </a:avLst>
          </a:prstGeom>
          <a:solidFill>
            <a:schemeClr val="bg2"/>
          </a:solidFill>
          <a:ln w="12700">
            <a:solidFill>
              <a:schemeClr val="bg2"/>
            </a:solidFill>
            <a:prstDash val="solid"/>
          </a:ln>
        </p:spPr>
      </p:sp>
      <p:sp>
        <p:nvSpPr>
          <p:cNvPr id="9" name="Inisial"/>
          <p:cNvSpPr/>
          <p:nvPr/>
        </p:nvSpPr>
        <p:spPr>
          <a:xfrm>
            <a:off x="4572000" y="1801368"/>
            <a:ext cx="786384" cy="786384"/>
          </a:xfrm>
          <a:prstGeom prst="ellipse">
            <a:avLst/>
          </a:prstGeom>
          <a:solidFill>
            <a:schemeClr val="accent1"/>
          </a:solidFill>
          <a:ln w="12700">
            <a:solidFill>
              <a:schemeClr val="accent1"/>
            </a:solidFill>
            <a:prstDash val="solid"/>
          </a:ln>
        </p:spPr>
      </p:sp>
      <p:sp>
        <p:nvSpPr>
          <p:cNvPr id="10" name="Text 8"/>
          <p:cNvSpPr txBox="1"/>
          <p:nvPr/>
        </p:nvSpPr>
        <p:spPr>
          <a:xfrm>
            <a:off x="4572000" y="180136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MM</a:t>
            </a:r>
            <a:endParaRPr lang="en-US" sz="2000" dirty="0"/>
          </a:p>
        </p:txBody>
      </p:sp>
      <p:sp>
        <p:nvSpPr>
          <p:cNvPr id="11" name="Text 9"/>
          <p:cNvSpPr txBox="1"/>
          <p:nvPr/>
        </p:nvSpPr>
        <p:spPr>
          <a:xfrm>
            <a:off x="5577840" y="150876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M. Miqdad Ramadhan F</a:t>
            </a:r>
            <a:endParaRPr lang="en-US" sz="1700" dirty="0"/>
          </a:p>
        </p:txBody>
      </p:sp>
      <p:sp>
        <p:nvSpPr>
          <p:cNvPr id="12" name="Kartu anggota"/>
          <p:cNvSpPr/>
          <p:nvPr/>
        </p:nvSpPr>
        <p:spPr>
          <a:xfrm>
            <a:off x="8046720" y="1508760"/>
            <a:ext cx="3593592" cy="1371600"/>
          </a:xfrm>
          <a:prstGeom prst="roundRect">
            <a:avLst>
              <a:gd name="adj" fmla="val 8000"/>
            </a:avLst>
          </a:prstGeom>
          <a:solidFill>
            <a:schemeClr val="bg2"/>
          </a:solidFill>
          <a:ln w="12700">
            <a:solidFill>
              <a:schemeClr val="bg2"/>
            </a:solidFill>
            <a:prstDash val="solid"/>
          </a:ln>
        </p:spPr>
      </p:sp>
      <p:sp>
        <p:nvSpPr>
          <p:cNvPr id="13" name="Inisial"/>
          <p:cNvSpPr/>
          <p:nvPr/>
        </p:nvSpPr>
        <p:spPr>
          <a:xfrm>
            <a:off x="8321040" y="1801368"/>
            <a:ext cx="786384" cy="786384"/>
          </a:xfrm>
          <a:prstGeom prst="ellipse">
            <a:avLst/>
          </a:prstGeom>
          <a:solidFill>
            <a:schemeClr val="accent1"/>
          </a:solidFill>
          <a:ln w="12700">
            <a:solidFill>
              <a:schemeClr val="accent1"/>
            </a:solidFill>
            <a:prstDash val="solid"/>
          </a:ln>
        </p:spPr>
      </p:sp>
      <p:sp>
        <p:nvSpPr>
          <p:cNvPr id="14" name="Text 12"/>
          <p:cNvSpPr txBox="1"/>
          <p:nvPr/>
        </p:nvSpPr>
        <p:spPr>
          <a:xfrm>
            <a:off x="8321040" y="180136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SR</a:t>
            </a:r>
            <a:endParaRPr lang="en-US" sz="2000" dirty="0"/>
          </a:p>
        </p:txBody>
      </p:sp>
      <p:sp>
        <p:nvSpPr>
          <p:cNvPr id="15" name="Text 13"/>
          <p:cNvSpPr txBox="1"/>
          <p:nvPr/>
        </p:nvSpPr>
        <p:spPr>
          <a:xfrm>
            <a:off x="9326880" y="150876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Syaukas Rahmatillah</a:t>
            </a:r>
            <a:endParaRPr lang="en-US" sz="1700" dirty="0"/>
          </a:p>
        </p:txBody>
      </p:sp>
      <p:sp>
        <p:nvSpPr>
          <p:cNvPr id="16" name="Kartu anggota"/>
          <p:cNvSpPr/>
          <p:nvPr/>
        </p:nvSpPr>
        <p:spPr>
          <a:xfrm>
            <a:off x="548640" y="3063240"/>
            <a:ext cx="3593592" cy="1371600"/>
          </a:xfrm>
          <a:prstGeom prst="roundRect">
            <a:avLst>
              <a:gd name="adj" fmla="val 8000"/>
            </a:avLst>
          </a:prstGeom>
          <a:solidFill>
            <a:schemeClr val="bg2"/>
          </a:solidFill>
          <a:ln w="12700">
            <a:solidFill>
              <a:schemeClr val="bg2"/>
            </a:solidFill>
            <a:prstDash val="solid"/>
          </a:ln>
        </p:spPr>
      </p:sp>
      <p:sp>
        <p:nvSpPr>
          <p:cNvPr id="17" name="Inisial"/>
          <p:cNvSpPr/>
          <p:nvPr/>
        </p:nvSpPr>
        <p:spPr>
          <a:xfrm>
            <a:off x="822960" y="3355848"/>
            <a:ext cx="786384" cy="786384"/>
          </a:xfrm>
          <a:prstGeom prst="ellipse">
            <a:avLst/>
          </a:prstGeom>
          <a:solidFill>
            <a:schemeClr val="accent1"/>
          </a:solidFill>
          <a:ln w="12700">
            <a:solidFill>
              <a:schemeClr val="accent1"/>
            </a:solidFill>
            <a:prstDash val="solid"/>
          </a:ln>
        </p:spPr>
      </p:sp>
      <p:sp>
        <p:nvSpPr>
          <p:cNvPr id="18" name="Text 16"/>
          <p:cNvSpPr txBox="1"/>
          <p:nvPr/>
        </p:nvSpPr>
        <p:spPr>
          <a:xfrm>
            <a:off x="822960" y="335584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MK</a:t>
            </a:r>
            <a:endParaRPr lang="en-US" sz="2000" dirty="0"/>
          </a:p>
        </p:txBody>
      </p:sp>
      <p:sp>
        <p:nvSpPr>
          <p:cNvPr id="19" name="Text 17"/>
          <p:cNvSpPr txBox="1"/>
          <p:nvPr/>
        </p:nvSpPr>
        <p:spPr>
          <a:xfrm>
            <a:off x="1828800" y="306324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Muhammad Khairul Ikhsan</a:t>
            </a:r>
            <a:endParaRPr lang="en-US" sz="1700" dirty="0"/>
          </a:p>
        </p:txBody>
      </p:sp>
      <p:sp>
        <p:nvSpPr>
          <p:cNvPr id="20" name="Kartu anggota"/>
          <p:cNvSpPr/>
          <p:nvPr/>
        </p:nvSpPr>
        <p:spPr>
          <a:xfrm>
            <a:off x="4297680" y="3063240"/>
            <a:ext cx="3593592" cy="1371600"/>
          </a:xfrm>
          <a:prstGeom prst="roundRect">
            <a:avLst>
              <a:gd name="adj" fmla="val 8000"/>
            </a:avLst>
          </a:prstGeom>
          <a:solidFill>
            <a:schemeClr val="bg2"/>
          </a:solidFill>
          <a:ln w="12700">
            <a:solidFill>
              <a:schemeClr val="bg2"/>
            </a:solidFill>
            <a:prstDash val="solid"/>
          </a:ln>
        </p:spPr>
      </p:sp>
      <p:sp>
        <p:nvSpPr>
          <p:cNvPr id="21" name="Inisial"/>
          <p:cNvSpPr/>
          <p:nvPr/>
        </p:nvSpPr>
        <p:spPr>
          <a:xfrm>
            <a:off x="4572000" y="3355848"/>
            <a:ext cx="786384" cy="786384"/>
          </a:xfrm>
          <a:prstGeom prst="ellipse">
            <a:avLst/>
          </a:prstGeom>
          <a:solidFill>
            <a:schemeClr val="accent1"/>
          </a:solidFill>
          <a:ln w="12700">
            <a:solidFill>
              <a:schemeClr val="accent1"/>
            </a:solidFill>
            <a:prstDash val="solid"/>
          </a:ln>
        </p:spPr>
      </p:sp>
      <p:sp>
        <p:nvSpPr>
          <p:cNvPr id="22" name="Text 20"/>
          <p:cNvSpPr txBox="1"/>
          <p:nvPr/>
        </p:nvSpPr>
        <p:spPr>
          <a:xfrm>
            <a:off x="4572000" y="335584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MF</a:t>
            </a:r>
            <a:endParaRPr lang="en-US" sz="2000" dirty="0"/>
          </a:p>
        </p:txBody>
      </p:sp>
      <p:sp>
        <p:nvSpPr>
          <p:cNvPr id="23" name="Text 21"/>
          <p:cNvSpPr txBox="1"/>
          <p:nvPr/>
        </p:nvSpPr>
        <p:spPr>
          <a:xfrm>
            <a:off x="5577840" y="306324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Mohammad Fawad Karimi</a:t>
            </a:r>
            <a:endParaRPr lang="en-US" sz="1700" dirty="0"/>
          </a:p>
        </p:txBody>
      </p:sp>
      <p:sp>
        <p:nvSpPr>
          <p:cNvPr id="24" name="Kartu anggota"/>
          <p:cNvSpPr/>
          <p:nvPr/>
        </p:nvSpPr>
        <p:spPr>
          <a:xfrm>
            <a:off x="8046720" y="3063240"/>
            <a:ext cx="3593592" cy="1371600"/>
          </a:xfrm>
          <a:prstGeom prst="roundRect">
            <a:avLst>
              <a:gd name="adj" fmla="val 8000"/>
            </a:avLst>
          </a:prstGeom>
          <a:solidFill>
            <a:schemeClr val="bg2"/>
          </a:solidFill>
          <a:ln w="12700">
            <a:solidFill>
              <a:schemeClr val="bg2"/>
            </a:solidFill>
            <a:prstDash val="solid"/>
          </a:ln>
        </p:spPr>
      </p:sp>
      <p:sp>
        <p:nvSpPr>
          <p:cNvPr id="25" name="Inisial"/>
          <p:cNvSpPr/>
          <p:nvPr/>
        </p:nvSpPr>
        <p:spPr>
          <a:xfrm>
            <a:off x="8321040" y="3355848"/>
            <a:ext cx="786384" cy="786384"/>
          </a:xfrm>
          <a:prstGeom prst="ellipse">
            <a:avLst/>
          </a:prstGeom>
          <a:solidFill>
            <a:schemeClr val="accent1"/>
          </a:solidFill>
          <a:ln w="12700">
            <a:solidFill>
              <a:schemeClr val="accent1"/>
            </a:solidFill>
            <a:prstDash val="solid"/>
          </a:ln>
        </p:spPr>
      </p:sp>
      <p:sp>
        <p:nvSpPr>
          <p:cNvPr id="26" name="Text 24"/>
          <p:cNvSpPr txBox="1"/>
          <p:nvPr/>
        </p:nvSpPr>
        <p:spPr>
          <a:xfrm>
            <a:off x="8321040" y="335584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H</a:t>
            </a:r>
            <a:endParaRPr lang="en-US" sz="2000" dirty="0"/>
          </a:p>
        </p:txBody>
      </p:sp>
      <p:sp>
        <p:nvSpPr>
          <p:cNvPr id="27" name="Text 25"/>
          <p:cNvSpPr txBox="1"/>
          <p:nvPr/>
        </p:nvSpPr>
        <p:spPr>
          <a:xfrm>
            <a:off x="9326880" y="306324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Habibi</a:t>
            </a:r>
            <a:endParaRPr lang="en-US" sz="1700" dirty="0"/>
          </a:p>
        </p:txBody>
      </p:sp>
      <p:sp>
        <p:nvSpPr>
          <p:cNvPr id="28" name="Kartu anggota"/>
          <p:cNvSpPr/>
          <p:nvPr/>
        </p:nvSpPr>
        <p:spPr>
          <a:xfrm>
            <a:off x="548640" y="4617720"/>
            <a:ext cx="3593592" cy="1371600"/>
          </a:xfrm>
          <a:prstGeom prst="roundRect">
            <a:avLst>
              <a:gd name="adj" fmla="val 8000"/>
            </a:avLst>
          </a:prstGeom>
          <a:solidFill>
            <a:schemeClr val="bg2"/>
          </a:solidFill>
          <a:ln w="12700">
            <a:solidFill>
              <a:schemeClr val="bg2"/>
            </a:solidFill>
            <a:prstDash val="solid"/>
          </a:ln>
        </p:spPr>
      </p:sp>
      <p:sp>
        <p:nvSpPr>
          <p:cNvPr id="29" name="Inisial"/>
          <p:cNvSpPr/>
          <p:nvPr/>
        </p:nvSpPr>
        <p:spPr>
          <a:xfrm>
            <a:off x="822960" y="4910328"/>
            <a:ext cx="786384" cy="786384"/>
          </a:xfrm>
          <a:prstGeom prst="ellipse">
            <a:avLst/>
          </a:prstGeom>
          <a:solidFill>
            <a:schemeClr val="accent1"/>
          </a:solidFill>
          <a:ln w="12700">
            <a:solidFill>
              <a:schemeClr val="accent1"/>
            </a:solidFill>
            <a:prstDash val="solid"/>
          </a:ln>
        </p:spPr>
      </p:sp>
      <p:sp>
        <p:nvSpPr>
          <p:cNvPr id="30" name="Text 28"/>
          <p:cNvSpPr txBox="1"/>
          <p:nvPr/>
        </p:nvSpPr>
        <p:spPr>
          <a:xfrm>
            <a:off x="822960" y="491032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M</a:t>
            </a:r>
            <a:endParaRPr lang="en-US" sz="2000" dirty="0"/>
          </a:p>
        </p:txBody>
      </p:sp>
      <p:sp>
        <p:nvSpPr>
          <p:cNvPr id="31" name="Text 29"/>
          <p:cNvSpPr txBox="1"/>
          <p:nvPr/>
        </p:nvSpPr>
        <p:spPr>
          <a:xfrm>
            <a:off x="1828800" y="461772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Mutaib</a:t>
            </a:r>
            <a:endParaRPr lang="en-US" sz="1700" dirty="0"/>
          </a:p>
        </p:txBody>
      </p:sp>
      <p:sp>
        <p:nvSpPr>
          <p:cNvPr id="32" name="Kartu anggota"/>
          <p:cNvSpPr/>
          <p:nvPr/>
        </p:nvSpPr>
        <p:spPr>
          <a:xfrm>
            <a:off x="4297680" y="4617720"/>
            <a:ext cx="3593592" cy="1371600"/>
          </a:xfrm>
          <a:prstGeom prst="roundRect">
            <a:avLst>
              <a:gd name="adj" fmla="val 8000"/>
            </a:avLst>
          </a:prstGeom>
          <a:solidFill>
            <a:schemeClr val="bg2"/>
          </a:solidFill>
          <a:ln w="12700">
            <a:solidFill>
              <a:schemeClr val="bg2"/>
            </a:solidFill>
            <a:prstDash val="solid"/>
          </a:ln>
        </p:spPr>
      </p:sp>
      <p:sp>
        <p:nvSpPr>
          <p:cNvPr id="33" name="Inisial"/>
          <p:cNvSpPr/>
          <p:nvPr/>
        </p:nvSpPr>
        <p:spPr>
          <a:xfrm>
            <a:off x="4572000" y="4910328"/>
            <a:ext cx="786384" cy="786384"/>
          </a:xfrm>
          <a:prstGeom prst="ellipse">
            <a:avLst/>
          </a:prstGeom>
          <a:solidFill>
            <a:schemeClr val="accent1"/>
          </a:solidFill>
          <a:ln w="12700">
            <a:solidFill>
              <a:schemeClr val="accent1"/>
            </a:solidFill>
            <a:prstDash val="solid"/>
          </a:ln>
        </p:spPr>
      </p:sp>
      <p:sp>
        <p:nvSpPr>
          <p:cNvPr id="34" name="Text 32"/>
          <p:cNvSpPr txBox="1"/>
          <p:nvPr/>
        </p:nvSpPr>
        <p:spPr>
          <a:xfrm>
            <a:off x="4572000" y="491032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MR</a:t>
            </a:r>
            <a:endParaRPr lang="en-US" sz="2000" dirty="0"/>
          </a:p>
        </p:txBody>
      </p:sp>
      <p:sp>
        <p:nvSpPr>
          <p:cNvPr id="35" name="Text 33"/>
          <p:cNvSpPr txBox="1"/>
          <p:nvPr/>
        </p:nvSpPr>
        <p:spPr>
          <a:xfrm>
            <a:off x="5577840" y="461772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Muhammad Raza Adzani</a:t>
            </a:r>
            <a:endParaRPr lang="en-US" sz="1700" dirty="0"/>
          </a:p>
        </p:txBody>
      </p:sp>
      <p:sp>
        <p:nvSpPr>
          <p:cNvPr id="36" name="Kartu anggota"/>
          <p:cNvSpPr/>
          <p:nvPr/>
        </p:nvSpPr>
        <p:spPr>
          <a:xfrm>
            <a:off x="8046720" y="4617720"/>
            <a:ext cx="3593592" cy="1371600"/>
          </a:xfrm>
          <a:prstGeom prst="roundRect">
            <a:avLst>
              <a:gd name="adj" fmla="val 8000"/>
            </a:avLst>
          </a:prstGeom>
          <a:solidFill>
            <a:schemeClr val="bg2"/>
          </a:solidFill>
          <a:ln w="12700">
            <a:solidFill>
              <a:schemeClr val="bg2"/>
            </a:solidFill>
            <a:prstDash val="solid"/>
          </a:ln>
        </p:spPr>
      </p:sp>
      <p:sp>
        <p:nvSpPr>
          <p:cNvPr id="37" name="Inisial"/>
          <p:cNvSpPr/>
          <p:nvPr/>
        </p:nvSpPr>
        <p:spPr>
          <a:xfrm>
            <a:off x="8321040" y="4910328"/>
            <a:ext cx="786384" cy="786384"/>
          </a:xfrm>
          <a:prstGeom prst="ellipse">
            <a:avLst/>
          </a:prstGeom>
          <a:solidFill>
            <a:schemeClr val="accent1"/>
          </a:solidFill>
          <a:ln w="12700">
            <a:solidFill>
              <a:schemeClr val="accent1"/>
            </a:solidFill>
            <a:prstDash val="solid"/>
          </a:ln>
        </p:spPr>
      </p:sp>
      <p:sp>
        <p:nvSpPr>
          <p:cNvPr id="38" name="Text 36"/>
          <p:cNvSpPr txBox="1"/>
          <p:nvPr/>
        </p:nvSpPr>
        <p:spPr>
          <a:xfrm>
            <a:off x="8321040" y="4910328"/>
            <a:ext cx="786384" cy="786384"/>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MS</a:t>
            </a:r>
            <a:endParaRPr lang="en-US" sz="2000" dirty="0"/>
          </a:p>
        </p:txBody>
      </p:sp>
      <p:sp>
        <p:nvSpPr>
          <p:cNvPr id="39" name="Text 37"/>
          <p:cNvSpPr txBox="1"/>
          <p:nvPr/>
        </p:nvSpPr>
        <p:spPr>
          <a:xfrm>
            <a:off x="9326880" y="4617720"/>
            <a:ext cx="2194560" cy="1371600"/>
          </a:xfrm>
          <a:prstGeom prst="rect">
            <a:avLst/>
          </a:prstGeom>
          <a:noFill/>
          <a:ln/>
        </p:spPr>
        <p:txBody>
          <a:bodyPr wrap="square" lIns="0" tIns="0" rIns="0" bIns="0" rtlCol="0" anchor="ctr"/>
          <a:lstStyle/>
          <a:p>
            <a:pPr indent="0" marL="0">
              <a:buNone/>
            </a:pPr>
            <a:r>
              <a:rPr lang="en-US" sz="1700" b="1" dirty="0">
                <a:solidFill>
                  <a:schemeClr val="tx1"/>
                </a:solidFill>
              </a:rPr>
              <a:t>Muhammad Shiddiq</a:t>
            </a:r>
            <a:endParaRPr lang="en-US" sz="1700" dirty="0"/>
          </a:p>
        </p:txBody>
      </p:sp>
      <p:sp>
        <p:nvSpPr>
          <p:cNvPr id="40" name="Text 38"/>
          <p:cNvSpPr txBox="1"/>
          <p:nvPr/>
        </p:nvSpPr>
        <p:spPr>
          <a:xfrm>
            <a:off x="548640" y="6217920"/>
            <a:ext cx="7315200" cy="274320"/>
          </a:xfrm>
          <a:prstGeom prst="rect">
            <a:avLst/>
          </a:prstGeom>
          <a:noFill/>
          <a:ln/>
        </p:spPr>
        <p:txBody>
          <a:bodyPr wrap="square" lIns="0" tIns="0" rIns="0" bIns="0" rtlCol="0" anchor="t"/>
          <a:lstStyle/>
          <a:p>
            <a:pPr indent="0" marL="0">
              <a:buNone/>
            </a:pPr>
            <a:r>
              <a:rPr lang="en-US" sz="1200" dirty="0">
                <a:solidFill>
                  <a:schemeClr val="accent5"/>
                </a:solidFill>
              </a:rPr>
              <a:t>Proyek AcehX · Universitas Syiah Kuala</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GAMBARAN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Proyek kami secara singkat</a:t>
            </a:r>
            <a:endParaRPr lang="en-US" sz="3600" dirty="0"/>
          </a:p>
        </p:txBody>
      </p:sp>
      <p:sp>
        <p:nvSpPr>
          <p:cNvPr id="4" name="Kartu angka"/>
          <p:cNvSpPr/>
          <p:nvPr/>
        </p:nvSpPr>
        <p:spPr>
          <a:xfrm>
            <a:off x="548640" y="1463040"/>
            <a:ext cx="3593592" cy="1737360"/>
          </a:xfrm>
          <a:prstGeom prst="roundRect">
            <a:avLst>
              <a:gd name="adj" fmla="val 6316"/>
            </a:avLst>
          </a:prstGeom>
          <a:solidFill>
            <a:schemeClr val="bg2"/>
          </a:solidFill>
          <a:ln w="12700">
            <a:solidFill>
              <a:schemeClr val="bg2"/>
            </a:solidFill>
            <a:prstDash val="solid"/>
          </a:ln>
        </p:spPr>
      </p:sp>
      <p:sp>
        <p:nvSpPr>
          <p:cNvPr id="5" name="Text 3"/>
          <p:cNvSpPr txBox="1"/>
          <p:nvPr/>
        </p:nvSpPr>
        <p:spPr>
          <a:xfrm>
            <a:off x="822960" y="1645920"/>
            <a:ext cx="310896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17.547</a:t>
            </a:r>
            <a:endParaRPr lang="en-US" sz="4800" dirty="0"/>
          </a:p>
        </p:txBody>
      </p:sp>
      <p:sp>
        <p:nvSpPr>
          <p:cNvPr id="6" name="Text 4"/>
          <p:cNvSpPr txBox="1"/>
          <p:nvPr/>
        </p:nvSpPr>
        <p:spPr>
          <a:xfrm>
            <a:off x="822960" y="2514600"/>
            <a:ext cx="3108960" cy="548640"/>
          </a:xfrm>
          <a:prstGeom prst="rect">
            <a:avLst/>
          </a:prstGeom>
          <a:noFill/>
          <a:ln/>
        </p:spPr>
        <p:txBody>
          <a:bodyPr wrap="square" lIns="0" tIns="0" rIns="0" bIns="0" rtlCol="0" anchor="t"/>
          <a:lstStyle/>
          <a:p>
            <a:pPr indent="0" marL="0">
              <a:buNone/>
            </a:pPr>
            <a:r>
              <a:rPr lang="en-US" sz="1500" dirty="0">
                <a:solidFill>
                  <a:schemeClr val="tx1"/>
                </a:solidFill>
              </a:rPr>
              <a:t>pasangan latih dari sembilan sumber</a:t>
            </a:r>
            <a:endParaRPr lang="en-US" sz="1500" dirty="0"/>
          </a:p>
        </p:txBody>
      </p:sp>
      <p:sp>
        <p:nvSpPr>
          <p:cNvPr id="7" name="Kartu angka"/>
          <p:cNvSpPr/>
          <p:nvPr/>
        </p:nvSpPr>
        <p:spPr>
          <a:xfrm>
            <a:off x="4297680" y="1463040"/>
            <a:ext cx="3593592" cy="1737360"/>
          </a:xfrm>
          <a:prstGeom prst="roundRect">
            <a:avLst>
              <a:gd name="adj" fmla="val 6316"/>
            </a:avLst>
          </a:prstGeom>
          <a:solidFill>
            <a:schemeClr val="bg2"/>
          </a:solidFill>
          <a:ln w="12700">
            <a:solidFill>
              <a:schemeClr val="bg2"/>
            </a:solidFill>
            <a:prstDash val="solid"/>
          </a:ln>
        </p:spPr>
      </p:sp>
      <p:sp>
        <p:nvSpPr>
          <p:cNvPr id="8" name="Text 6"/>
          <p:cNvSpPr txBox="1"/>
          <p:nvPr/>
        </p:nvSpPr>
        <p:spPr>
          <a:xfrm>
            <a:off x="4572000" y="1645920"/>
            <a:ext cx="310896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57,1</a:t>
            </a:r>
            <a:endParaRPr lang="en-US" sz="4800" dirty="0"/>
          </a:p>
        </p:txBody>
      </p:sp>
      <p:sp>
        <p:nvSpPr>
          <p:cNvPr id="9" name="Text 7"/>
          <p:cNvSpPr txBox="1"/>
          <p:nvPr/>
        </p:nvSpPr>
        <p:spPr>
          <a:xfrm>
            <a:off x="4572000" y="2514600"/>
            <a:ext cx="3108960" cy="548640"/>
          </a:xfrm>
          <a:prstGeom prst="rect">
            <a:avLst/>
          </a:prstGeom>
          <a:noFill/>
          <a:ln/>
        </p:spPr>
        <p:txBody>
          <a:bodyPr wrap="square" lIns="0" tIns="0" rIns="0" bIns="0" rtlCol="0" anchor="t"/>
          <a:lstStyle/>
          <a:p>
            <a:pPr indent="0" marL="0">
              <a:buNone/>
            </a:pPr>
            <a:r>
              <a:rPr lang="en-US" sz="1500" dirty="0">
                <a:solidFill>
                  <a:schemeClr val="tx1"/>
                </a:solidFill>
              </a:rPr>
              <a:t>chrF++ di NusaX, naik dari 38,7</a:t>
            </a:r>
            <a:endParaRPr lang="en-US" sz="1500" dirty="0"/>
          </a:p>
        </p:txBody>
      </p:sp>
      <p:sp>
        <p:nvSpPr>
          <p:cNvPr id="10" name="Kartu angka"/>
          <p:cNvSpPr/>
          <p:nvPr/>
        </p:nvSpPr>
        <p:spPr>
          <a:xfrm>
            <a:off x="8046720" y="1463040"/>
            <a:ext cx="3593592" cy="1737360"/>
          </a:xfrm>
          <a:prstGeom prst="roundRect">
            <a:avLst>
              <a:gd name="adj" fmla="val 6316"/>
            </a:avLst>
          </a:prstGeom>
          <a:solidFill>
            <a:schemeClr val="bg2"/>
          </a:solidFill>
          <a:ln w="12700">
            <a:solidFill>
              <a:schemeClr val="bg2"/>
            </a:solidFill>
            <a:prstDash val="solid"/>
          </a:ln>
        </p:spPr>
      </p:sp>
      <p:sp>
        <p:nvSpPr>
          <p:cNvPr id="11" name="Text 9"/>
          <p:cNvSpPr txBox="1"/>
          <p:nvPr/>
        </p:nvSpPr>
        <p:spPr>
          <a:xfrm>
            <a:off x="8321040" y="1645920"/>
            <a:ext cx="310896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+36,9</a:t>
            </a:r>
            <a:endParaRPr lang="en-US" sz="4800" dirty="0"/>
          </a:p>
        </p:txBody>
      </p:sp>
      <p:sp>
        <p:nvSpPr>
          <p:cNvPr id="12" name="Text 10"/>
          <p:cNvSpPr txBox="1"/>
          <p:nvPr/>
        </p:nvSpPr>
        <p:spPr>
          <a:xfrm>
            <a:off x="8321040" y="2514600"/>
            <a:ext cx="3108960" cy="548640"/>
          </a:xfrm>
          <a:prstGeom prst="rect">
            <a:avLst/>
          </a:prstGeom>
          <a:noFill/>
          <a:ln/>
        </p:spPr>
        <p:txBody>
          <a:bodyPr wrap="square" lIns="0" tIns="0" rIns="0" bIns="0" rtlCol="0" anchor="t"/>
          <a:lstStyle/>
          <a:p>
            <a:pPr indent="0" marL="0">
              <a:buNone/>
            </a:pPr>
            <a:r>
              <a:rPr lang="en-US" sz="1500" dirty="0">
                <a:solidFill>
                  <a:schemeClr val="tx1"/>
                </a:solidFill>
              </a:rPr>
              <a:t>kenaikan chrF++ pada syair hikayat</a:t>
            </a:r>
            <a:endParaRPr lang="en-US" sz="1500" dirty="0"/>
          </a:p>
        </p:txBody>
      </p:sp>
      <p:sp>
        <p:nvSpPr>
          <p:cNvPr id="13" name="Icon circle"/>
          <p:cNvSpPr/>
          <p:nvPr/>
        </p:nvSpPr>
        <p:spPr>
          <a:xfrm>
            <a:off x="548640" y="3566160"/>
            <a:ext cx="685800" cy="685800"/>
          </a:xfrm>
          <a:prstGeom prst="ellipse">
            <a:avLst/>
          </a:prstGeom>
          <a:solidFill>
            <a:schemeClr val="accent1"/>
          </a:solidFill>
          <a:ln w="12700">
            <a:solidFill>
              <a:schemeClr val="accent1"/>
            </a:solidFill>
            <a:prstDash val="solid"/>
          </a:ln>
        </p:spPr>
      </p:sp>
      <p:pic>
        <p:nvPicPr>
          <p:cNvPr id="14" name="Image 0" descr="Database icon">    </p:cNvPr>
          <p:cNvPicPr>
            <a:picLocks noChangeAspect="1"/>
          </p:cNvPicPr>
          <p:nvPr/>
        </p:nvPicPr>
        <p:blipFill>
          <a:blip r:embed="rId1"/>
          <a:stretch>
            <a:fillRect/>
          </a:stretch>
        </p:blipFill>
        <p:spPr>
          <a:xfrm>
            <a:off x="733806" y="3751326"/>
            <a:ext cx="315468" cy="315468"/>
          </a:xfrm>
          <a:prstGeom prst="rect">
            <a:avLst/>
          </a:prstGeom>
        </p:spPr>
      </p:pic>
      <p:sp>
        <p:nvSpPr>
          <p:cNvPr id="15" name="Text 12"/>
          <p:cNvSpPr txBox="1"/>
          <p:nvPr/>
        </p:nvSpPr>
        <p:spPr>
          <a:xfrm>
            <a:off x="1417320" y="3520440"/>
            <a:ext cx="4572000" cy="320040"/>
          </a:xfrm>
          <a:prstGeom prst="rect">
            <a:avLst/>
          </a:prstGeom>
          <a:noFill/>
          <a:ln/>
        </p:spPr>
        <p:txBody>
          <a:bodyPr wrap="square" lIns="0" tIns="0" rIns="0" bIns="0" rtlCol="0" anchor="t"/>
          <a:lstStyle/>
          <a:p>
            <a:pPr indent="0" marL="0">
              <a:buNone/>
            </a:pPr>
            <a:r>
              <a:rPr lang="en-US" sz="1800" b="1" dirty="0">
                <a:solidFill>
                  <a:schemeClr val="tx1"/>
                </a:solidFill>
              </a:rPr>
              <a:t>Data</a:t>
            </a:r>
            <a:endParaRPr lang="en-US" sz="1800" dirty="0"/>
          </a:p>
        </p:txBody>
      </p:sp>
      <p:sp>
        <p:nvSpPr>
          <p:cNvPr id="16" name="Text 13"/>
          <p:cNvSpPr txBox="1"/>
          <p:nvPr/>
        </p:nvSpPr>
        <p:spPr>
          <a:xfrm>
            <a:off x="1417320" y="3867912"/>
            <a:ext cx="4572000" cy="868680"/>
          </a:xfrm>
          <a:prstGeom prst="rect">
            <a:avLst/>
          </a:prstGeom>
          <a:noFill/>
          <a:ln/>
        </p:spPr>
        <p:txBody>
          <a:bodyPr wrap="square" lIns="0" tIns="0" rIns="0" bIns="0" rtlCol="0" anchor="t"/>
          <a:lstStyle/>
          <a:p>
            <a:pPr indent="0" marL="0">
              <a:buNone/>
            </a:pPr>
            <a:r>
              <a:rPr lang="en-US" sz="1400" dirty="0">
                <a:solidFill>
                  <a:schemeClr val="accent5"/>
                </a:solidFill>
              </a:rPr>
              <a:t>Sembilan sumber: korpus terbuka, buku hasil pindai, skripsi, dan terjemahan tim. Sudah dibersihkan dan diperiksa.</a:t>
            </a:r>
            <a:endParaRPr lang="en-US" sz="1400" dirty="0"/>
          </a:p>
        </p:txBody>
      </p:sp>
      <p:sp>
        <p:nvSpPr>
          <p:cNvPr id="17" name="Icon circle"/>
          <p:cNvSpPr/>
          <p:nvPr/>
        </p:nvSpPr>
        <p:spPr>
          <a:xfrm>
            <a:off x="6172200" y="3566160"/>
            <a:ext cx="685800" cy="685800"/>
          </a:xfrm>
          <a:prstGeom prst="ellipse">
            <a:avLst/>
          </a:prstGeom>
          <a:solidFill>
            <a:schemeClr val="accent1"/>
          </a:solidFill>
          <a:ln w="12700">
            <a:solidFill>
              <a:schemeClr val="accent1"/>
            </a:solidFill>
            <a:prstDash val="solid"/>
          </a:ln>
        </p:spPr>
      </p:sp>
      <p:pic>
        <p:nvPicPr>
          <p:cNvPr id="18" name="Image 1" descr="Cogs icon">    </p:cNvPr>
          <p:cNvPicPr>
            <a:picLocks noChangeAspect="1"/>
          </p:cNvPicPr>
          <p:nvPr/>
        </p:nvPicPr>
        <p:blipFill>
          <a:blip r:embed="rId2"/>
          <a:stretch>
            <a:fillRect/>
          </a:stretch>
        </p:blipFill>
        <p:spPr>
          <a:xfrm>
            <a:off x="6357366" y="3751326"/>
            <a:ext cx="315468" cy="315468"/>
          </a:xfrm>
          <a:prstGeom prst="rect">
            <a:avLst/>
          </a:prstGeom>
        </p:spPr>
      </p:pic>
      <p:sp>
        <p:nvSpPr>
          <p:cNvPr id="19" name="Text 15"/>
          <p:cNvSpPr txBox="1"/>
          <p:nvPr/>
        </p:nvSpPr>
        <p:spPr>
          <a:xfrm>
            <a:off x="7040880" y="3520440"/>
            <a:ext cx="4572000" cy="320040"/>
          </a:xfrm>
          <a:prstGeom prst="rect">
            <a:avLst/>
          </a:prstGeom>
          <a:noFill/>
          <a:ln/>
        </p:spPr>
        <p:txBody>
          <a:bodyPr wrap="square" lIns="0" tIns="0" rIns="0" bIns="0" rtlCol="0" anchor="t"/>
          <a:lstStyle/>
          <a:p>
            <a:pPr indent="0" marL="0">
              <a:buNone/>
            </a:pPr>
            <a:r>
              <a:rPr lang="en-US" sz="1800" b="1" dirty="0">
                <a:solidFill>
                  <a:schemeClr val="tx1"/>
                </a:solidFill>
              </a:rPr>
              <a:t>Teknik</a:t>
            </a:r>
            <a:endParaRPr lang="en-US" sz="1800" dirty="0"/>
          </a:p>
        </p:txBody>
      </p:sp>
      <p:sp>
        <p:nvSpPr>
          <p:cNvPr id="20" name="Text 16"/>
          <p:cNvSpPr txBox="1"/>
          <p:nvPr/>
        </p:nvSpPr>
        <p:spPr>
          <a:xfrm>
            <a:off x="7040880" y="3867912"/>
            <a:ext cx="4572000" cy="868680"/>
          </a:xfrm>
          <a:prstGeom prst="rect">
            <a:avLst/>
          </a:prstGeom>
          <a:noFill/>
          <a:ln/>
        </p:spPr>
        <p:txBody>
          <a:bodyPr wrap="square" lIns="0" tIns="0" rIns="0" bIns="0" rtlCol="0" anchor="t"/>
          <a:lstStyle/>
          <a:p>
            <a:pPr indent="0" marL="0">
              <a:buNone/>
            </a:pPr>
            <a:r>
              <a:rPr lang="en-US" sz="1400" dirty="0">
                <a:solidFill>
                  <a:schemeClr val="accent5"/>
                </a:solidFill>
              </a:rPr>
              <a:t>OCR, penyejajaran, augmentasi pivot, fine-tuning, serta perbandingan direct, transfer, dan neural.</a:t>
            </a:r>
            <a:endParaRPr lang="en-US" sz="1400" dirty="0"/>
          </a:p>
        </p:txBody>
      </p:sp>
      <p:sp>
        <p:nvSpPr>
          <p:cNvPr id="21" name="Icon circle"/>
          <p:cNvSpPr/>
          <p:nvPr/>
        </p:nvSpPr>
        <p:spPr>
          <a:xfrm>
            <a:off x="548640" y="4937760"/>
            <a:ext cx="685800" cy="685800"/>
          </a:xfrm>
          <a:prstGeom prst="ellipse">
            <a:avLst/>
          </a:prstGeom>
          <a:solidFill>
            <a:schemeClr val="accent1"/>
          </a:solidFill>
          <a:ln w="12700">
            <a:solidFill>
              <a:schemeClr val="accent1"/>
            </a:solidFill>
            <a:prstDash val="solid"/>
          </a:ln>
        </p:spPr>
      </p:sp>
      <p:pic>
        <p:nvPicPr>
          <p:cNvPr id="22" name="Image 2" descr="Flask icon">    </p:cNvPr>
          <p:cNvPicPr>
            <a:picLocks noChangeAspect="1"/>
          </p:cNvPicPr>
          <p:nvPr/>
        </p:nvPicPr>
        <p:blipFill>
          <a:blip r:embed="rId3"/>
          <a:stretch>
            <a:fillRect/>
          </a:stretch>
        </p:blipFill>
        <p:spPr>
          <a:xfrm>
            <a:off x="733806" y="5122926"/>
            <a:ext cx="315468" cy="315468"/>
          </a:xfrm>
          <a:prstGeom prst="rect">
            <a:avLst/>
          </a:prstGeom>
        </p:spPr>
      </p:pic>
      <p:sp>
        <p:nvSpPr>
          <p:cNvPr id="23" name="Text 18"/>
          <p:cNvSpPr txBox="1"/>
          <p:nvPr/>
        </p:nvSpPr>
        <p:spPr>
          <a:xfrm>
            <a:off x="1417320" y="4892040"/>
            <a:ext cx="4572000" cy="320040"/>
          </a:xfrm>
          <a:prstGeom prst="rect">
            <a:avLst/>
          </a:prstGeom>
          <a:noFill/>
          <a:ln/>
        </p:spPr>
        <p:txBody>
          <a:bodyPr wrap="square" lIns="0" tIns="0" rIns="0" bIns="0" rtlCol="0" anchor="t"/>
          <a:lstStyle/>
          <a:p>
            <a:pPr indent="0" marL="0">
              <a:buNone/>
            </a:pPr>
            <a:r>
              <a:rPr lang="en-US" sz="1800" b="1" dirty="0">
                <a:solidFill>
                  <a:schemeClr val="tx1"/>
                </a:solidFill>
              </a:rPr>
              <a:t>Evaluasi</a:t>
            </a:r>
            <a:endParaRPr lang="en-US" sz="1800" dirty="0"/>
          </a:p>
        </p:txBody>
      </p:sp>
      <p:sp>
        <p:nvSpPr>
          <p:cNvPr id="24" name="Text 19"/>
          <p:cNvSpPr txBox="1"/>
          <p:nvPr/>
        </p:nvSpPr>
        <p:spPr>
          <a:xfrm>
            <a:off x="1417320" y="5239512"/>
            <a:ext cx="4572000" cy="868680"/>
          </a:xfrm>
          <a:prstGeom prst="rect">
            <a:avLst/>
          </a:prstGeom>
          <a:noFill/>
          <a:ln/>
        </p:spPr>
        <p:txBody>
          <a:bodyPr wrap="square" lIns="0" tIns="0" rIns="0" bIns="0" rtlCol="0" anchor="t"/>
          <a:lstStyle/>
          <a:p>
            <a:pPr indent="0" marL="0">
              <a:buNone/>
            </a:pPr>
            <a:r>
              <a:rPr lang="en-US" sz="1400" dirty="0">
                <a:solidFill>
                  <a:schemeClr val="accent5"/>
                </a:solidFill>
              </a:rPr>
              <a:t>Tiga set uji yang tidak pernah dilatih, dinilai dengan BLEU, chrF, dan chrF++.</a:t>
            </a:r>
            <a:endParaRPr lang="en-US" sz="1400" dirty="0"/>
          </a:p>
        </p:txBody>
      </p:sp>
      <p:sp>
        <p:nvSpPr>
          <p:cNvPr id="25" name="Icon circle"/>
          <p:cNvSpPr/>
          <p:nvPr/>
        </p:nvSpPr>
        <p:spPr>
          <a:xfrm>
            <a:off x="6172200" y="4937760"/>
            <a:ext cx="685800" cy="685800"/>
          </a:xfrm>
          <a:prstGeom prst="ellipse">
            <a:avLst/>
          </a:prstGeom>
          <a:solidFill>
            <a:schemeClr val="accent1"/>
          </a:solidFill>
          <a:ln w="12700">
            <a:solidFill>
              <a:schemeClr val="accent1"/>
            </a:solidFill>
            <a:prstDash val="solid"/>
          </a:ln>
        </p:spPr>
      </p:sp>
      <p:pic>
        <p:nvPicPr>
          <p:cNvPr id="26" name="Image 3" descr="Laptop icon">    </p:cNvPr>
          <p:cNvPicPr>
            <a:picLocks noChangeAspect="1"/>
          </p:cNvPicPr>
          <p:nvPr/>
        </p:nvPicPr>
        <p:blipFill>
          <a:blip r:embed="rId4"/>
          <a:stretch>
            <a:fillRect/>
          </a:stretch>
        </p:blipFill>
        <p:spPr>
          <a:xfrm>
            <a:off x="6357366" y="5122926"/>
            <a:ext cx="315468" cy="315468"/>
          </a:xfrm>
          <a:prstGeom prst="rect">
            <a:avLst/>
          </a:prstGeom>
        </p:spPr>
      </p:pic>
      <p:sp>
        <p:nvSpPr>
          <p:cNvPr id="27" name="Text 21"/>
          <p:cNvSpPr txBox="1"/>
          <p:nvPr/>
        </p:nvSpPr>
        <p:spPr>
          <a:xfrm>
            <a:off x="7040880" y="4892040"/>
            <a:ext cx="4572000" cy="320040"/>
          </a:xfrm>
          <a:prstGeom prst="rect">
            <a:avLst/>
          </a:prstGeom>
          <a:noFill/>
          <a:ln/>
        </p:spPr>
        <p:txBody>
          <a:bodyPr wrap="square" lIns="0" tIns="0" rIns="0" bIns="0" rtlCol="0" anchor="t"/>
          <a:lstStyle/>
          <a:p>
            <a:pPr indent="0" marL="0">
              <a:buNone/>
            </a:pPr>
            <a:r>
              <a:rPr lang="en-US" sz="1800" b="1" dirty="0">
                <a:solidFill>
                  <a:schemeClr val="tx1"/>
                </a:solidFill>
              </a:rPr>
              <a:t>Aplikasi</a:t>
            </a:r>
            <a:endParaRPr lang="en-US" sz="1800" dirty="0"/>
          </a:p>
        </p:txBody>
      </p:sp>
      <p:sp>
        <p:nvSpPr>
          <p:cNvPr id="28" name="Text 22"/>
          <p:cNvSpPr txBox="1"/>
          <p:nvPr/>
        </p:nvSpPr>
        <p:spPr>
          <a:xfrm>
            <a:off x="7040880" y="5239512"/>
            <a:ext cx="4572000" cy="868680"/>
          </a:xfrm>
          <a:prstGeom prst="rect">
            <a:avLst/>
          </a:prstGeom>
          <a:noFill/>
          <a:ln/>
        </p:spPr>
        <p:txBody>
          <a:bodyPr wrap="square" lIns="0" tIns="0" rIns="0" bIns="0" rtlCol="0" anchor="t"/>
          <a:lstStyle/>
          <a:p>
            <a:pPr indent="0" marL="0">
              <a:buNone/>
            </a:pPr>
            <a:r>
              <a:rPr lang="en-US" sz="1400" dirty="0">
                <a:solidFill>
                  <a:schemeClr val="accent5"/>
                </a:solidFill>
              </a:rPr>
              <a:t>Aplikasi lokal tanpa internet dengan panel kamus yang menandai arti kata terbaik.</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GAMBARAN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Tujuan dan tahapan proyek</a:t>
            </a:r>
            <a:endParaRPr lang="en-US" sz="3600" dirty="0"/>
          </a:p>
        </p:txBody>
      </p:sp>
      <p:sp>
        <p:nvSpPr>
          <p:cNvPr id="4" name="Kartu tahap"/>
          <p:cNvSpPr/>
          <p:nvPr/>
        </p:nvSpPr>
        <p:spPr>
          <a:xfrm>
            <a:off x="548640" y="1463040"/>
            <a:ext cx="2651760" cy="2468880"/>
          </a:xfrm>
          <a:prstGeom prst="roundRect">
            <a:avLst>
              <a:gd name="adj" fmla="val 4444"/>
            </a:avLst>
          </a:prstGeom>
          <a:solidFill>
            <a:schemeClr val="bg2"/>
          </a:solidFill>
          <a:ln w="12700">
            <a:solidFill>
              <a:schemeClr val="bg2"/>
            </a:solidFill>
            <a:prstDash val="solid"/>
          </a:ln>
        </p:spPr>
      </p:sp>
      <p:sp>
        <p:nvSpPr>
          <p:cNvPr id="5" name="Icon circle"/>
          <p:cNvSpPr/>
          <p:nvPr/>
        </p:nvSpPr>
        <p:spPr>
          <a:xfrm>
            <a:off x="1531620" y="1645920"/>
            <a:ext cx="685800" cy="685800"/>
          </a:xfrm>
          <a:prstGeom prst="ellipse">
            <a:avLst/>
          </a:prstGeom>
          <a:solidFill>
            <a:schemeClr val="accent1"/>
          </a:solidFill>
          <a:ln w="12700">
            <a:solidFill>
              <a:schemeClr val="accent1"/>
            </a:solidFill>
            <a:prstDash val="solid"/>
          </a:ln>
        </p:spPr>
      </p:sp>
      <p:pic>
        <p:nvPicPr>
          <p:cNvPr id="6" name="Image 0" descr="Search icon">    </p:cNvPr>
          <p:cNvPicPr>
            <a:picLocks noChangeAspect="1"/>
          </p:cNvPicPr>
          <p:nvPr/>
        </p:nvPicPr>
        <p:blipFill>
          <a:blip r:embed="rId1"/>
          <a:stretch>
            <a:fillRect/>
          </a:stretch>
        </p:blipFill>
        <p:spPr>
          <a:xfrm>
            <a:off x="1716786" y="1831086"/>
            <a:ext cx="315468" cy="315468"/>
          </a:xfrm>
          <a:prstGeom prst="rect">
            <a:avLst/>
          </a:prstGeom>
        </p:spPr>
      </p:pic>
      <p:sp>
        <p:nvSpPr>
          <p:cNvPr id="7" name="Text 4"/>
          <p:cNvSpPr txBox="1"/>
          <p:nvPr/>
        </p:nvSpPr>
        <p:spPr>
          <a:xfrm>
            <a:off x="685800" y="2514600"/>
            <a:ext cx="2377440" cy="411480"/>
          </a:xfrm>
          <a:prstGeom prst="rect">
            <a:avLst/>
          </a:prstGeom>
          <a:noFill/>
          <a:ln/>
        </p:spPr>
        <p:txBody>
          <a:bodyPr wrap="square" lIns="0" tIns="0" rIns="0" bIns="0" rtlCol="0" anchor="t"/>
          <a:lstStyle/>
          <a:p>
            <a:pPr algn="ctr" indent="0" marL="0">
              <a:buNone/>
            </a:pPr>
            <a:r>
              <a:rPr lang="en-US" sz="1700" b="1" dirty="0">
                <a:solidFill>
                  <a:schemeClr val="tx1"/>
                </a:solidFill>
              </a:rPr>
              <a:t>1. Sourcing</a:t>
            </a:r>
            <a:endParaRPr lang="en-US" sz="1700" dirty="0"/>
          </a:p>
        </p:txBody>
      </p:sp>
      <p:sp>
        <p:nvSpPr>
          <p:cNvPr id="8" name="Text 5"/>
          <p:cNvSpPr txBox="1"/>
          <p:nvPr/>
        </p:nvSpPr>
        <p:spPr>
          <a:xfrm>
            <a:off x="731520" y="2971800"/>
            <a:ext cx="2286000" cy="868680"/>
          </a:xfrm>
          <a:prstGeom prst="rect">
            <a:avLst/>
          </a:prstGeom>
          <a:noFill/>
          <a:ln/>
        </p:spPr>
        <p:txBody>
          <a:bodyPr wrap="square" lIns="0" tIns="0" rIns="0" bIns="0" rtlCol="0" anchor="t"/>
          <a:lstStyle/>
          <a:p>
            <a:pPr algn="ctr" indent="0" marL="0">
              <a:buNone/>
            </a:pPr>
            <a:r>
              <a:rPr lang="en-US" sz="1400" dirty="0">
                <a:solidFill>
                  <a:schemeClr val="accent5"/>
                </a:solidFill>
              </a:rPr>
              <a:t>Menentukan asal bahan sebelum diolah</a:t>
            </a:r>
            <a:endParaRPr lang="en-US" sz="1400" dirty="0"/>
          </a:p>
        </p:txBody>
      </p:sp>
      <p:sp>
        <p:nvSpPr>
          <p:cNvPr id="9" name="Kartu tahap"/>
          <p:cNvSpPr/>
          <p:nvPr/>
        </p:nvSpPr>
        <p:spPr>
          <a:xfrm>
            <a:off x="3364992" y="1463040"/>
            <a:ext cx="2651760" cy="2468880"/>
          </a:xfrm>
          <a:prstGeom prst="roundRect">
            <a:avLst>
              <a:gd name="adj" fmla="val 4444"/>
            </a:avLst>
          </a:prstGeom>
          <a:solidFill>
            <a:schemeClr val="bg2"/>
          </a:solidFill>
          <a:ln w="12700">
            <a:solidFill>
              <a:schemeClr val="bg2"/>
            </a:solidFill>
            <a:prstDash val="solid"/>
          </a:ln>
        </p:spPr>
      </p:sp>
      <p:sp>
        <p:nvSpPr>
          <p:cNvPr id="10" name="Icon circle"/>
          <p:cNvSpPr/>
          <p:nvPr/>
        </p:nvSpPr>
        <p:spPr>
          <a:xfrm>
            <a:off x="4347972" y="1645920"/>
            <a:ext cx="685800" cy="685800"/>
          </a:xfrm>
          <a:prstGeom prst="ellipse">
            <a:avLst/>
          </a:prstGeom>
          <a:solidFill>
            <a:schemeClr val="accent1"/>
          </a:solidFill>
          <a:ln w="12700">
            <a:solidFill>
              <a:schemeClr val="accent1"/>
            </a:solidFill>
            <a:prstDash val="solid"/>
          </a:ln>
        </p:spPr>
      </p:sp>
      <p:pic>
        <p:nvPicPr>
          <p:cNvPr id="11" name="Image 1" descr="Language icon">    </p:cNvPr>
          <p:cNvPicPr>
            <a:picLocks noChangeAspect="1"/>
          </p:cNvPicPr>
          <p:nvPr/>
        </p:nvPicPr>
        <p:blipFill>
          <a:blip r:embed="rId2"/>
          <a:stretch>
            <a:fillRect/>
          </a:stretch>
        </p:blipFill>
        <p:spPr>
          <a:xfrm>
            <a:off x="4533138" y="1831086"/>
            <a:ext cx="315468" cy="315468"/>
          </a:xfrm>
          <a:prstGeom prst="rect">
            <a:avLst/>
          </a:prstGeom>
        </p:spPr>
      </p:pic>
      <p:sp>
        <p:nvSpPr>
          <p:cNvPr id="12" name="Text 8"/>
          <p:cNvSpPr txBox="1"/>
          <p:nvPr/>
        </p:nvSpPr>
        <p:spPr>
          <a:xfrm>
            <a:off x="3502152" y="2514600"/>
            <a:ext cx="2377440" cy="411480"/>
          </a:xfrm>
          <a:prstGeom prst="rect">
            <a:avLst/>
          </a:prstGeom>
          <a:noFill/>
          <a:ln/>
        </p:spPr>
        <p:txBody>
          <a:bodyPr wrap="square" lIns="0" tIns="0" rIns="0" bIns="0" rtlCol="0" anchor="t"/>
          <a:lstStyle/>
          <a:p>
            <a:pPr algn="ctr" indent="0" marL="0">
              <a:buNone/>
            </a:pPr>
            <a:r>
              <a:rPr lang="en-US" sz="1700" b="1" dirty="0">
                <a:solidFill>
                  <a:schemeClr val="tx1"/>
                </a:solidFill>
              </a:rPr>
              <a:t>2. Normalisasi</a:t>
            </a:r>
            <a:endParaRPr lang="en-US" sz="1700" dirty="0"/>
          </a:p>
        </p:txBody>
      </p:sp>
      <p:sp>
        <p:nvSpPr>
          <p:cNvPr id="13" name="Text 9"/>
          <p:cNvSpPr txBox="1"/>
          <p:nvPr/>
        </p:nvSpPr>
        <p:spPr>
          <a:xfrm>
            <a:off x="3547872" y="2971800"/>
            <a:ext cx="2286000" cy="868680"/>
          </a:xfrm>
          <a:prstGeom prst="rect">
            <a:avLst/>
          </a:prstGeom>
          <a:noFill/>
          <a:ln/>
        </p:spPr>
        <p:txBody>
          <a:bodyPr wrap="square" lIns="0" tIns="0" rIns="0" bIns="0" rtlCol="0" anchor="t"/>
          <a:lstStyle/>
          <a:p>
            <a:pPr algn="ctr" indent="0" marL="0">
              <a:buNone/>
            </a:pPr>
            <a:r>
              <a:rPr lang="en-US" sz="1400" dirty="0">
                <a:solidFill>
                  <a:schemeClr val="accent5"/>
                </a:solidFill>
              </a:rPr>
              <a:t>Menyamakan ejaan dan bentuk teks</a:t>
            </a:r>
            <a:endParaRPr lang="en-US" sz="1400" dirty="0"/>
          </a:p>
        </p:txBody>
      </p:sp>
      <p:sp>
        <p:nvSpPr>
          <p:cNvPr id="14" name="Kartu tahap"/>
          <p:cNvSpPr/>
          <p:nvPr/>
        </p:nvSpPr>
        <p:spPr>
          <a:xfrm>
            <a:off x="6181344" y="1463040"/>
            <a:ext cx="2651760" cy="2468880"/>
          </a:xfrm>
          <a:prstGeom prst="roundRect">
            <a:avLst>
              <a:gd name="adj" fmla="val 4444"/>
            </a:avLst>
          </a:prstGeom>
          <a:solidFill>
            <a:schemeClr val="bg2"/>
          </a:solidFill>
          <a:ln w="12700">
            <a:solidFill>
              <a:schemeClr val="bg2"/>
            </a:solidFill>
            <a:prstDash val="solid"/>
          </a:ln>
        </p:spPr>
      </p:sp>
      <p:sp>
        <p:nvSpPr>
          <p:cNvPr id="15" name="Icon circle"/>
          <p:cNvSpPr/>
          <p:nvPr/>
        </p:nvSpPr>
        <p:spPr>
          <a:xfrm>
            <a:off x="7164324" y="1645920"/>
            <a:ext cx="685800" cy="685800"/>
          </a:xfrm>
          <a:prstGeom prst="ellipse">
            <a:avLst/>
          </a:prstGeom>
          <a:solidFill>
            <a:schemeClr val="accent1"/>
          </a:solidFill>
          <a:ln w="12700">
            <a:solidFill>
              <a:schemeClr val="accent1"/>
            </a:solidFill>
            <a:prstDash val="solid"/>
          </a:ln>
        </p:spPr>
      </p:sp>
      <p:pic>
        <p:nvPicPr>
          <p:cNvPr id="16" name="Image 2" descr="CheckCircle icon">    </p:cNvPr>
          <p:cNvPicPr>
            <a:picLocks noChangeAspect="1"/>
          </p:cNvPicPr>
          <p:nvPr/>
        </p:nvPicPr>
        <p:blipFill>
          <a:blip r:embed="rId3"/>
          <a:stretch>
            <a:fillRect/>
          </a:stretch>
        </p:blipFill>
        <p:spPr>
          <a:xfrm>
            <a:off x="7349490" y="1831086"/>
            <a:ext cx="315468" cy="315468"/>
          </a:xfrm>
          <a:prstGeom prst="rect">
            <a:avLst/>
          </a:prstGeom>
        </p:spPr>
      </p:pic>
      <p:sp>
        <p:nvSpPr>
          <p:cNvPr id="17" name="Text 12"/>
          <p:cNvSpPr txBox="1"/>
          <p:nvPr/>
        </p:nvSpPr>
        <p:spPr>
          <a:xfrm>
            <a:off x="6318504" y="2514600"/>
            <a:ext cx="2377440" cy="411480"/>
          </a:xfrm>
          <a:prstGeom prst="rect">
            <a:avLst/>
          </a:prstGeom>
          <a:noFill/>
          <a:ln/>
        </p:spPr>
        <p:txBody>
          <a:bodyPr wrap="square" lIns="0" tIns="0" rIns="0" bIns="0" rtlCol="0" anchor="t"/>
          <a:lstStyle/>
          <a:p>
            <a:pPr algn="ctr" indent="0" marL="0">
              <a:buNone/>
            </a:pPr>
            <a:r>
              <a:rPr lang="en-US" sz="1700" b="1" dirty="0">
                <a:solidFill>
                  <a:schemeClr val="tx1"/>
                </a:solidFill>
              </a:rPr>
              <a:t>3. Screening</a:t>
            </a:r>
            <a:endParaRPr lang="en-US" sz="1700" dirty="0"/>
          </a:p>
        </p:txBody>
      </p:sp>
      <p:sp>
        <p:nvSpPr>
          <p:cNvPr id="18" name="Text 13"/>
          <p:cNvSpPr txBox="1"/>
          <p:nvPr/>
        </p:nvSpPr>
        <p:spPr>
          <a:xfrm>
            <a:off x="6364224" y="2971800"/>
            <a:ext cx="2286000" cy="868680"/>
          </a:xfrm>
          <a:prstGeom prst="rect">
            <a:avLst/>
          </a:prstGeom>
          <a:noFill/>
          <a:ln/>
        </p:spPr>
        <p:txBody>
          <a:bodyPr wrap="square" lIns="0" tIns="0" rIns="0" bIns="0" rtlCol="0" anchor="t"/>
          <a:lstStyle/>
          <a:p>
            <a:pPr algn="ctr" indent="0" marL="0">
              <a:buNone/>
            </a:pPr>
            <a:r>
              <a:rPr lang="en-US" sz="1400" dirty="0">
                <a:solidFill>
                  <a:schemeClr val="accent5"/>
                </a:solidFill>
              </a:rPr>
              <a:t>Memberi status KEEP, REVIEW, atau DROP</a:t>
            </a:r>
            <a:endParaRPr lang="en-US" sz="1400" dirty="0"/>
          </a:p>
        </p:txBody>
      </p:sp>
      <p:sp>
        <p:nvSpPr>
          <p:cNvPr id="19" name="Kartu tahap"/>
          <p:cNvSpPr/>
          <p:nvPr/>
        </p:nvSpPr>
        <p:spPr>
          <a:xfrm>
            <a:off x="8997696" y="1463040"/>
            <a:ext cx="2651760" cy="2468880"/>
          </a:xfrm>
          <a:prstGeom prst="roundRect">
            <a:avLst>
              <a:gd name="adj" fmla="val 4444"/>
            </a:avLst>
          </a:prstGeom>
          <a:solidFill>
            <a:schemeClr val="bg2"/>
          </a:solidFill>
          <a:ln w="12700">
            <a:solidFill>
              <a:schemeClr val="bg2"/>
            </a:solidFill>
            <a:prstDash val="solid"/>
          </a:ln>
        </p:spPr>
      </p:sp>
      <p:sp>
        <p:nvSpPr>
          <p:cNvPr id="20" name="Icon circle"/>
          <p:cNvSpPr/>
          <p:nvPr/>
        </p:nvSpPr>
        <p:spPr>
          <a:xfrm>
            <a:off x="9980676" y="1645920"/>
            <a:ext cx="685800" cy="685800"/>
          </a:xfrm>
          <a:prstGeom prst="ellipse">
            <a:avLst/>
          </a:prstGeom>
          <a:solidFill>
            <a:schemeClr val="accent1"/>
          </a:solidFill>
          <a:ln w="12700">
            <a:solidFill>
              <a:schemeClr val="accent1"/>
            </a:solidFill>
            <a:prstDash val="solid"/>
          </a:ln>
        </p:spPr>
      </p:sp>
      <p:pic>
        <p:nvPicPr>
          <p:cNvPr id="21" name="Image 3" descr="FileAlt icon">    </p:cNvPr>
          <p:cNvPicPr>
            <a:picLocks noChangeAspect="1"/>
          </p:cNvPicPr>
          <p:nvPr/>
        </p:nvPicPr>
        <p:blipFill>
          <a:blip r:embed="rId4"/>
          <a:stretch>
            <a:fillRect/>
          </a:stretch>
        </p:blipFill>
        <p:spPr>
          <a:xfrm>
            <a:off x="10165842" y="1831086"/>
            <a:ext cx="315468" cy="315468"/>
          </a:xfrm>
          <a:prstGeom prst="rect">
            <a:avLst/>
          </a:prstGeom>
        </p:spPr>
      </p:pic>
      <p:sp>
        <p:nvSpPr>
          <p:cNvPr id="22" name="Text 16"/>
          <p:cNvSpPr txBox="1"/>
          <p:nvPr/>
        </p:nvSpPr>
        <p:spPr>
          <a:xfrm>
            <a:off x="9134856" y="2514600"/>
            <a:ext cx="2377440" cy="411480"/>
          </a:xfrm>
          <a:prstGeom prst="rect">
            <a:avLst/>
          </a:prstGeom>
          <a:noFill/>
          <a:ln/>
        </p:spPr>
        <p:txBody>
          <a:bodyPr wrap="square" lIns="0" tIns="0" rIns="0" bIns="0" rtlCol="0" anchor="t"/>
          <a:lstStyle/>
          <a:p>
            <a:pPr algn="ctr" indent="0" marL="0">
              <a:buNone/>
            </a:pPr>
            <a:r>
              <a:rPr lang="en-US" sz="1700" b="1" dirty="0">
                <a:solidFill>
                  <a:schemeClr val="tx1"/>
                </a:solidFill>
              </a:rPr>
              <a:t>4. Capture</a:t>
            </a:r>
            <a:endParaRPr lang="en-US" sz="1700" dirty="0"/>
          </a:p>
        </p:txBody>
      </p:sp>
      <p:sp>
        <p:nvSpPr>
          <p:cNvPr id="23" name="Text 17"/>
          <p:cNvSpPr txBox="1"/>
          <p:nvPr/>
        </p:nvSpPr>
        <p:spPr>
          <a:xfrm>
            <a:off x="9180576" y="2971800"/>
            <a:ext cx="2286000" cy="868680"/>
          </a:xfrm>
          <a:prstGeom prst="rect">
            <a:avLst/>
          </a:prstGeom>
          <a:noFill/>
          <a:ln/>
        </p:spPr>
        <p:txBody>
          <a:bodyPr wrap="square" lIns="0" tIns="0" rIns="0" bIns="0" rtlCol="0" anchor="t"/>
          <a:lstStyle/>
          <a:p>
            <a:pPr algn="ctr" indent="0" marL="0">
              <a:buNone/>
            </a:pPr>
            <a:r>
              <a:rPr lang="en-US" sz="1400" dirty="0">
                <a:solidFill>
                  <a:schemeClr val="accent5"/>
                </a:solidFill>
              </a:rPr>
              <a:t>Memindai, OCR, dan mengetik ulang bahan cetak</a:t>
            </a:r>
            <a:endParaRPr lang="en-US" sz="1400" dirty="0"/>
          </a:p>
        </p:txBody>
      </p:sp>
      <p:sp>
        <p:nvSpPr>
          <p:cNvPr id="24" name="Kartu sasaran"/>
          <p:cNvSpPr/>
          <p:nvPr/>
        </p:nvSpPr>
        <p:spPr>
          <a:xfrm>
            <a:off x="548640" y="4206240"/>
            <a:ext cx="5440680" cy="2011680"/>
          </a:xfrm>
          <a:prstGeom prst="roundRect">
            <a:avLst>
              <a:gd name="adj" fmla="val 5455"/>
            </a:avLst>
          </a:prstGeom>
          <a:solidFill>
            <a:schemeClr val="bg2"/>
          </a:solidFill>
          <a:ln w="12700">
            <a:solidFill>
              <a:schemeClr val="bg2"/>
            </a:solidFill>
            <a:prstDash val="solid"/>
          </a:ln>
        </p:spPr>
      </p:sp>
      <p:sp>
        <p:nvSpPr>
          <p:cNvPr id="25" name="Text 19"/>
          <p:cNvSpPr txBox="1"/>
          <p:nvPr/>
        </p:nvSpPr>
        <p:spPr>
          <a:xfrm>
            <a:off x="822960" y="4343400"/>
            <a:ext cx="4572000" cy="365760"/>
          </a:xfrm>
          <a:prstGeom prst="rect">
            <a:avLst/>
          </a:prstGeom>
          <a:noFill/>
          <a:ln/>
        </p:spPr>
        <p:txBody>
          <a:bodyPr wrap="square" lIns="0" tIns="0" rIns="0" bIns="0" rtlCol="0" anchor="t"/>
          <a:lstStyle/>
          <a:p>
            <a:pPr indent="0" marL="0">
              <a:buNone/>
            </a:pPr>
            <a:r>
              <a:rPr lang="en-US" sz="1800" b="1" dirty="0">
                <a:solidFill>
                  <a:schemeClr val="accent1"/>
                </a:solidFill>
              </a:rPr>
              <a:t>Sasaran</a:t>
            </a:r>
            <a:endParaRPr lang="en-US" sz="1800" dirty="0"/>
          </a:p>
        </p:txBody>
      </p:sp>
      <p:sp>
        <p:nvSpPr>
          <p:cNvPr id="26" name="Text 20"/>
          <p:cNvSpPr txBox="1"/>
          <p:nvPr/>
        </p:nvSpPr>
        <p:spPr>
          <a:xfrm>
            <a:off x="822960" y="4800600"/>
            <a:ext cx="493776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Minimal: terjemahan Aceh ke Indonesia</a:t>
            </a:r>
            <a:endParaRPr lang="en-US" sz="1500" dirty="0"/>
          </a:p>
          <a:p>
            <a:pPr marL="342900" indent="-342900">
              <a:spcAft>
                <a:spcPts val="600"/>
              </a:spcAft>
              <a:buSzPct val="100000"/>
              <a:buChar char="•"/>
            </a:pPr>
            <a:r>
              <a:rPr lang="en-US" sz="1500" dirty="0">
                <a:solidFill>
                  <a:schemeClr val="tx1"/>
                </a:solidFill>
              </a:rPr>
              <a:t>Ideal: terjemahan dua arah</a:t>
            </a:r>
            <a:endParaRPr lang="en-US" sz="1500" dirty="0"/>
          </a:p>
          <a:p>
            <a:pPr marL="342900" indent="-342900">
              <a:spcAft>
                <a:spcPts val="600"/>
              </a:spcAft>
              <a:buSzPct val="100000"/>
              <a:buChar char="•"/>
            </a:pPr>
            <a:r>
              <a:rPr lang="en-US" sz="1500" dirty="0">
                <a:solidFill>
                  <a:schemeClr val="tx1"/>
                </a:solidFill>
              </a:rPr>
              <a:t>Hasil berupa proof of concept (bukti kelayakan)</a:t>
            </a:r>
            <a:endParaRPr lang="en-US" sz="1500" dirty="0"/>
          </a:p>
        </p:txBody>
      </p:sp>
      <p:sp>
        <p:nvSpPr>
          <p:cNvPr id="27" name="Kartu lanjutan"/>
          <p:cNvSpPr/>
          <p:nvPr/>
        </p:nvSpPr>
        <p:spPr>
          <a:xfrm>
            <a:off x="6199632" y="4206240"/>
            <a:ext cx="5440680" cy="2011680"/>
          </a:xfrm>
          <a:prstGeom prst="roundRect">
            <a:avLst>
              <a:gd name="adj" fmla="val 5455"/>
            </a:avLst>
          </a:prstGeom>
          <a:solidFill>
            <a:schemeClr val="tx2"/>
          </a:solidFill>
          <a:ln w="12700">
            <a:solidFill>
              <a:schemeClr val="tx2"/>
            </a:solidFill>
            <a:prstDash val="solid"/>
          </a:ln>
        </p:spPr>
      </p:sp>
      <p:sp>
        <p:nvSpPr>
          <p:cNvPr id="28" name="Text 22"/>
          <p:cNvSpPr txBox="1"/>
          <p:nvPr/>
        </p:nvSpPr>
        <p:spPr>
          <a:xfrm>
            <a:off x="6473952" y="4343400"/>
            <a:ext cx="4572000" cy="365760"/>
          </a:xfrm>
          <a:prstGeom prst="rect">
            <a:avLst/>
          </a:prstGeom>
          <a:noFill/>
          <a:ln/>
        </p:spPr>
        <p:txBody>
          <a:bodyPr wrap="square" lIns="0" tIns="0" rIns="0" bIns="0" rtlCol="0" anchor="t"/>
          <a:lstStyle/>
          <a:p>
            <a:pPr indent="0" marL="0">
              <a:buNone/>
            </a:pPr>
            <a:r>
              <a:rPr lang="en-US" sz="1800" b="1" dirty="0">
                <a:solidFill>
                  <a:schemeClr val="accent2"/>
                </a:solidFill>
              </a:rPr>
              <a:t>Setelah itu</a:t>
            </a:r>
            <a:endParaRPr lang="en-US" sz="1800" dirty="0"/>
          </a:p>
        </p:txBody>
      </p:sp>
      <p:sp>
        <p:nvSpPr>
          <p:cNvPr id="29" name="Text 23"/>
          <p:cNvSpPr txBox="1"/>
          <p:nvPr/>
        </p:nvSpPr>
        <p:spPr>
          <a:xfrm>
            <a:off x="6473952" y="4800600"/>
            <a:ext cx="4937760" cy="1371600"/>
          </a:xfrm>
          <a:prstGeom prst="rect">
            <a:avLst/>
          </a:prstGeom>
          <a:noFill/>
          <a:ln/>
        </p:spPr>
        <p:txBody>
          <a:bodyPr wrap="square" lIns="0" tIns="0" rIns="0" bIns="0" rtlCol="0" anchor="t"/>
          <a:lstStyle/>
          <a:p>
            <a:pPr indent="0" marL="0">
              <a:buNone/>
            </a:pPr>
            <a:r>
              <a:rPr lang="en-US" sz="1500" dirty="0">
                <a:solidFill>
                  <a:schemeClr val="bg1"/>
                </a:solidFill>
              </a:rPr>
              <a:t>Data dibagi menjadi data latih, validasi, dan uji. Lalu disiapkan data card untuk Atlas Data AI: asal data, isi, lisensi, dan cara pakai.</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GAMBARAN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Teknik yang kami pakai</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377440"/>
                <a:gridCol w="6217920"/>
                <a:gridCol w="2496312"/>
              </a:tblGrid>
              <a:tr h="411480">
                <a:tc>
                  <a:txBody>
                    <a:bodyPr/>
                    <a:lstStyle/>
                    <a:p>
                      <a:pPr algn="l" indent="0" marL="0">
                        <a:buNone/>
                      </a:pPr>
                      <a:r>
                        <a:rPr lang="en-US" sz="1100" b="1" dirty="0">
                          <a:solidFill>
                            <a:srgbClr val="FFFFFF"/>
                          </a:solidFill>
                        </a:rPr>
                        <a:t>Teknik</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Cara kerja di proyek kami</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Bukti</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713232">
                <a:tc>
                  <a:txBody>
                    <a:bodyPr/>
                    <a:lstStyle/>
                    <a:p>
                      <a:pPr indent="0" marL="0">
                        <a:buNone/>
                      </a:pPr>
                      <a:r>
                        <a:rPr lang="en-US" sz="1200" b="1" dirty="0">
                          <a:solidFill>
                            <a:srgbClr val="12303A"/>
                          </a:solidFill>
                        </a:rPr>
                        <a:t>Pendekatan direct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Cari arti tiap kata di daftar Kamus Aceh-Indonesia 1985 (5.260 kata). Urutan kata tetap.</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chrF++ 35,5</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Pendekatan transfer</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Pecah awalan dan akhiran -jih, ganti 15 kata fungsi dengan aturan, lalu susun kalimat Indonesia.</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chrF++ 39,2</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Pandangan antarlingua</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Encoder NLLB mengubah kalimat Aceh menjadi representasi bersama. Decoder menulis bahasa Indonesia.</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Token terlihat di aplikasi</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Terjemahan neural</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NLLB-200 (600 juta parameter) di-fine-tune pada 17.547 pasangan, berhenti dini lewat skor validasi.</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chrF++ 57,1 / BLEU 30,8</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Augmentasi data</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Terjemahan pivot: kalimat Aceh buatan manusia dan teks Inggris. NLLB menerjemahkan Inggris ke Indonesia.</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 5.700 pasangan</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Disambiguasi</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Arti kata di kamus diurutkan menurut kecocokan dengan terjemahan. Arti terbaik diberi tanda centang.</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2303A"/>
                          </a:solidFill>
                        </a:rPr>
                        <a:t>266 kata punya banyak arti</a:t>
                      </a:r>
                      <a:endParaRPr lang="en-US" sz="13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GAMBARAN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Dari sumber mentah ke aplikasi</a:t>
            </a:r>
            <a:endParaRPr lang="en-US" sz="3600" dirty="0"/>
          </a:p>
        </p:txBody>
      </p:sp>
      <p:sp>
        <p:nvSpPr>
          <p:cNvPr id="4" name="Langkah alur"/>
          <p:cNvSpPr/>
          <p:nvPr/>
        </p:nvSpPr>
        <p:spPr>
          <a:xfrm>
            <a:off x="548640" y="1645920"/>
            <a:ext cx="2011680" cy="2743200"/>
          </a:xfrm>
          <a:prstGeom prst="roundRect">
            <a:avLst>
              <a:gd name="adj" fmla="val 5455"/>
            </a:avLst>
          </a:prstGeom>
          <a:solidFill>
            <a:schemeClr val="bg2"/>
          </a:solidFill>
          <a:ln w="12700">
            <a:solidFill>
              <a:schemeClr val="bg2"/>
            </a:solidFill>
            <a:prstDash val="solid"/>
          </a:ln>
        </p:spPr>
      </p:sp>
      <p:sp>
        <p:nvSpPr>
          <p:cNvPr id="5" name="Icon circle"/>
          <p:cNvSpPr/>
          <p:nvPr/>
        </p:nvSpPr>
        <p:spPr>
          <a:xfrm>
            <a:off x="1207008" y="1874520"/>
            <a:ext cx="685800" cy="685800"/>
          </a:xfrm>
          <a:prstGeom prst="ellipse">
            <a:avLst/>
          </a:prstGeom>
          <a:solidFill>
            <a:schemeClr val="accent1"/>
          </a:solidFill>
          <a:ln w="12700">
            <a:solidFill>
              <a:schemeClr val="accent1"/>
            </a:solidFill>
            <a:prstDash val="solid"/>
          </a:ln>
        </p:spPr>
      </p:sp>
      <p:pic>
        <p:nvPicPr>
          <p:cNvPr id="6" name="Image 0" descr="Book icon">    </p:cNvPr>
          <p:cNvPicPr>
            <a:picLocks noChangeAspect="1"/>
          </p:cNvPicPr>
          <p:nvPr/>
        </p:nvPicPr>
        <p:blipFill>
          <a:blip r:embed="rId1"/>
          <a:stretch>
            <a:fillRect/>
          </a:stretch>
        </p:blipFill>
        <p:spPr>
          <a:xfrm>
            <a:off x="1392174" y="2059686"/>
            <a:ext cx="315468" cy="315468"/>
          </a:xfrm>
          <a:prstGeom prst="rect">
            <a:avLst/>
          </a:prstGeom>
        </p:spPr>
      </p:pic>
      <p:sp>
        <p:nvSpPr>
          <p:cNvPr id="7" name="Text 4"/>
          <p:cNvSpPr txBox="1"/>
          <p:nvPr/>
        </p:nvSpPr>
        <p:spPr>
          <a:xfrm>
            <a:off x="640080" y="2743200"/>
            <a:ext cx="1828800" cy="548640"/>
          </a:xfrm>
          <a:prstGeom prst="rect">
            <a:avLst/>
          </a:prstGeom>
          <a:noFill/>
          <a:ln/>
        </p:spPr>
        <p:txBody>
          <a:bodyPr wrap="square" lIns="0" tIns="0" rIns="0" bIns="0" rtlCol="0" anchor="t"/>
          <a:lstStyle/>
          <a:p>
            <a:pPr algn="ctr" indent="0" marL="0">
              <a:buNone/>
            </a:pPr>
            <a:r>
              <a:rPr lang="en-US" sz="1500" b="1" dirty="0">
                <a:solidFill>
                  <a:schemeClr val="tx1"/>
                </a:solidFill>
              </a:rPr>
              <a:t>Kumpulkan</a:t>
            </a:r>
            <a:endParaRPr lang="en-US" sz="1500" dirty="0"/>
          </a:p>
        </p:txBody>
      </p:sp>
      <p:sp>
        <p:nvSpPr>
          <p:cNvPr id="8" name="Text 5"/>
          <p:cNvSpPr txBox="1"/>
          <p:nvPr/>
        </p:nvSpPr>
        <p:spPr>
          <a:xfrm>
            <a:off x="658368" y="3337560"/>
            <a:ext cx="1792224" cy="1005840"/>
          </a:xfrm>
          <a:prstGeom prst="rect">
            <a:avLst/>
          </a:prstGeom>
          <a:noFill/>
          <a:ln/>
        </p:spPr>
        <p:txBody>
          <a:bodyPr wrap="square" lIns="0" tIns="0" rIns="0" bIns="0" rtlCol="0" anchor="t"/>
          <a:lstStyle/>
          <a:p>
            <a:pPr algn="ctr" indent="0" marL="0">
              <a:buNone/>
            </a:pPr>
            <a:r>
              <a:rPr lang="en-US" sz="1200" dirty="0">
                <a:solidFill>
                  <a:schemeClr val="accent5"/>
                </a:solidFill>
              </a:rPr>
              <a:t>Korpus, buku pindai, skripsi, cerpen, berkas tim</a:t>
            </a:r>
            <a:endParaRPr lang="en-US" sz="1200" dirty="0"/>
          </a:p>
        </p:txBody>
      </p:sp>
      <p:sp>
        <p:nvSpPr>
          <p:cNvPr id="9" name="Flow arrow"/>
          <p:cNvSpPr/>
          <p:nvPr/>
        </p:nvSpPr>
        <p:spPr>
          <a:xfrm>
            <a:off x="2569464" y="2788920"/>
            <a:ext cx="201168" cy="256032"/>
          </a:xfrm>
          <a:prstGeom prst="rightArrow">
            <a:avLst/>
          </a:prstGeom>
          <a:solidFill>
            <a:schemeClr val="accent1"/>
          </a:solidFill>
          <a:ln w="12700">
            <a:solidFill>
              <a:schemeClr val="accent1"/>
            </a:solidFill>
            <a:prstDash val="solid"/>
          </a:ln>
        </p:spPr>
      </p:sp>
      <p:sp>
        <p:nvSpPr>
          <p:cNvPr id="10" name="Langkah alur"/>
          <p:cNvSpPr/>
          <p:nvPr/>
        </p:nvSpPr>
        <p:spPr>
          <a:xfrm>
            <a:off x="2788920" y="1645920"/>
            <a:ext cx="2011680" cy="2743200"/>
          </a:xfrm>
          <a:prstGeom prst="roundRect">
            <a:avLst>
              <a:gd name="adj" fmla="val 5455"/>
            </a:avLst>
          </a:prstGeom>
          <a:solidFill>
            <a:schemeClr val="bg2"/>
          </a:solidFill>
          <a:ln w="12700">
            <a:solidFill>
              <a:schemeClr val="bg2"/>
            </a:solidFill>
            <a:prstDash val="solid"/>
          </a:ln>
        </p:spPr>
      </p:sp>
      <p:sp>
        <p:nvSpPr>
          <p:cNvPr id="11" name="Icon circle"/>
          <p:cNvSpPr/>
          <p:nvPr/>
        </p:nvSpPr>
        <p:spPr>
          <a:xfrm>
            <a:off x="3447288" y="1874520"/>
            <a:ext cx="685800" cy="685800"/>
          </a:xfrm>
          <a:prstGeom prst="ellipse">
            <a:avLst/>
          </a:prstGeom>
          <a:solidFill>
            <a:schemeClr val="accent1"/>
          </a:solidFill>
          <a:ln w="12700">
            <a:solidFill>
              <a:schemeClr val="accent1"/>
            </a:solidFill>
            <a:prstDash val="solid"/>
          </a:ln>
        </p:spPr>
      </p:sp>
      <p:pic>
        <p:nvPicPr>
          <p:cNvPr id="12" name="Image 1" descr="Tools icon">    </p:cNvPr>
          <p:cNvPicPr>
            <a:picLocks noChangeAspect="1"/>
          </p:cNvPicPr>
          <p:nvPr/>
        </p:nvPicPr>
        <p:blipFill>
          <a:blip r:embed="rId2"/>
          <a:stretch>
            <a:fillRect/>
          </a:stretch>
        </p:blipFill>
        <p:spPr>
          <a:xfrm>
            <a:off x="3632454" y="2059686"/>
            <a:ext cx="315468" cy="315468"/>
          </a:xfrm>
          <a:prstGeom prst="rect">
            <a:avLst/>
          </a:prstGeom>
        </p:spPr>
      </p:pic>
      <p:sp>
        <p:nvSpPr>
          <p:cNvPr id="13" name="Text 9"/>
          <p:cNvSpPr txBox="1"/>
          <p:nvPr/>
        </p:nvSpPr>
        <p:spPr>
          <a:xfrm>
            <a:off x="2880360" y="2743200"/>
            <a:ext cx="1828800" cy="548640"/>
          </a:xfrm>
          <a:prstGeom prst="rect">
            <a:avLst/>
          </a:prstGeom>
          <a:noFill/>
          <a:ln/>
        </p:spPr>
        <p:txBody>
          <a:bodyPr wrap="square" lIns="0" tIns="0" rIns="0" bIns="0" rtlCol="0" anchor="t"/>
          <a:lstStyle/>
          <a:p>
            <a:pPr algn="ctr" indent="0" marL="0">
              <a:buNone/>
            </a:pPr>
            <a:r>
              <a:rPr lang="en-US" sz="1500" b="1" dirty="0">
                <a:solidFill>
                  <a:schemeClr val="tx1"/>
                </a:solidFill>
              </a:rPr>
              <a:t>Bersihkan dan sejajarkan</a:t>
            </a:r>
            <a:endParaRPr lang="en-US" sz="1500" dirty="0"/>
          </a:p>
        </p:txBody>
      </p:sp>
      <p:sp>
        <p:nvSpPr>
          <p:cNvPr id="14" name="Text 10"/>
          <p:cNvSpPr txBox="1"/>
          <p:nvPr/>
        </p:nvSpPr>
        <p:spPr>
          <a:xfrm>
            <a:off x="2898648" y="3337560"/>
            <a:ext cx="1792224" cy="1005840"/>
          </a:xfrm>
          <a:prstGeom prst="rect">
            <a:avLst/>
          </a:prstGeom>
          <a:noFill/>
          <a:ln/>
        </p:spPr>
        <p:txBody>
          <a:bodyPr wrap="square" lIns="0" tIns="0" rIns="0" bIns="0" rtlCol="0" anchor="t"/>
          <a:lstStyle/>
          <a:p>
            <a:pPr algn="ctr" indent="0" marL="0">
              <a:buNone/>
            </a:pPr>
            <a:r>
              <a:rPr lang="en-US" sz="1200" dirty="0">
                <a:solidFill>
                  <a:schemeClr val="accent5"/>
                </a:solidFill>
              </a:rPr>
              <a:t>OCR, penyaringan, penyejajaran kalimat</a:t>
            </a:r>
            <a:endParaRPr lang="en-US" sz="1200" dirty="0"/>
          </a:p>
        </p:txBody>
      </p:sp>
      <p:sp>
        <p:nvSpPr>
          <p:cNvPr id="15" name="Flow arrow"/>
          <p:cNvSpPr/>
          <p:nvPr/>
        </p:nvSpPr>
        <p:spPr>
          <a:xfrm>
            <a:off x="4809744" y="2788920"/>
            <a:ext cx="201168" cy="256032"/>
          </a:xfrm>
          <a:prstGeom prst="rightArrow">
            <a:avLst/>
          </a:prstGeom>
          <a:solidFill>
            <a:schemeClr val="accent1"/>
          </a:solidFill>
          <a:ln w="12700">
            <a:solidFill>
              <a:schemeClr val="accent1"/>
            </a:solidFill>
            <a:prstDash val="solid"/>
          </a:ln>
        </p:spPr>
      </p:sp>
      <p:sp>
        <p:nvSpPr>
          <p:cNvPr id="16" name="Langkah alur"/>
          <p:cNvSpPr/>
          <p:nvPr/>
        </p:nvSpPr>
        <p:spPr>
          <a:xfrm>
            <a:off x="5029200" y="1645920"/>
            <a:ext cx="2011680" cy="2743200"/>
          </a:xfrm>
          <a:prstGeom prst="roundRect">
            <a:avLst>
              <a:gd name="adj" fmla="val 5455"/>
            </a:avLst>
          </a:prstGeom>
          <a:solidFill>
            <a:schemeClr val="bg2"/>
          </a:solidFill>
          <a:ln w="12700">
            <a:solidFill>
              <a:schemeClr val="bg2"/>
            </a:solidFill>
            <a:prstDash val="solid"/>
          </a:ln>
        </p:spPr>
      </p:sp>
      <p:sp>
        <p:nvSpPr>
          <p:cNvPr id="17" name="Icon circle"/>
          <p:cNvSpPr/>
          <p:nvPr/>
        </p:nvSpPr>
        <p:spPr>
          <a:xfrm>
            <a:off x="5687568" y="1874520"/>
            <a:ext cx="685800" cy="685800"/>
          </a:xfrm>
          <a:prstGeom prst="ellipse">
            <a:avLst/>
          </a:prstGeom>
          <a:solidFill>
            <a:schemeClr val="accent1"/>
          </a:solidFill>
          <a:ln w="12700">
            <a:solidFill>
              <a:schemeClr val="accent1"/>
            </a:solidFill>
            <a:prstDash val="solid"/>
          </a:ln>
        </p:spPr>
      </p:sp>
      <p:pic>
        <p:nvPicPr>
          <p:cNvPr id="18" name="Image 2" descr="ShieldAlt icon">    </p:cNvPr>
          <p:cNvPicPr>
            <a:picLocks noChangeAspect="1"/>
          </p:cNvPicPr>
          <p:nvPr/>
        </p:nvPicPr>
        <p:blipFill>
          <a:blip r:embed="rId3"/>
          <a:stretch>
            <a:fillRect/>
          </a:stretch>
        </p:blipFill>
        <p:spPr>
          <a:xfrm>
            <a:off x="5872734" y="2059686"/>
            <a:ext cx="315468" cy="315468"/>
          </a:xfrm>
          <a:prstGeom prst="rect">
            <a:avLst/>
          </a:prstGeom>
        </p:spPr>
      </p:pic>
      <p:sp>
        <p:nvSpPr>
          <p:cNvPr id="19" name="Text 14"/>
          <p:cNvSpPr txBox="1"/>
          <p:nvPr/>
        </p:nvSpPr>
        <p:spPr>
          <a:xfrm>
            <a:off x="5120640" y="2743200"/>
            <a:ext cx="1828800" cy="548640"/>
          </a:xfrm>
          <a:prstGeom prst="rect">
            <a:avLst/>
          </a:prstGeom>
          <a:noFill/>
          <a:ln/>
        </p:spPr>
        <p:txBody>
          <a:bodyPr wrap="square" lIns="0" tIns="0" rIns="0" bIns="0" rtlCol="0" anchor="t"/>
          <a:lstStyle/>
          <a:p>
            <a:pPr algn="ctr" indent="0" marL="0">
              <a:buNone/>
            </a:pPr>
            <a:r>
              <a:rPr lang="en-US" sz="1500" b="1" dirty="0">
                <a:solidFill>
                  <a:schemeClr val="tx1"/>
                </a:solidFill>
              </a:rPr>
              <a:t>Normalisasi dan periksa</a:t>
            </a:r>
            <a:endParaRPr lang="en-US" sz="1500" dirty="0"/>
          </a:p>
        </p:txBody>
      </p:sp>
      <p:sp>
        <p:nvSpPr>
          <p:cNvPr id="20" name="Text 15"/>
          <p:cNvSpPr txBox="1"/>
          <p:nvPr/>
        </p:nvSpPr>
        <p:spPr>
          <a:xfrm>
            <a:off x="5138928" y="3337560"/>
            <a:ext cx="1792224" cy="1005840"/>
          </a:xfrm>
          <a:prstGeom prst="rect">
            <a:avLst/>
          </a:prstGeom>
          <a:noFill/>
          <a:ln/>
        </p:spPr>
        <p:txBody>
          <a:bodyPr wrap="square" lIns="0" tIns="0" rIns="0" bIns="0" rtlCol="0" anchor="t"/>
          <a:lstStyle/>
          <a:p>
            <a:pPr algn="ctr" indent="0" marL="0">
              <a:buNone/>
            </a:pPr>
            <a:r>
              <a:rPr lang="en-US" sz="1200" dirty="0">
                <a:solidFill>
                  <a:schemeClr val="accent5"/>
                </a:solidFill>
              </a:rPr>
              <a:t>Ejaan, deteksi bahasa, duplikat, dan kebocoran</a:t>
            </a:r>
            <a:endParaRPr lang="en-US" sz="1200" dirty="0"/>
          </a:p>
        </p:txBody>
      </p:sp>
      <p:sp>
        <p:nvSpPr>
          <p:cNvPr id="21" name="Flow arrow"/>
          <p:cNvSpPr/>
          <p:nvPr/>
        </p:nvSpPr>
        <p:spPr>
          <a:xfrm>
            <a:off x="7050024" y="2788920"/>
            <a:ext cx="201168" cy="256032"/>
          </a:xfrm>
          <a:prstGeom prst="rightArrow">
            <a:avLst/>
          </a:prstGeom>
          <a:solidFill>
            <a:schemeClr val="accent1"/>
          </a:solidFill>
          <a:ln w="12700">
            <a:solidFill>
              <a:schemeClr val="accent1"/>
            </a:solidFill>
            <a:prstDash val="solid"/>
          </a:ln>
        </p:spPr>
      </p:sp>
      <p:sp>
        <p:nvSpPr>
          <p:cNvPr id="22" name="Langkah alur"/>
          <p:cNvSpPr/>
          <p:nvPr/>
        </p:nvSpPr>
        <p:spPr>
          <a:xfrm>
            <a:off x="7269480" y="1645920"/>
            <a:ext cx="2011680" cy="2743200"/>
          </a:xfrm>
          <a:prstGeom prst="roundRect">
            <a:avLst>
              <a:gd name="adj" fmla="val 5455"/>
            </a:avLst>
          </a:prstGeom>
          <a:solidFill>
            <a:schemeClr val="bg2"/>
          </a:solidFill>
          <a:ln w="12700">
            <a:solidFill>
              <a:schemeClr val="bg2"/>
            </a:solidFill>
            <a:prstDash val="solid"/>
          </a:ln>
        </p:spPr>
      </p:sp>
      <p:sp>
        <p:nvSpPr>
          <p:cNvPr id="23" name="Icon circle"/>
          <p:cNvSpPr/>
          <p:nvPr/>
        </p:nvSpPr>
        <p:spPr>
          <a:xfrm>
            <a:off x="7927848" y="1874520"/>
            <a:ext cx="685800" cy="685800"/>
          </a:xfrm>
          <a:prstGeom prst="ellipse">
            <a:avLst/>
          </a:prstGeom>
          <a:solidFill>
            <a:schemeClr val="accent1"/>
          </a:solidFill>
          <a:ln w="12700">
            <a:solidFill>
              <a:schemeClr val="accent1"/>
            </a:solidFill>
            <a:prstDash val="solid"/>
          </a:ln>
        </p:spPr>
      </p:sp>
      <p:pic>
        <p:nvPicPr>
          <p:cNvPr id="24" name="Image 3" descr="Microchip icon">    </p:cNvPr>
          <p:cNvPicPr>
            <a:picLocks noChangeAspect="1"/>
          </p:cNvPicPr>
          <p:nvPr/>
        </p:nvPicPr>
        <p:blipFill>
          <a:blip r:embed="rId4"/>
          <a:stretch>
            <a:fillRect/>
          </a:stretch>
        </p:blipFill>
        <p:spPr>
          <a:xfrm>
            <a:off x="8113014" y="2059686"/>
            <a:ext cx="315468" cy="315468"/>
          </a:xfrm>
          <a:prstGeom prst="rect">
            <a:avLst/>
          </a:prstGeom>
        </p:spPr>
      </p:pic>
      <p:sp>
        <p:nvSpPr>
          <p:cNvPr id="25" name="Text 19"/>
          <p:cNvSpPr txBox="1"/>
          <p:nvPr/>
        </p:nvSpPr>
        <p:spPr>
          <a:xfrm>
            <a:off x="7360920" y="2743200"/>
            <a:ext cx="1828800" cy="548640"/>
          </a:xfrm>
          <a:prstGeom prst="rect">
            <a:avLst/>
          </a:prstGeom>
          <a:noFill/>
          <a:ln/>
        </p:spPr>
        <p:txBody>
          <a:bodyPr wrap="square" lIns="0" tIns="0" rIns="0" bIns="0" rtlCol="0" anchor="t"/>
          <a:lstStyle/>
          <a:p>
            <a:pPr algn="ctr" indent="0" marL="0">
              <a:buNone/>
            </a:pPr>
            <a:r>
              <a:rPr lang="en-US" sz="1500" b="1" dirty="0">
                <a:solidFill>
                  <a:schemeClr val="tx1"/>
                </a:solidFill>
              </a:rPr>
              <a:t>Fine-tune</a:t>
            </a:r>
            <a:endParaRPr lang="en-US" sz="1500" dirty="0"/>
          </a:p>
        </p:txBody>
      </p:sp>
      <p:sp>
        <p:nvSpPr>
          <p:cNvPr id="26" name="Text 20"/>
          <p:cNvSpPr txBox="1"/>
          <p:nvPr/>
        </p:nvSpPr>
        <p:spPr>
          <a:xfrm>
            <a:off x="7379208" y="3337560"/>
            <a:ext cx="1792224" cy="1005840"/>
          </a:xfrm>
          <a:prstGeom prst="rect">
            <a:avLst/>
          </a:prstGeom>
          <a:noFill/>
          <a:ln/>
        </p:spPr>
        <p:txBody>
          <a:bodyPr wrap="square" lIns="0" tIns="0" rIns="0" bIns="0" rtlCol="0" anchor="t"/>
          <a:lstStyle/>
          <a:p>
            <a:pPr algn="ctr" indent="0" marL="0">
              <a:buNone/>
            </a:pPr>
            <a:r>
              <a:rPr lang="en-US" sz="1200" dirty="0">
                <a:solidFill>
                  <a:schemeClr val="accent5"/>
                </a:solidFill>
              </a:rPr>
              <a:t>NLLB-200 di GPU T4 Google Colab</a:t>
            </a:r>
            <a:endParaRPr lang="en-US" sz="1200" dirty="0"/>
          </a:p>
        </p:txBody>
      </p:sp>
      <p:sp>
        <p:nvSpPr>
          <p:cNvPr id="27" name="Flow arrow"/>
          <p:cNvSpPr/>
          <p:nvPr/>
        </p:nvSpPr>
        <p:spPr>
          <a:xfrm>
            <a:off x="9290304" y="2788920"/>
            <a:ext cx="201168" cy="256032"/>
          </a:xfrm>
          <a:prstGeom prst="rightArrow">
            <a:avLst/>
          </a:prstGeom>
          <a:solidFill>
            <a:schemeClr val="accent1"/>
          </a:solidFill>
          <a:ln w="12700">
            <a:solidFill>
              <a:schemeClr val="accent1"/>
            </a:solidFill>
            <a:prstDash val="solid"/>
          </a:ln>
        </p:spPr>
      </p:sp>
      <p:sp>
        <p:nvSpPr>
          <p:cNvPr id="28" name="Langkah alur"/>
          <p:cNvSpPr/>
          <p:nvPr/>
        </p:nvSpPr>
        <p:spPr>
          <a:xfrm>
            <a:off x="9509760" y="1645920"/>
            <a:ext cx="2011680" cy="2743200"/>
          </a:xfrm>
          <a:prstGeom prst="roundRect">
            <a:avLst>
              <a:gd name="adj" fmla="val 5455"/>
            </a:avLst>
          </a:prstGeom>
          <a:solidFill>
            <a:schemeClr val="bg2"/>
          </a:solidFill>
          <a:ln w="12700">
            <a:solidFill>
              <a:schemeClr val="bg2"/>
            </a:solidFill>
            <a:prstDash val="solid"/>
          </a:ln>
        </p:spPr>
      </p:sp>
      <p:sp>
        <p:nvSpPr>
          <p:cNvPr id="29" name="Icon circle"/>
          <p:cNvSpPr/>
          <p:nvPr/>
        </p:nvSpPr>
        <p:spPr>
          <a:xfrm>
            <a:off x="10168128" y="1874520"/>
            <a:ext cx="685800" cy="685800"/>
          </a:xfrm>
          <a:prstGeom prst="ellipse">
            <a:avLst/>
          </a:prstGeom>
          <a:solidFill>
            <a:schemeClr val="accent1"/>
          </a:solidFill>
          <a:ln w="12700">
            <a:solidFill>
              <a:schemeClr val="accent1"/>
            </a:solidFill>
            <a:prstDash val="solid"/>
          </a:ln>
        </p:spPr>
      </p:sp>
      <p:pic>
        <p:nvPicPr>
          <p:cNvPr id="30" name="Image 4" descr="Laptop icon">    </p:cNvPr>
          <p:cNvPicPr>
            <a:picLocks noChangeAspect="1"/>
          </p:cNvPicPr>
          <p:nvPr/>
        </p:nvPicPr>
        <p:blipFill>
          <a:blip r:embed="rId5"/>
          <a:stretch>
            <a:fillRect/>
          </a:stretch>
        </p:blipFill>
        <p:spPr>
          <a:xfrm>
            <a:off x="10353294" y="2059686"/>
            <a:ext cx="315468" cy="315468"/>
          </a:xfrm>
          <a:prstGeom prst="rect">
            <a:avLst/>
          </a:prstGeom>
        </p:spPr>
      </p:pic>
      <p:sp>
        <p:nvSpPr>
          <p:cNvPr id="31" name="Text 24"/>
          <p:cNvSpPr txBox="1"/>
          <p:nvPr/>
        </p:nvSpPr>
        <p:spPr>
          <a:xfrm>
            <a:off x="9601200" y="2743200"/>
            <a:ext cx="1828800" cy="548640"/>
          </a:xfrm>
          <a:prstGeom prst="rect">
            <a:avLst/>
          </a:prstGeom>
          <a:noFill/>
          <a:ln/>
        </p:spPr>
        <p:txBody>
          <a:bodyPr wrap="square" lIns="0" tIns="0" rIns="0" bIns="0" rtlCol="0" anchor="t"/>
          <a:lstStyle/>
          <a:p>
            <a:pPr algn="ctr" indent="0" marL="0">
              <a:buNone/>
            </a:pPr>
            <a:r>
              <a:rPr lang="en-US" sz="1500" b="1" dirty="0">
                <a:solidFill>
                  <a:schemeClr val="tx1"/>
                </a:solidFill>
              </a:rPr>
              <a:t>Uji dan sajikan</a:t>
            </a:r>
            <a:endParaRPr lang="en-US" sz="1500" dirty="0"/>
          </a:p>
        </p:txBody>
      </p:sp>
      <p:sp>
        <p:nvSpPr>
          <p:cNvPr id="32" name="Text 25"/>
          <p:cNvSpPr txBox="1"/>
          <p:nvPr/>
        </p:nvSpPr>
        <p:spPr>
          <a:xfrm>
            <a:off x="9619488" y="3337560"/>
            <a:ext cx="1792224" cy="1005840"/>
          </a:xfrm>
          <a:prstGeom prst="rect">
            <a:avLst/>
          </a:prstGeom>
          <a:noFill/>
          <a:ln/>
        </p:spPr>
        <p:txBody>
          <a:bodyPr wrap="square" lIns="0" tIns="0" rIns="0" bIns="0" rtlCol="0" anchor="t"/>
          <a:lstStyle/>
          <a:p>
            <a:pPr algn="ctr" indent="0" marL="0">
              <a:buNone/>
            </a:pPr>
            <a:r>
              <a:rPr lang="en-US" sz="1200" dirty="0">
                <a:solidFill>
                  <a:schemeClr val="accent5"/>
                </a:solidFill>
              </a:rPr>
              <a:t>Tiga set uji, aplikasi lokal, demo Colab</a:t>
            </a:r>
            <a:endParaRPr lang="en-US" sz="1200" dirty="0"/>
          </a:p>
        </p:txBody>
      </p:sp>
      <p:sp>
        <p:nvSpPr>
          <p:cNvPr id="33" name="Kartu alat"/>
          <p:cNvSpPr/>
          <p:nvPr/>
        </p:nvSpPr>
        <p:spPr>
          <a:xfrm>
            <a:off x="548640" y="4754880"/>
            <a:ext cx="11091672" cy="1371600"/>
          </a:xfrm>
          <a:prstGeom prst="roundRect">
            <a:avLst>
              <a:gd name="adj" fmla="val 8000"/>
            </a:avLst>
          </a:prstGeom>
          <a:solidFill>
            <a:schemeClr val="tx2"/>
          </a:solidFill>
          <a:ln w="12700">
            <a:solidFill>
              <a:schemeClr val="tx2"/>
            </a:solidFill>
            <a:prstDash val="solid"/>
          </a:ln>
        </p:spPr>
      </p:sp>
      <p:sp>
        <p:nvSpPr>
          <p:cNvPr id="34" name="Text 27"/>
          <p:cNvSpPr txBox="1"/>
          <p:nvPr/>
        </p:nvSpPr>
        <p:spPr>
          <a:xfrm>
            <a:off x="822960" y="489204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Alat yang dipakai</a:t>
            </a:r>
            <a:endParaRPr lang="en-US" sz="1400" dirty="0"/>
          </a:p>
        </p:txBody>
      </p:sp>
      <p:sp>
        <p:nvSpPr>
          <p:cNvPr id="35" name="Text 28"/>
          <p:cNvSpPr txBox="1"/>
          <p:nvPr/>
        </p:nvSpPr>
        <p:spPr>
          <a:xfrm>
            <a:off x="822960" y="5257800"/>
            <a:ext cx="10515600" cy="731520"/>
          </a:xfrm>
          <a:prstGeom prst="rect">
            <a:avLst/>
          </a:prstGeom>
          <a:noFill/>
          <a:ln/>
        </p:spPr>
        <p:txBody>
          <a:bodyPr wrap="square" lIns="0" tIns="0" rIns="0" bIns="0" rtlCol="0" anchor="t"/>
          <a:lstStyle/>
          <a:p>
            <a:pPr indent="0" marL="0">
              <a:buNone/>
            </a:pPr>
            <a:r>
              <a:rPr lang="en-US" sz="1400" dirty="0">
                <a:solidFill>
                  <a:schemeClr val="bg1"/>
                </a:solidFill>
              </a:rPr>
              <a:t>PyMuPDF dan RapidOCR (buku pindai) · rapidfuzz dan datasketch (duplikat) · Hugging Face Transformers dan PyTorch (pelatihan) · sacreBLEU (penilaian) · Gradio (aplikasi) · Google Colab GPU T4</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DASAR TEORI</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Dasar teori singkat</a:t>
            </a:r>
            <a:endParaRPr lang="en-US" sz="3600" dirty="0"/>
          </a:p>
        </p:txBody>
      </p:sp>
      <p:sp>
        <p:nvSpPr>
          <p:cNvPr id="4" name="Kartu teori"/>
          <p:cNvSpPr/>
          <p:nvPr/>
        </p:nvSpPr>
        <p:spPr>
          <a:xfrm>
            <a:off x="548640" y="1463040"/>
            <a:ext cx="5468112" cy="2240280"/>
          </a:xfrm>
          <a:prstGeom prst="roundRect">
            <a:avLst>
              <a:gd name="adj" fmla="val 4898"/>
            </a:avLst>
          </a:prstGeom>
          <a:solidFill>
            <a:schemeClr val="bg2"/>
          </a:solidFill>
          <a:ln w="12700">
            <a:solidFill>
              <a:schemeClr val="bg2"/>
            </a:solidFill>
            <a:prstDash val="solid"/>
          </a:ln>
        </p:spPr>
      </p:sp>
      <p:sp>
        <p:nvSpPr>
          <p:cNvPr id="5" name="Icon circle"/>
          <p:cNvSpPr/>
          <p:nvPr/>
        </p:nvSpPr>
        <p:spPr>
          <a:xfrm>
            <a:off x="822960" y="1737360"/>
            <a:ext cx="685800" cy="685800"/>
          </a:xfrm>
          <a:prstGeom prst="ellipse">
            <a:avLst/>
          </a:prstGeom>
          <a:solidFill>
            <a:schemeClr val="accent1"/>
          </a:solidFill>
          <a:ln w="12700">
            <a:solidFill>
              <a:schemeClr val="accent1"/>
            </a:solidFill>
            <a:prstDash val="solid"/>
          </a:ln>
        </p:spPr>
      </p:sp>
      <p:pic>
        <p:nvPicPr>
          <p:cNvPr id="6" name="Image 0" descr="ProjectDiagram icon">    </p:cNvPr>
          <p:cNvPicPr>
            <a:picLocks noChangeAspect="1"/>
          </p:cNvPicPr>
          <p:nvPr/>
        </p:nvPicPr>
        <p:blipFill>
          <a:blip r:embed="rId1"/>
          <a:stretch>
            <a:fillRect/>
          </a:stretch>
        </p:blipFill>
        <p:spPr>
          <a:xfrm>
            <a:off x="1008126" y="1922526"/>
            <a:ext cx="315468" cy="315468"/>
          </a:xfrm>
          <a:prstGeom prst="rect">
            <a:avLst/>
          </a:prstGeom>
        </p:spPr>
      </p:pic>
      <p:sp>
        <p:nvSpPr>
          <p:cNvPr id="7" name="Text 4"/>
          <p:cNvSpPr txBox="1"/>
          <p:nvPr/>
        </p:nvSpPr>
        <p:spPr>
          <a:xfrm>
            <a:off x="1737360" y="178308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Transformer</a:t>
            </a:r>
            <a:endParaRPr lang="en-US" sz="1800" dirty="0"/>
          </a:p>
        </p:txBody>
      </p:sp>
      <p:sp>
        <p:nvSpPr>
          <p:cNvPr id="8" name="Text 5"/>
          <p:cNvSpPr txBox="1"/>
          <p:nvPr/>
        </p:nvSpPr>
        <p:spPr>
          <a:xfrm>
            <a:off x="822960" y="2514600"/>
            <a:ext cx="4937760" cy="1097280"/>
          </a:xfrm>
          <a:prstGeom prst="rect">
            <a:avLst/>
          </a:prstGeom>
          <a:noFill/>
          <a:ln/>
        </p:spPr>
        <p:txBody>
          <a:bodyPr wrap="square" lIns="0" tIns="0" rIns="0" bIns="0" rtlCol="0" anchor="t"/>
          <a:lstStyle/>
          <a:p>
            <a:pPr indent="0" marL="0">
              <a:buNone/>
            </a:pPr>
            <a:r>
              <a:rPr lang="en-US" sz="1400" dirty="0">
                <a:solidFill>
                  <a:schemeClr val="accent5"/>
                </a:solidFill>
              </a:rPr>
              <a:t>Model dengan encoder dan decoder. Encoder membaca kalimat sumber. Decoder menulis kalimat tujuan dengan melihat konteks (Vaswani dkk., 2017).</a:t>
            </a:r>
            <a:endParaRPr lang="en-US" sz="1400" dirty="0"/>
          </a:p>
        </p:txBody>
      </p:sp>
      <p:sp>
        <p:nvSpPr>
          <p:cNvPr id="9" name="Kartu teori"/>
          <p:cNvSpPr/>
          <p:nvPr/>
        </p:nvSpPr>
        <p:spPr>
          <a:xfrm>
            <a:off x="6172200" y="1463040"/>
            <a:ext cx="5468112" cy="2240280"/>
          </a:xfrm>
          <a:prstGeom prst="roundRect">
            <a:avLst>
              <a:gd name="adj" fmla="val 4898"/>
            </a:avLst>
          </a:prstGeom>
          <a:solidFill>
            <a:schemeClr val="bg2"/>
          </a:solidFill>
          <a:ln w="12700">
            <a:solidFill>
              <a:schemeClr val="bg2"/>
            </a:solidFill>
            <a:prstDash val="solid"/>
          </a:ln>
        </p:spPr>
      </p:sp>
      <p:sp>
        <p:nvSpPr>
          <p:cNvPr id="10" name="Icon circle"/>
          <p:cNvSpPr/>
          <p:nvPr/>
        </p:nvSpPr>
        <p:spPr>
          <a:xfrm>
            <a:off x="6446520" y="1737360"/>
            <a:ext cx="685800" cy="685800"/>
          </a:xfrm>
          <a:prstGeom prst="ellipse">
            <a:avLst/>
          </a:prstGeom>
          <a:solidFill>
            <a:schemeClr val="accent1"/>
          </a:solidFill>
          <a:ln w="12700">
            <a:solidFill>
              <a:schemeClr val="accent1"/>
            </a:solidFill>
            <a:prstDash val="solid"/>
          </a:ln>
        </p:spPr>
      </p:sp>
      <p:pic>
        <p:nvPicPr>
          <p:cNvPr id="11" name="Image 1" descr="Globe icon">    </p:cNvPr>
          <p:cNvPicPr>
            <a:picLocks noChangeAspect="1"/>
          </p:cNvPicPr>
          <p:nvPr/>
        </p:nvPicPr>
        <p:blipFill>
          <a:blip r:embed="rId2"/>
          <a:stretch>
            <a:fillRect/>
          </a:stretch>
        </p:blipFill>
        <p:spPr>
          <a:xfrm>
            <a:off x="6631686" y="1922526"/>
            <a:ext cx="315468" cy="315468"/>
          </a:xfrm>
          <a:prstGeom prst="rect">
            <a:avLst/>
          </a:prstGeom>
        </p:spPr>
      </p:pic>
      <p:sp>
        <p:nvSpPr>
          <p:cNvPr id="12" name="Text 8"/>
          <p:cNvSpPr txBox="1"/>
          <p:nvPr/>
        </p:nvSpPr>
        <p:spPr>
          <a:xfrm>
            <a:off x="7360920" y="178308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NLLB-200</a:t>
            </a:r>
            <a:endParaRPr lang="en-US" sz="1800" dirty="0"/>
          </a:p>
        </p:txBody>
      </p:sp>
      <p:sp>
        <p:nvSpPr>
          <p:cNvPr id="13" name="Text 9"/>
          <p:cNvSpPr txBox="1"/>
          <p:nvPr/>
        </p:nvSpPr>
        <p:spPr>
          <a:xfrm>
            <a:off x="6446520" y="2514600"/>
            <a:ext cx="4937760" cy="1097280"/>
          </a:xfrm>
          <a:prstGeom prst="rect">
            <a:avLst/>
          </a:prstGeom>
          <a:noFill/>
          <a:ln/>
        </p:spPr>
        <p:txBody>
          <a:bodyPr wrap="square" lIns="0" tIns="0" rIns="0" bIns="0" rtlCol="0" anchor="t"/>
          <a:lstStyle/>
          <a:p>
            <a:pPr indent="0" marL="0">
              <a:buNone/>
            </a:pPr>
            <a:r>
              <a:rPr lang="en-US" sz="1400" dirty="0">
                <a:solidFill>
                  <a:schemeClr val="accent5"/>
                </a:solidFill>
              </a:rPr>
              <a:t>Model terjemahan Meta untuk sekitar 200 bahasa, termasuk bahasa Aceh (kode ace_Latn). Kami memakai versi distilled 600 juta parameter.</a:t>
            </a:r>
            <a:endParaRPr lang="en-US" sz="1400" dirty="0"/>
          </a:p>
        </p:txBody>
      </p:sp>
      <p:sp>
        <p:nvSpPr>
          <p:cNvPr id="14" name="Kartu teori"/>
          <p:cNvSpPr/>
          <p:nvPr/>
        </p:nvSpPr>
        <p:spPr>
          <a:xfrm>
            <a:off x="548640" y="3886200"/>
            <a:ext cx="5468112" cy="2240280"/>
          </a:xfrm>
          <a:prstGeom prst="roundRect">
            <a:avLst>
              <a:gd name="adj" fmla="val 4898"/>
            </a:avLst>
          </a:prstGeom>
          <a:solidFill>
            <a:schemeClr val="bg2"/>
          </a:solidFill>
          <a:ln w="12700">
            <a:solidFill>
              <a:schemeClr val="bg2"/>
            </a:solidFill>
            <a:prstDash val="solid"/>
          </a:ln>
        </p:spPr>
      </p:sp>
      <p:sp>
        <p:nvSpPr>
          <p:cNvPr id="15" name="Icon circle"/>
          <p:cNvSpPr/>
          <p:nvPr/>
        </p:nvSpPr>
        <p:spPr>
          <a:xfrm>
            <a:off x="822960" y="4160520"/>
            <a:ext cx="685800" cy="685800"/>
          </a:xfrm>
          <a:prstGeom prst="ellipse">
            <a:avLst/>
          </a:prstGeom>
          <a:solidFill>
            <a:schemeClr val="accent1"/>
          </a:solidFill>
          <a:ln w="12700">
            <a:solidFill>
              <a:schemeClr val="accent1"/>
            </a:solidFill>
            <a:prstDash val="solid"/>
          </a:ln>
        </p:spPr>
      </p:sp>
      <p:pic>
        <p:nvPicPr>
          <p:cNvPr id="16" name="Image 2" descr="Database icon">    </p:cNvPr>
          <p:cNvPicPr>
            <a:picLocks noChangeAspect="1"/>
          </p:cNvPicPr>
          <p:nvPr/>
        </p:nvPicPr>
        <p:blipFill>
          <a:blip r:embed="rId3"/>
          <a:stretch>
            <a:fillRect/>
          </a:stretch>
        </p:blipFill>
        <p:spPr>
          <a:xfrm>
            <a:off x="1008126" y="4345686"/>
            <a:ext cx="315468" cy="315468"/>
          </a:xfrm>
          <a:prstGeom prst="rect">
            <a:avLst/>
          </a:prstGeom>
        </p:spPr>
      </p:pic>
      <p:sp>
        <p:nvSpPr>
          <p:cNvPr id="17" name="Text 12"/>
          <p:cNvSpPr txBox="1"/>
          <p:nvPr/>
        </p:nvSpPr>
        <p:spPr>
          <a:xfrm>
            <a:off x="1737360" y="420624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NusaX dan FLORES-200</a:t>
            </a:r>
            <a:endParaRPr lang="en-US" sz="1800" dirty="0"/>
          </a:p>
        </p:txBody>
      </p:sp>
      <p:sp>
        <p:nvSpPr>
          <p:cNvPr id="18" name="Text 13"/>
          <p:cNvSpPr txBox="1"/>
          <p:nvPr/>
        </p:nvSpPr>
        <p:spPr>
          <a:xfrm>
            <a:off x="822960" y="4937760"/>
            <a:ext cx="4937760" cy="1097280"/>
          </a:xfrm>
          <a:prstGeom prst="rect">
            <a:avLst/>
          </a:prstGeom>
          <a:noFill/>
          <a:ln/>
        </p:spPr>
        <p:txBody>
          <a:bodyPr wrap="square" lIns="0" tIns="0" rIns="0" bIns="0" rtlCol="0" anchor="t"/>
          <a:lstStyle/>
          <a:p>
            <a:pPr indent="0" marL="0">
              <a:buNone/>
            </a:pPr>
            <a:r>
              <a:rPr lang="en-US" sz="1400" dirty="0">
                <a:solidFill>
                  <a:schemeClr val="accent5"/>
                </a:solidFill>
              </a:rPr>
              <a:t>NusaX: kalimat paralel untuk 10 bahasa daerah. FLORES-200: tolok ukur terjemahan dari Meta. Keduanya kami pakai untuk latih dan uji.</a:t>
            </a:r>
            <a:endParaRPr lang="en-US" sz="1400" dirty="0"/>
          </a:p>
        </p:txBody>
      </p:sp>
      <p:sp>
        <p:nvSpPr>
          <p:cNvPr id="19" name="Kartu teori"/>
          <p:cNvSpPr/>
          <p:nvPr/>
        </p:nvSpPr>
        <p:spPr>
          <a:xfrm>
            <a:off x="6172200" y="3886200"/>
            <a:ext cx="5468112" cy="2240280"/>
          </a:xfrm>
          <a:prstGeom prst="roundRect">
            <a:avLst>
              <a:gd name="adj" fmla="val 4898"/>
            </a:avLst>
          </a:prstGeom>
          <a:solidFill>
            <a:schemeClr val="bg2"/>
          </a:solidFill>
          <a:ln w="12700">
            <a:solidFill>
              <a:schemeClr val="bg2"/>
            </a:solidFill>
            <a:prstDash val="solid"/>
          </a:ln>
        </p:spPr>
      </p:sp>
      <p:sp>
        <p:nvSpPr>
          <p:cNvPr id="20" name="Icon circle"/>
          <p:cNvSpPr/>
          <p:nvPr/>
        </p:nvSpPr>
        <p:spPr>
          <a:xfrm>
            <a:off x="6446520" y="4160520"/>
            <a:ext cx="685800" cy="685800"/>
          </a:xfrm>
          <a:prstGeom prst="ellipse">
            <a:avLst/>
          </a:prstGeom>
          <a:solidFill>
            <a:schemeClr val="accent1"/>
          </a:solidFill>
          <a:ln w="12700">
            <a:solidFill>
              <a:schemeClr val="accent1"/>
            </a:solidFill>
            <a:prstDash val="solid"/>
          </a:ln>
        </p:spPr>
      </p:sp>
      <p:pic>
        <p:nvPicPr>
          <p:cNvPr id="21" name="Image 3" descr="FileAlt icon">    </p:cNvPr>
          <p:cNvPicPr>
            <a:picLocks noChangeAspect="1"/>
          </p:cNvPicPr>
          <p:nvPr/>
        </p:nvPicPr>
        <p:blipFill>
          <a:blip r:embed="rId4"/>
          <a:stretch>
            <a:fillRect/>
          </a:stretch>
        </p:blipFill>
        <p:spPr>
          <a:xfrm>
            <a:off x="6631686" y="4345686"/>
            <a:ext cx="315468" cy="315468"/>
          </a:xfrm>
          <a:prstGeom prst="rect">
            <a:avLst/>
          </a:prstGeom>
        </p:spPr>
      </p:pic>
      <p:sp>
        <p:nvSpPr>
          <p:cNvPr id="22" name="Text 16"/>
          <p:cNvSpPr txBox="1"/>
          <p:nvPr/>
        </p:nvSpPr>
        <p:spPr>
          <a:xfrm>
            <a:off x="7360920" y="420624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Datasheets for Datasets</a:t>
            </a:r>
            <a:endParaRPr lang="en-US" sz="1800" dirty="0"/>
          </a:p>
        </p:txBody>
      </p:sp>
      <p:sp>
        <p:nvSpPr>
          <p:cNvPr id="23" name="Text 17"/>
          <p:cNvSpPr txBox="1"/>
          <p:nvPr/>
        </p:nvSpPr>
        <p:spPr>
          <a:xfrm>
            <a:off x="6446520" y="4937760"/>
            <a:ext cx="4937760" cy="1097280"/>
          </a:xfrm>
          <a:prstGeom prst="rect">
            <a:avLst/>
          </a:prstGeom>
          <a:noFill/>
          <a:ln/>
        </p:spPr>
        <p:txBody>
          <a:bodyPr wrap="square" lIns="0" tIns="0" rIns="0" bIns="0" rtlCol="0" anchor="t"/>
          <a:lstStyle/>
          <a:p>
            <a:pPr indent="0" marL="0">
              <a:buNone/>
            </a:pPr>
            <a:r>
              <a:rPr lang="en-US" sz="1400" dirty="0">
                <a:solidFill>
                  <a:schemeClr val="accent5"/>
                </a:solidFill>
              </a:rPr>
              <a:t>Data harus punya catatan jelas: asal, isi, cara pengumpulan, dan lisensi. Prinsip ini kami terapkan pada korpus AcehX.</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EVALUASI</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Cara menilai terjemahan</a:t>
            </a:r>
            <a:endParaRPr lang="en-US" sz="3600" dirty="0"/>
          </a:p>
        </p:txBody>
      </p:sp>
      <p:sp>
        <p:nvSpPr>
          <p:cNvPr id="4" name="Kartu metrik"/>
          <p:cNvSpPr/>
          <p:nvPr/>
        </p:nvSpPr>
        <p:spPr>
          <a:xfrm>
            <a:off x="548640" y="1463040"/>
            <a:ext cx="3593592" cy="2651760"/>
          </a:xfrm>
          <a:prstGeom prst="roundRect">
            <a:avLst>
              <a:gd name="adj" fmla="val 4138"/>
            </a:avLst>
          </a:prstGeom>
          <a:solidFill>
            <a:schemeClr val="bg2"/>
          </a:solidFill>
          <a:ln w="12700">
            <a:solidFill>
              <a:schemeClr val="bg2"/>
            </a:solidFill>
            <a:prstDash val="solid"/>
          </a:ln>
        </p:spPr>
      </p:sp>
      <p:sp>
        <p:nvSpPr>
          <p:cNvPr id="5" name="Icon circle"/>
          <p:cNvSpPr/>
          <p:nvPr/>
        </p:nvSpPr>
        <p:spPr>
          <a:xfrm>
            <a:off x="822960" y="1691640"/>
            <a:ext cx="685800" cy="685800"/>
          </a:xfrm>
          <a:prstGeom prst="ellipse">
            <a:avLst/>
          </a:prstGeom>
          <a:solidFill>
            <a:schemeClr val="accent1"/>
          </a:solidFill>
          <a:ln w="12700">
            <a:solidFill>
              <a:schemeClr val="accent1"/>
            </a:solidFill>
            <a:prstDash val="solid"/>
          </a:ln>
        </p:spPr>
      </p:sp>
      <p:pic>
        <p:nvPicPr>
          <p:cNvPr id="6" name="Image 0" descr="ListOl icon">    </p:cNvPr>
          <p:cNvPicPr>
            <a:picLocks noChangeAspect="1"/>
          </p:cNvPicPr>
          <p:nvPr/>
        </p:nvPicPr>
        <p:blipFill>
          <a:blip r:embed="rId1"/>
          <a:stretch>
            <a:fillRect/>
          </a:stretch>
        </p:blipFill>
        <p:spPr>
          <a:xfrm>
            <a:off x="1008126" y="1876806"/>
            <a:ext cx="315468" cy="315468"/>
          </a:xfrm>
          <a:prstGeom prst="rect">
            <a:avLst/>
          </a:prstGeom>
        </p:spPr>
      </p:pic>
      <p:sp>
        <p:nvSpPr>
          <p:cNvPr id="7" name="Text 4"/>
          <p:cNvSpPr txBox="1"/>
          <p:nvPr/>
        </p:nvSpPr>
        <p:spPr>
          <a:xfrm>
            <a:off x="1737360" y="1737360"/>
            <a:ext cx="2194560" cy="594360"/>
          </a:xfrm>
          <a:prstGeom prst="rect">
            <a:avLst/>
          </a:prstGeom>
          <a:noFill/>
          <a:ln/>
        </p:spPr>
        <p:txBody>
          <a:bodyPr wrap="square" lIns="0" tIns="0" rIns="0" bIns="0" rtlCol="0" anchor="ctr"/>
          <a:lstStyle/>
          <a:p>
            <a:pPr indent="0" marL="0">
              <a:buNone/>
            </a:pPr>
            <a:r>
              <a:rPr lang="en-US" sz="2400" b="1" dirty="0">
                <a:solidFill>
                  <a:schemeClr val="tx1"/>
                </a:solidFill>
                <a:latin typeface="Georgia" pitchFamily="34" charset="0"/>
                <a:ea typeface="Georgia" pitchFamily="34" charset="-122"/>
                <a:cs typeface="Georgia" pitchFamily="34" charset="-120"/>
              </a:rPr>
              <a:t>BLEU</a:t>
            </a:r>
            <a:endParaRPr lang="en-US" sz="2400" dirty="0"/>
          </a:p>
        </p:txBody>
      </p:sp>
      <p:sp>
        <p:nvSpPr>
          <p:cNvPr id="8" name="Text 5"/>
          <p:cNvSpPr txBox="1"/>
          <p:nvPr/>
        </p:nvSpPr>
        <p:spPr>
          <a:xfrm>
            <a:off x="822960" y="2651760"/>
            <a:ext cx="3108960" cy="1371600"/>
          </a:xfrm>
          <a:prstGeom prst="rect">
            <a:avLst/>
          </a:prstGeom>
          <a:noFill/>
          <a:ln/>
        </p:spPr>
        <p:txBody>
          <a:bodyPr wrap="square" lIns="0" tIns="0" rIns="0" bIns="0" rtlCol="0" anchor="t"/>
          <a:lstStyle/>
          <a:p>
            <a:pPr indent="0" marL="0">
              <a:buNone/>
            </a:pPr>
            <a:r>
              <a:rPr lang="en-US" sz="1500" dirty="0">
                <a:solidFill>
                  <a:schemeClr val="accent5"/>
                </a:solidFill>
              </a:rPr>
              <a:t>Menghitung kecocokan kelompok kata antara hasil model dan terjemahan manusia.</a:t>
            </a:r>
            <a:endParaRPr lang="en-US" sz="1500" dirty="0"/>
          </a:p>
        </p:txBody>
      </p:sp>
      <p:sp>
        <p:nvSpPr>
          <p:cNvPr id="9" name="Kartu metrik"/>
          <p:cNvSpPr/>
          <p:nvPr/>
        </p:nvSpPr>
        <p:spPr>
          <a:xfrm>
            <a:off x="4297680" y="1463040"/>
            <a:ext cx="3593592" cy="2651760"/>
          </a:xfrm>
          <a:prstGeom prst="roundRect">
            <a:avLst>
              <a:gd name="adj" fmla="val 4138"/>
            </a:avLst>
          </a:prstGeom>
          <a:solidFill>
            <a:schemeClr val="bg2"/>
          </a:solidFill>
          <a:ln w="12700">
            <a:solidFill>
              <a:schemeClr val="bg2"/>
            </a:solidFill>
            <a:prstDash val="solid"/>
          </a:ln>
        </p:spPr>
      </p:sp>
      <p:sp>
        <p:nvSpPr>
          <p:cNvPr id="10" name="Icon circle"/>
          <p:cNvSpPr/>
          <p:nvPr/>
        </p:nvSpPr>
        <p:spPr>
          <a:xfrm>
            <a:off x="4572000" y="1691640"/>
            <a:ext cx="685800" cy="685800"/>
          </a:xfrm>
          <a:prstGeom prst="ellipse">
            <a:avLst/>
          </a:prstGeom>
          <a:solidFill>
            <a:schemeClr val="accent1"/>
          </a:solidFill>
          <a:ln w="12700">
            <a:solidFill>
              <a:schemeClr val="accent1"/>
            </a:solidFill>
            <a:prstDash val="solid"/>
          </a:ln>
        </p:spPr>
      </p:sp>
      <p:pic>
        <p:nvPicPr>
          <p:cNvPr id="11" name="Image 1" descr="Language icon">    </p:cNvPr>
          <p:cNvPicPr>
            <a:picLocks noChangeAspect="1"/>
          </p:cNvPicPr>
          <p:nvPr/>
        </p:nvPicPr>
        <p:blipFill>
          <a:blip r:embed="rId2"/>
          <a:stretch>
            <a:fillRect/>
          </a:stretch>
        </p:blipFill>
        <p:spPr>
          <a:xfrm>
            <a:off x="4757166" y="1876806"/>
            <a:ext cx="315468" cy="315468"/>
          </a:xfrm>
          <a:prstGeom prst="rect">
            <a:avLst/>
          </a:prstGeom>
        </p:spPr>
      </p:pic>
      <p:sp>
        <p:nvSpPr>
          <p:cNvPr id="12" name="Text 8"/>
          <p:cNvSpPr txBox="1"/>
          <p:nvPr/>
        </p:nvSpPr>
        <p:spPr>
          <a:xfrm>
            <a:off x="5486400" y="1737360"/>
            <a:ext cx="2194560" cy="594360"/>
          </a:xfrm>
          <a:prstGeom prst="rect">
            <a:avLst/>
          </a:prstGeom>
          <a:noFill/>
          <a:ln/>
        </p:spPr>
        <p:txBody>
          <a:bodyPr wrap="square" lIns="0" tIns="0" rIns="0" bIns="0" rtlCol="0" anchor="ctr"/>
          <a:lstStyle/>
          <a:p>
            <a:pPr indent="0" marL="0">
              <a:buNone/>
            </a:pPr>
            <a:r>
              <a:rPr lang="en-US" sz="2400" b="1" dirty="0">
                <a:solidFill>
                  <a:schemeClr val="tx1"/>
                </a:solidFill>
                <a:latin typeface="Georgia" pitchFamily="34" charset="0"/>
                <a:ea typeface="Georgia" pitchFamily="34" charset="-122"/>
                <a:cs typeface="Georgia" pitchFamily="34" charset="-120"/>
              </a:rPr>
              <a:t>chrF</a:t>
            </a:r>
            <a:endParaRPr lang="en-US" sz="2400" dirty="0"/>
          </a:p>
        </p:txBody>
      </p:sp>
      <p:sp>
        <p:nvSpPr>
          <p:cNvPr id="13" name="Text 9"/>
          <p:cNvSpPr txBox="1"/>
          <p:nvPr/>
        </p:nvSpPr>
        <p:spPr>
          <a:xfrm>
            <a:off x="4572000" y="2651760"/>
            <a:ext cx="3108960" cy="1371600"/>
          </a:xfrm>
          <a:prstGeom prst="rect">
            <a:avLst/>
          </a:prstGeom>
          <a:noFill/>
          <a:ln/>
        </p:spPr>
        <p:txBody>
          <a:bodyPr wrap="square" lIns="0" tIns="0" rIns="0" bIns="0" rtlCol="0" anchor="t"/>
          <a:lstStyle/>
          <a:p>
            <a:pPr indent="0" marL="0">
              <a:buNone/>
            </a:pPr>
            <a:r>
              <a:rPr lang="en-US" sz="1500" dirty="0">
                <a:solidFill>
                  <a:schemeClr val="accent5"/>
                </a:solidFill>
              </a:rPr>
              <a:t>Menghitung kecocokan kelompok huruf. Cocok untuk bahasa dengan banyak imbuhan.</a:t>
            </a:r>
            <a:endParaRPr lang="en-US" sz="1500" dirty="0"/>
          </a:p>
        </p:txBody>
      </p:sp>
      <p:sp>
        <p:nvSpPr>
          <p:cNvPr id="14" name="Kartu metrik"/>
          <p:cNvSpPr/>
          <p:nvPr/>
        </p:nvSpPr>
        <p:spPr>
          <a:xfrm>
            <a:off x="8046720" y="1463040"/>
            <a:ext cx="3593592" cy="2651760"/>
          </a:xfrm>
          <a:prstGeom prst="roundRect">
            <a:avLst>
              <a:gd name="adj" fmla="val 4138"/>
            </a:avLst>
          </a:prstGeom>
          <a:solidFill>
            <a:schemeClr val="bg2"/>
          </a:solidFill>
          <a:ln w="12700">
            <a:solidFill>
              <a:schemeClr val="bg2"/>
            </a:solidFill>
            <a:prstDash val="solid"/>
          </a:ln>
        </p:spPr>
      </p:sp>
      <p:sp>
        <p:nvSpPr>
          <p:cNvPr id="15" name="Icon circle"/>
          <p:cNvSpPr/>
          <p:nvPr/>
        </p:nvSpPr>
        <p:spPr>
          <a:xfrm>
            <a:off x="8321040" y="1691640"/>
            <a:ext cx="685800" cy="685800"/>
          </a:xfrm>
          <a:prstGeom prst="ellipse">
            <a:avLst/>
          </a:prstGeom>
          <a:solidFill>
            <a:schemeClr val="accent1"/>
          </a:solidFill>
          <a:ln w="12700">
            <a:solidFill>
              <a:schemeClr val="accent1"/>
            </a:solidFill>
            <a:prstDash val="solid"/>
          </a:ln>
        </p:spPr>
      </p:sp>
      <p:pic>
        <p:nvPicPr>
          <p:cNvPr id="16" name="Image 2" descr="CheckCircle icon">    </p:cNvPr>
          <p:cNvPicPr>
            <a:picLocks noChangeAspect="1"/>
          </p:cNvPicPr>
          <p:nvPr/>
        </p:nvPicPr>
        <p:blipFill>
          <a:blip r:embed="rId3"/>
          <a:stretch>
            <a:fillRect/>
          </a:stretch>
        </p:blipFill>
        <p:spPr>
          <a:xfrm>
            <a:off x="8506206" y="1876806"/>
            <a:ext cx="315468" cy="315468"/>
          </a:xfrm>
          <a:prstGeom prst="rect">
            <a:avLst/>
          </a:prstGeom>
        </p:spPr>
      </p:pic>
      <p:sp>
        <p:nvSpPr>
          <p:cNvPr id="17" name="Text 12"/>
          <p:cNvSpPr txBox="1"/>
          <p:nvPr/>
        </p:nvSpPr>
        <p:spPr>
          <a:xfrm>
            <a:off x="9235440" y="1737360"/>
            <a:ext cx="2194560" cy="594360"/>
          </a:xfrm>
          <a:prstGeom prst="rect">
            <a:avLst/>
          </a:prstGeom>
          <a:noFill/>
          <a:ln/>
        </p:spPr>
        <p:txBody>
          <a:bodyPr wrap="square" lIns="0" tIns="0" rIns="0" bIns="0" rtlCol="0" anchor="ctr"/>
          <a:lstStyle/>
          <a:p>
            <a:pPr indent="0" marL="0">
              <a:buNone/>
            </a:pPr>
            <a:r>
              <a:rPr lang="en-US" sz="2400" b="1" dirty="0">
                <a:solidFill>
                  <a:schemeClr val="tx1"/>
                </a:solidFill>
                <a:latin typeface="Georgia" pitchFamily="34" charset="0"/>
                <a:ea typeface="Georgia" pitchFamily="34" charset="-122"/>
                <a:cs typeface="Georgia" pitchFamily="34" charset="-120"/>
              </a:rPr>
              <a:t>chrF++</a:t>
            </a:r>
            <a:endParaRPr lang="en-US" sz="2400" dirty="0"/>
          </a:p>
        </p:txBody>
      </p:sp>
      <p:sp>
        <p:nvSpPr>
          <p:cNvPr id="18" name="Text 13"/>
          <p:cNvSpPr txBox="1"/>
          <p:nvPr/>
        </p:nvSpPr>
        <p:spPr>
          <a:xfrm>
            <a:off x="8321040" y="2651760"/>
            <a:ext cx="3108960" cy="1371600"/>
          </a:xfrm>
          <a:prstGeom prst="rect">
            <a:avLst/>
          </a:prstGeom>
          <a:noFill/>
          <a:ln/>
        </p:spPr>
        <p:txBody>
          <a:bodyPr wrap="square" lIns="0" tIns="0" rIns="0" bIns="0" rtlCol="0" anchor="t"/>
          <a:lstStyle/>
          <a:p>
            <a:pPr indent="0" marL="0">
              <a:buNone/>
            </a:pPr>
            <a:r>
              <a:rPr lang="en-US" sz="1500" dirty="0">
                <a:solidFill>
                  <a:schemeClr val="accent5"/>
                </a:solidFill>
              </a:rPr>
              <a:t>chrF ditambah informasi kata. Ini skor utama kami.</a:t>
            </a:r>
            <a:endParaRPr lang="en-US" sz="1500" dirty="0"/>
          </a:p>
        </p:txBody>
      </p:sp>
      <p:sp>
        <p:nvSpPr>
          <p:cNvPr id="19" name="Kartu catatan"/>
          <p:cNvSpPr/>
          <p:nvPr/>
        </p:nvSpPr>
        <p:spPr>
          <a:xfrm>
            <a:off x="548640" y="4389120"/>
            <a:ext cx="11091672" cy="1828800"/>
          </a:xfrm>
          <a:prstGeom prst="roundRect">
            <a:avLst>
              <a:gd name="adj" fmla="val 6000"/>
            </a:avLst>
          </a:prstGeom>
          <a:solidFill>
            <a:schemeClr val="tx2"/>
          </a:solidFill>
          <a:ln w="12700">
            <a:solidFill>
              <a:schemeClr val="tx2"/>
            </a:solidFill>
            <a:prstDash val="solid"/>
          </a:ln>
        </p:spPr>
      </p:sp>
      <p:sp>
        <p:nvSpPr>
          <p:cNvPr id="20" name="Text 15"/>
          <p:cNvSpPr txBox="1"/>
          <p:nvPr/>
        </p:nvSpPr>
        <p:spPr>
          <a:xfrm>
            <a:off x="822960" y="4526280"/>
            <a:ext cx="5486400" cy="365760"/>
          </a:xfrm>
          <a:prstGeom prst="rect">
            <a:avLst/>
          </a:prstGeom>
          <a:noFill/>
          <a:ln/>
        </p:spPr>
        <p:txBody>
          <a:bodyPr wrap="square" lIns="0" tIns="0" rIns="0" bIns="0" rtlCol="0" anchor="t"/>
          <a:lstStyle/>
          <a:p>
            <a:pPr indent="0" marL="0">
              <a:buNone/>
            </a:pPr>
            <a:r>
              <a:rPr lang="en-US" sz="1800" b="1" dirty="0">
                <a:solidFill>
                  <a:schemeClr val="accent2"/>
                </a:solidFill>
              </a:rPr>
              <a:t>Cara membaca skor</a:t>
            </a:r>
            <a:endParaRPr lang="en-US" sz="1800" dirty="0"/>
          </a:p>
        </p:txBody>
      </p:sp>
      <p:sp>
        <p:nvSpPr>
          <p:cNvPr id="21" name="Text 16"/>
          <p:cNvSpPr txBox="1"/>
          <p:nvPr/>
        </p:nvSpPr>
        <p:spPr>
          <a:xfrm>
            <a:off x="822960" y="4937760"/>
            <a:ext cx="10515600" cy="11887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bg1"/>
                </a:solidFill>
              </a:rPr>
              <a:t>Skala 0 sampai 100. Makin tinggi makin baik.</a:t>
            </a:r>
            <a:endParaRPr lang="en-US" sz="1500" dirty="0"/>
          </a:p>
          <a:p>
            <a:pPr marL="342900" indent="-342900">
              <a:spcAft>
                <a:spcPts val="500"/>
              </a:spcAft>
              <a:buSzPct val="100000"/>
              <a:buChar char="•"/>
            </a:pPr>
            <a:r>
              <a:rPr lang="en-US" sz="1500" dirty="0">
                <a:solidFill>
                  <a:schemeClr val="bg1"/>
                </a:solidFill>
              </a:rPr>
              <a:t>BLEU 30,79 tidak berarti 30,79% kalimat benar.</a:t>
            </a:r>
            <a:endParaRPr lang="en-US" sz="1500" dirty="0"/>
          </a:p>
          <a:p>
            <a:pPr marL="342900" indent="-342900">
              <a:spcAft>
                <a:spcPts val="500"/>
              </a:spcAft>
              <a:buSzPct val="100000"/>
              <a:buChar char="•"/>
            </a:pPr>
            <a:r>
              <a:rPr lang="en-US" sz="1500" dirty="0">
                <a:solidFill>
                  <a:schemeClr val="bg1"/>
                </a:solidFill>
              </a:rPr>
              <a:t>Kami juga memeriksa contoh keluaran, karena salah makna dan negasi tidak terlihat dari skor.</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Data paralel yang kami kumpulkan</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286000"/>
                <a:gridCol w="4572000"/>
                <a:gridCol w="2514600"/>
                <a:gridCol w="1719072"/>
              </a:tblGrid>
              <a:tr h="411480">
                <a:tc>
                  <a:txBody>
                    <a:bodyPr/>
                    <a:lstStyle/>
                    <a:p>
                      <a:pPr algn="l" indent="0" marL="0">
                        <a:buNone/>
                      </a:pPr>
                      <a:r>
                        <a:rPr lang="en-US" sz="1100" b="1" dirty="0">
                          <a:solidFill>
                            <a:srgbClr val="FFFFFF"/>
                          </a:solidFill>
                        </a:rPr>
                        <a:t>Sumber</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Isi</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Pasangan dipakai</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Lisensi / asal</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566928">
                <a:tc>
                  <a:txBody>
                    <a:bodyPr/>
                    <a:lstStyle/>
                    <a:p>
                      <a:pPr indent="0" marL="0">
                        <a:buNone/>
                      </a:pPr>
                      <a:r>
                        <a:rPr lang="en-US" sz="1200" b="1" dirty="0">
                          <a:solidFill>
                            <a:srgbClr val="12303A"/>
                          </a:solidFill>
                        </a:rPr>
                        <a:t>NusaX-MT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Terjemahan manusia Aceh–Indonesia (IndoNLP)</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500 latih, 100 validasi, 400 uji</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CC-BY-SA 4.0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FLORES-200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Terjemahan profesional kalimat gaya Wikipedia (Meta)</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797 latih, 200 validasi, 1.012 uji</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CC-BY-SA 4.0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Hikayat Abu Sammah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Syair dengan terjemahan, buku hasil pindai (Depdikbud)</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1.432 latih, 79 validasi, 143 uji</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Buku pemerintah, disebut sumbernya</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Hikayat Malik Mawot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Syair dan terjemahan (Inayati, UIN Ar-Raniry, 2017)</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350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Skripsi, disebut sumbernya</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Terjemahan Al-Qur'an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Tgk. Mahjiddin Jusuf (Aceh) dan Kemenag (Indonesia)</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5.466 ayat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Disebut sumbernya</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Wikipedia (OPUS)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Kalimat artikel Aceh dan Indonesia yang sejajar</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375 dari 557</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CC-BY-SA 4.0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Pivot NLLB-Seed</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Meta/OLDI: 6.193 kalimat Aceh buatan manusia dengan teks Inggris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 5.700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CC-BY-SA 4.0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Terjemahan tim</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Berkas Andrie (5.000 baris) dan lima cerpen (103 pasang)</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2.798 dan 96</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Hasil kerja tim</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Korpus AcehX: isi berkas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3108960"/>
                <a:gridCol w="1371600"/>
                <a:gridCol w="2468880"/>
              </a:tblGrid>
              <a:tr h="457200">
                <a:tc>
                  <a:txBody>
                    <a:bodyPr/>
                    <a:lstStyle/>
                    <a:p>
                      <a:pPr algn="l" indent="0" marL="0">
                        <a:buNone/>
                      </a:pPr>
                      <a:r>
                        <a:rPr lang="en-US" sz="1100" b="1" dirty="0">
                          <a:solidFill>
                            <a:srgbClr val="FFFFFF"/>
                          </a:solidFill>
                        </a:rPr>
                        <a:t>Berkas</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r" indent="0" marL="0">
                        <a:buNone/>
                      </a:pPr>
                      <a:r>
                        <a:rPr lang="en-US" sz="1100" b="1" dirty="0">
                          <a:solidFill>
                            <a:srgbClr val="FFFFFF"/>
                          </a:solidFill>
                        </a:rPr>
                        <a:t>Unit</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r" indent="0" marL="0">
                        <a:buNone/>
                      </a:pPr>
                      <a:r>
                        <a:rPr lang="en-US" sz="1100" b="1" dirty="0">
                          <a:solidFill>
                            <a:srgbClr val="FFFFFF"/>
                          </a:solidFill>
                        </a:rPr>
                        <a:t>Kandidat pasangan</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548640">
                <a:tc>
                  <a:txBody>
                    <a:bodyPr/>
                    <a:lstStyle/>
                    <a:p>
                      <a:pPr indent="0" marL="0">
                        <a:buNone/>
                      </a:pPr>
                      <a:r>
                        <a:rPr lang="en-US" sz="1200" b="1" dirty="0">
                          <a:solidFill>
                            <a:srgbClr val="12303A"/>
                          </a:solidFill>
                        </a:rPr>
                        <a:t>Corpus AcehX (TXT)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63.367</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Belum ada terjemahan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2303A"/>
                          </a:solidFill>
                        </a:rPr>
                        <a:t>Cerita (CSV)</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11.103</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103</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2303A"/>
                          </a:solidFill>
                        </a:rPr>
                        <a:t>Lagu dan puisi (CSV)</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5.271</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2303A"/>
                          </a:solidFill>
                        </a:rPr>
                        <a:t>Berkas JSONL</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5.000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4.146</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114800"/>
            <a:ext cx="6949440" cy="640080"/>
          </a:xfrm>
          <a:prstGeom prst="rect">
            <a:avLst/>
          </a:prstGeom>
          <a:noFill/>
          <a:ln/>
        </p:spPr>
        <p:txBody>
          <a:bodyPr wrap="square" lIns="0" tIns="0" rIns="0" bIns="0" rtlCol="0" anchor="t"/>
          <a:lstStyle/>
          <a:p>
            <a:pPr indent="0" marL="0">
              <a:buNone/>
            </a:pPr>
            <a:r>
              <a:rPr lang="en-US" sz="1200" dirty="0">
                <a:solidFill>
                  <a:schemeClr val="accent5"/>
                </a:solidFill>
              </a:rPr>
              <a:t>Unit = baris TXT atau rekaman CSV/JSONL. Kandidat pasangan = kedua sisi teks terisi; belum berarti terjemahannya sudah divalidasi.</a:t>
            </a:r>
            <a:endParaRPr lang="en-US" sz="1200" dirty="0"/>
          </a:p>
        </p:txBody>
      </p:sp>
      <p:sp>
        <p:nvSpPr>
          <p:cNvPr id="6" name="Kartu isi"/>
          <p:cNvSpPr/>
          <p:nvPr/>
        </p:nvSpPr>
        <p:spPr>
          <a:xfrm>
            <a:off x="548640" y="4846320"/>
            <a:ext cx="6949440" cy="1371600"/>
          </a:xfrm>
          <a:prstGeom prst="roundRect">
            <a:avLst>
              <a:gd name="adj" fmla="val 8000"/>
            </a:avLst>
          </a:prstGeom>
          <a:solidFill>
            <a:schemeClr val="bg2"/>
          </a:solidFill>
          <a:ln w="12700">
            <a:solidFill>
              <a:schemeClr val="bg2"/>
            </a:solidFill>
            <a:prstDash val="solid"/>
          </a:ln>
        </p:spPr>
      </p:sp>
      <p:sp>
        <p:nvSpPr>
          <p:cNvPr id="7" name="Text 4"/>
          <p:cNvSpPr txBox="1"/>
          <p:nvPr/>
        </p:nvSpPr>
        <p:spPr>
          <a:xfrm>
            <a:off x="822960" y="4983480"/>
            <a:ext cx="64008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Cerita: 11.103 kalimat, 103 di antaranya berpasangan</a:t>
            </a:r>
            <a:endParaRPr lang="en-US" sz="1400" dirty="0"/>
          </a:p>
          <a:p>
            <a:pPr marL="342900" indent="-342900">
              <a:spcAft>
                <a:spcPts val="600"/>
              </a:spcAft>
              <a:buSzPct val="100000"/>
              <a:buChar char="•"/>
            </a:pPr>
            <a:r>
              <a:rPr lang="en-US" sz="1400" dirty="0">
                <a:solidFill>
                  <a:schemeClr val="tx1"/>
                </a:solidFill>
              </a:rPr>
              <a:t>Lagu: 6 koleksi, 3.675 larik. Puisi: 1 koleksi, 1.596 larik</a:t>
            </a:r>
            <a:endParaRPr lang="en-US" sz="1400" dirty="0"/>
          </a:p>
        </p:txBody>
      </p:sp>
      <p:sp>
        <p:nvSpPr>
          <p:cNvPr id="8" name="Kartu angka"/>
          <p:cNvSpPr/>
          <p:nvPr/>
        </p:nvSpPr>
        <p:spPr>
          <a:xfrm>
            <a:off x="7863840" y="1417320"/>
            <a:ext cx="3776472" cy="2286000"/>
          </a:xfrm>
          <a:prstGeom prst="roundRect">
            <a:avLst>
              <a:gd name="adj" fmla="val 4800"/>
            </a:avLst>
          </a:prstGeom>
          <a:solidFill>
            <a:schemeClr val="bg2"/>
          </a:solidFill>
          <a:ln w="12700">
            <a:solidFill>
              <a:schemeClr val="bg2"/>
            </a:solidFill>
            <a:prstDash val="solid"/>
          </a:ln>
        </p:spPr>
      </p:sp>
      <p:sp>
        <p:nvSpPr>
          <p:cNvPr id="9" name="Text 6"/>
          <p:cNvSpPr txBox="1"/>
          <p:nvPr/>
        </p:nvSpPr>
        <p:spPr>
          <a:xfrm>
            <a:off x="8138160" y="1691640"/>
            <a:ext cx="3291840" cy="822960"/>
          </a:xfrm>
          <a:prstGeom prst="rect">
            <a:avLst/>
          </a:prstGeom>
          <a:noFill/>
          <a:ln/>
        </p:spPr>
        <p:txBody>
          <a:bodyPr wrap="square" lIns="0" tIns="0" rIns="0" bIns="0" rtlCol="0" anchor="t"/>
          <a:lstStyle/>
          <a:p>
            <a:pPr indent="0" marL="0">
              <a:buNone/>
            </a:pPr>
            <a:r>
              <a:rPr lang="en-US" sz="4400" b="1" dirty="0">
                <a:solidFill>
                  <a:schemeClr val="accent1"/>
                </a:solidFill>
                <a:latin typeface="Georgia" pitchFamily="34" charset="0"/>
                <a:ea typeface="Georgia" pitchFamily="34" charset="-122"/>
                <a:cs typeface="Georgia" pitchFamily="34" charset="-120"/>
              </a:rPr>
              <a:t>63.346</a:t>
            </a:r>
            <a:endParaRPr lang="en-US" sz="4400" dirty="0"/>
          </a:p>
        </p:txBody>
      </p:sp>
      <p:sp>
        <p:nvSpPr>
          <p:cNvPr id="10" name="Text 7"/>
          <p:cNvSpPr txBox="1"/>
          <p:nvPr/>
        </p:nvSpPr>
        <p:spPr>
          <a:xfrm>
            <a:off x="8138160" y="2606040"/>
            <a:ext cx="3291840" cy="914400"/>
          </a:xfrm>
          <a:prstGeom prst="rect">
            <a:avLst/>
          </a:prstGeom>
          <a:noFill/>
          <a:ln/>
        </p:spPr>
        <p:txBody>
          <a:bodyPr wrap="square" lIns="0" tIns="0" rIns="0" bIns="0" rtlCol="0" anchor="t"/>
          <a:lstStyle/>
          <a:p>
            <a:pPr indent="0" marL="0">
              <a:buNone/>
            </a:pPr>
            <a:r>
              <a:rPr lang="en-US" sz="1500" dirty="0">
                <a:solidFill>
                  <a:schemeClr val="accent5"/>
                </a:solidFill>
              </a:rPr>
              <a:t>teks unik dari 63.367 baris TXT (21 duplikat)</a:t>
            </a:r>
            <a:endParaRPr lang="en-US" sz="1500" dirty="0"/>
          </a:p>
        </p:txBody>
      </p:sp>
      <p:sp>
        <p:nvSpPr>
          <p:cNvPr id="11" name="Kartu angka"/>
          <p:cNvSpPr/>
          <p:nvPr/>
        </p:nvSpPr>
        <p:spPr>
          <a:xfrm>
            <a:off x="7863840" y="3886200"/>
            <a:ext cx="3776472" cy="2286000"/>
          </a:xfrm>
          <a:prstGeom prst="roundRect">
            <a:avLst>
              <a:gd name="adj" fmla="val 4800"/>
            </a:avLst>
          </a:prstGeom>
          <a:solidFill>
            <a:schemeClr val="bg2"/>
          </a:solidFill>
          <a:ln w="12700">
            <a:solidFill>
              <a:schemeClr val="bg2"/>
            </a:solidFill>
            <a:prstDash val="solid"/>
          </a:ln>
        </p:spPr>
      </p:sp>
      <p:sp>
        <p:nvSpPr>
          <p:cNvPr id="12" name="Text 9"/>
          <p:cNvSpPr txBox="1"/>
          <p:nvPr/>
        </p:nvSpPr>
        <p:spPr>
          <a:xfrm>
            <a:off x="8138160" y="4160520"/>
            <a:ext cx="3291840" cy="822960"/>
          </a:xfrm>
          <a:prstGeom prst="rect">
            <a:avLst/>
          </a:prstGeom>
          <a:noFill/>
          <a:ln/>
        </p:spPr>
        <p:txBody>
          <a:bodyPr wrap="square" lIns="0" tIns="0" rIns="0" bIns="0" rtlCol="0" anchor="t"/>
          <a:lstStyle/>
          <a:p>
            <a:pPr indent="0" marL="0">
              <a:buNone/>
            </a:pPr>
            <a:r>
              <a:rPr lang="en-US" sz="4400" b="1" dirty="0">
                <a:solidFill>
                  <a:schemeClr val="accent1"/>
                </a:solidFill>
                <a:latin typeface="Georgia" pitchFamily="34" charset="0"/>
                <a:ea typeface="Georgia" pitchFamily="34" charset="-122"/>
                <a:cs typeface="Georgia" pitchFamily="34" charset="-120"/>
              </a:rPr>
              <a:t>15.995</a:t>
            </a:r>
            <a:endParaRPr lang="en-US" sz="4400" dirty="0"/>
          </a:p>
        </p:txBody>
      </p:sp>
      <p:sp>
        <p:nvSpPr>
          <p:cNvPr id="13" name="Text 10"/>
          <p:cNvSpPr txBox="1"/>
          <p:nvPr/>
        </p:nvSpPr>
        <p:spPr>
          <a:xfrm>
            <a:off x="8138160" y="5074920"/>
            <a:ext cx="3291840" cy="914400"/>
          </a:xfrm>
          <a:prstGeom prst="rect">
            <a:avLst/>
          </a:prstGeom>
          <a:noFill/>
          <a:ln/>
        </p:spPr>
        <p:txBody>
          <a:bodyPr wrap="square" lIns="0" tIns="0" rIns="0" bIns="0" rtlCol="0" anchor="t"/>
          <a:lstStyle/>
          <a:p>
            <a:pPr indent="0" marL="0">
              <a:buNone/>
            </a:pPr>
            <a:r>
              <a:rPr lang="en-US" sz="1500" dirty="0">
                <a:solidFill>
                  <a:schemeClr val="accent5"/>
                </a:solidFill>
              </a:rPr>
              <a:t>teks unik dari 16.374 rekaman CSV</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Status screening: KEEP, REVIEW, DROP</a:t>
            </a:r>
            <a:endParaRPr lang="en-US" sz="3600" dirty="0"/>
          </a:p>
        </p:txBody>
      </p:sp>
      <p:sp>
        <p:nvSpPr>
          <p:cNvPr id="4" name="Text 2"/>
          <p:cNvSpPr txBox="1"/>
          <p:nvPr/>
        </p:nvSpPr>
        <p:spPr>
          <a:xfrm>
            <a:off x="548640" y="1371600"/>
            <a:ext cx="6949440" cy="365760"/>
          </a:xfrm>
          <a:prstGeom prst="rect">
            <a:avLst/>
          </a:prstGeom>
          <a:noFill/>
          <a:ln/>
        </p:spPr>
        <p:txBody>
          <a:bodyPr wrap="square" lIns="0" tIns="0" rIns="0" bIns="0" rtlCol="0" anchor="ctr"/>
          <a:lstStyle/>
          <a:p>
            <a:pPr indent="0" marL="0">
              <a:buNone/>
            </a:pPr>
            <a:r>
              <a:rPr lang="en-US" sz="1400" b="1" dirty="0">
                <a:solidFill>
                  <a:schemeClr val="tx1"/>
                </a:solidFill>
              </a:rPr>
              <a:t>Status 16.374 rekaman CSV</a:t>
            </a:r>
            <a:endParaRPr lang="en-US" sz="1400" dirty="0"/>
          </a:p>
        </p:txBody>
      </p:sp>
      <p:sp>
        <p:nvSpPr>
          <p:cNvPr id="5" name="Text 3"/>
          <p:cNvSpPr txBox="1"/>
          <p:nvPr/>
        </p:nvSpPr>
        <p:spPr>
          <a:xfrm>
            <a:off x="548640" y="1979371"/>
            <a:ext cx="1280160" cy="491338"/>
          </a:xfrm>
          <a:prstGeom prst="rect">
            <a:avLst/>
          </a:prstGeom>
          <a:noFill/>
          <a:ln/>
        </p:spPr>
        <p:txBody>
          <a:bodyPr wrap="square" lIns="0" tIns="0" rIns="0" bIns="0" rtlCol="0" anchor="ctr"/>
          <a:lstStyle/>
          <a:p>
            <a:pPr algn="r" indent="0" marL="0">
              <a:buNone/>
            </a:pPr>
            <a:r>
              <a:rPr lang="en-US" sz="1500" dirty="0">
                <a:solidFill>
                  <a:schemeClr val="tx1"/>
                </a:solidFill>
              </a:rPr>
              <a:t>KEEP</a:t>
            </a:r>
            <a:endParaRPr lang="en-US" sz="1500" dirty="0"/>
          </a:p>
        </p:txBody>
      </p:sp>
      <p:sp>
        <p:nvSpPr>
          <p:cNvPr id="6" name="Bar KEEP"/>
          <p:cNvSpPr/>
          <p:nvPr/>
        </p:nvSpPr>
        <p:spPr>
          <a:xfrm>
            <a:off x="1965960" y="1979371"/>
            <a:ext cx="1590233" cy="491338"/>
          </a:xfrm>
          <a:prstGeom prst="rect">
            <a:avLst/>
          </a:prstGeom>
          <a:solidFill>
            <a:srgbClr val="0D9488"/>
          </a:solidFill>
          <a:ln w="12700">
            <a:solidFill>
              <a:srgbClr val="0D9488"/>
            </a:solidFill>
            <a:prstDash val="solid"/>
          </a:ln>
        </p:spPr>
      </p:sp>
      <p:sp>
        <p:nvSpPr>
          <p:cNvPr id="7" name="Text 5"/>
          <p:cNvSpPr txBox="1"/>
          <p:nvPr/>
        </p:nvSpPr>
        <p:spPr>
          <a:xfrm>
            <a:off x="3647633" y="1979371"/>
            <a:ext cx="777240" cy="491338"/>
          </a:xfrm>
          <a:prstGeom prst="rect">
            <a:avLst/>
          </a:prstGeom>
          <a:noFill/>
          <a:ln/>
        </p:spPr>
        <p:txBody>
          <a:bodyPr wrap="square" lIns="0" tIns="0" rIns="0" bIns="0" rtlCol="0" anchor="ctr"/>
          <a:lstStyle/>
          <a:p>
            <a:pPr indent="0" marL="0">
              <a:buNone/>
            </a:pPr>
            <a:r>
              <a:rPr lang="en-US" sz="1500" b="1" dirty="0">
                <a:solidFill>
                  <a:schemeClr val="tx1"/>
                </a:solidFill>
              </a:rPr>
              <a:t>4.433</a:t>
            </a:r>
            <a:endParaRPr lang="en-US" sz="1500" dirty="0"/>
          </a:p>
        </p:txBody>
      </p:sp>
      <p:sp>
        <p:nvSpPr>
          <p:cNvPr id="8" name="Text 6"/>
          <p:cNvSpPr txBox="1"/>
          <p:nvPr/>
        </p:nvSpPr>
        <p:spPr>
          <a:xfrm>
            <a:off x="548640" y="2771851"/>
            <a:ext cx="1280160" cy="491338"/>
          </a:xfrm>
          <a:prstGeom prst="rect">
            <a:avLst/>
          </a:prstGeom>
          <a:noFill/>
          <a:ln/>
        </p:spPr>
        <p:txBody>
          <a:bodyPr wrap="square" lIns="0" tIns="0" rIns="0" bIns="0" rtlCol="0" anchor="ctr"/>
          <a:lstStyle/>
          <a:p>
            <a:pPr algn="r" indent="0" marL="0">
              <a:buNone/>
            </a:pPr>
            <a:r>
              <a:rPr lang="en-US" sz="1500" dirty="0">
                <a:solidFill>
                  <a:schemeClr val="tx1"/>
                </a:solidFill>
              </a:rPr>
              <a:t>REVIEW</a:t>
            </a:r>
            <a:endParaRPr lang="en-US" sz="1500" dirty="0"/>
          </a:p>
        </p:txBody>
      </p:sp>
      <p:sp>
        <p:nvSpPr>
          <p:cNvPr id="9" name="Bar REVIEW"/>
          <p:cNvSpPr/>
          <p:nvPr/>
        </p:nvSpPr>
        <p:spPr>
          <a:xfrm>
            <a:off x="1965960" y="2771851"/>
            <a:ext cx="4147592" cy="491338"/>
          </a:xfrm>
          <a:prstGeom prst="rect">
            <a:avLst/>
          </a:prstGeom>
          <a:solidFill>
            <a:srgbClr val="E9A23B"/>
          </a:solidFill>
          <a:ln w="12700">
            <a:solidFill>
              <a:srgbClr val="E9A23B"/>
            </a:solidFill>
            <a:prstDash val="solid"/>
          </a:ln>
        </p:spPr>
      </p:sp>
      <p:sp>
        <p:nvSpPr>
          <p:cNvPr id="10" name="Text 8"/>
          <p:cNvSpPr txBox="1"/>
          <p:nvPr/>
        </p:nvSpPr>
        <p:spPr>
          <a:xfrm>
            <a:off x="6204992" y="2771851"/>
            <a:ext cx="777240" cy="491338"/>
          </a:xfrm>
          <a:prstGeom prst="rect">
            <a:avLst/>
          </a:prstGeom>
          <a:noFill/>
          <a:ln/>
        </p:spPr>
        <p:txBody>
          <a:bodyPr wrap="square" lIns="0" tIns="0" rIns="0" bIns="0" rtlCol="0" anchor="ctr"/>
          <a:lstStyle/>
          <a:p>
            <a:pPr indent="0" marL="0">
              <a:buNone/>
            </a:pPr>
            <a:r>
              <a:rPr lang="en-US" sz="1500" b="1" dirty="0">
                <a:solidFill>
                  <a:schemeClr val="tx1"/>
                </a:solidFill>
              </a:rPr>
              <a:t>11.562</a:t>
            </a:r>
            <a:endParaRPr lang="en-US" sz="1500" dirty="0"/>
          </a:p>
        </p:txBody>
      </p:sp>
      <p:sp>
        <p:nvSpPr>
          <p:cNvPr id="11" name="Text 9"/>
          <p:cNvSpPr txBox="1"/>
          <p:nvPr/>
        </p:nvSpPr>
        <p:spPr>
          <a:xfrm>
            <a:off x="548640" y="3564331"/>
            <a:ext cx="1280160" cy="491338"/>
          </a:xfrm>
          <a:prstGeom prst="rect">
            <a:avLst/>
          </a:prstGeom>
          <a:noFill/>
          <a:ln/>
        </p:spPr>
        <p:txBody>
          <a:bodyPr wrap="square" lIns="0" tIns="0" rIns="0" bIns="0" rtlCol="0" anchor="ctr"/>
          <a:lstStyle/>
          <a:p>
            <a:pPr algn="r" indent="0" marL="0">
              <a:buNone/>
            </a:pPr>
            <a:r>
              <a:rPr lang="en-US" sz="1500" dirty="0">
                <a:solidFill>
                  <a:schemeClr val="tx1"/>
                </a:solidFill>
              </a:rPr>
              <a:t>DROP</a:t>
            </a:r>
            <a:endParaRPr lang="en-US" sz="1500" dirty="0"/>
          </a:p>
        </p:txBody>
      </p:sp>
      <p:sp>
        <p:nvSpPr>
          <p:cNvPr id="12" name="Bar DROP"/>
          <p:cNvSpPr/>
          <p:nvPr/>
        </p:nvSpPr>
        <p:spPr>
          <a:xfrm>
            <a:off x="1965960" y="3564331"/>
            <a:ext cx="135957" cy="491338"/>
          </a:xfrm>
          <a:prstGeom prst="rect">
            <a:avLst/>
          </a:prstGeom>
          <a:solidFill>
            <a:srgbClr val="4F6F7A"/>
          </a:solidFill>
          <a:ln w="12700">
            <a:solidFill>
              <a:srgbClr val="4F6F7A"/>
            </a:solidFill>
            <a:prstDash val="solid"/>
          </a:ln>
        </p:spPr>
      </p:sp>
      <p:sp>
        <p:nvSpPr>
          <p:cNvPr id="13" name="Text 11"/>
          <p:cNvSpPr txBox="1"/>
          <p:nvPr/>
        </p:nvSpPr>
        <p:spPr>
          <a:xfrm>
            <a:off x="2193357" y="3564331"/>
            <a:ext cx="777240" cy="491338"/>
          </a:xfrm>
          <a:prstGeom prst="rect">
            <a:avLst/>
          </a:prstGeom>
          <a:noFill/>
          <a:ln/>
        </p:spPr>
        <p:txBody>
          <a:bodyPr wrap="square" lIns="0" tIns="0" rIns="0" bIns="0" rtlCol="0" anchor="ctr"/>
          <a:lstStyle/>
          <a:p>
            <a:pPr indent="0" marL="0">
              <a:buNone/>
            </a:pPr>
            <a:r>
              <a:rPr lang="en-US" sz="1500" b="1" dirty="0">
                <a:solidFill>
                  <a:schemeClr val="tx1"/>
                </a:solidFill>
              </a:rPr>
              <a:t>379</a:t>
            </a:r>
            <a:endParaRPr lang="en-US" sz="1500" dirty="0"/>
          </a:p>
        </p:txBody>
      </p:sp>
      <p:sp>
        <p:nvSpPr>
          <p:cNvPr id="14" name="Kartu arti"/>
          <p:cNvSpPr/>
          <p:nvPr/>
        </p:nvSpPr>
        <p:spPr>
          <a:xfrm>
            <a:off x="548640" y="4434840"/>
            <a:ext cx="6949440" cy="1783080"/>
          </a:xfrm>
          <a:prstGeom prst="roundRect">
            <a:avLst>
              <a:gd name="adj" fmla="val 6154"/>
            </a:avLst>
          </a:prstGeom>
          <a:solidFill>
            <a:schemeClr val="bg2"/>
          </a:solidFill>
          <a:ln w="12700">
            <a:solidFill>
              <a:schemeClr val="bg2"/>
            </a:solidFill>
            <a:prstDash val="solid"/>
          </a:ln>
        </p:spPr>
      </p:sp>
      <p:sp>
        <p:nvSpPr>
          <p:cNvPr id="15" name="Text 13"/>
          <p:cNvSpPr txBox="1"/>
          <p:nvPr/>
        </p:nvSpPr>
        <p:spPr>
          <a:xfrm>
            <a:off x="822960" y="4572000"/>
            <a:ext cx="649224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KEEP: lolos pemeriksaan awal</a:t>
            </a:r>
            <a:endParaRPr lang="en-US" sz="1500" dirty="0"/>
          </a:p>
          <a:p>
            <a:pPr marL="342900" indent="-342900">
              <a:spcAft>
                <a:spcPts val="600"/>
              </a:spcAft>
              <a:buSzPct val="100000"/>
              <a:buChar char="•"/>
            </a:pPr>
            <a:r>
              <a:rPr lang="en-US" sz="1500" dirty="0">
                <a:solidFill>
                  <a:schemeClr val="tx1"/>
                </a:solidFill>
              </a:rPr>
              <a:t>REVIEW: perlu ditinjau lagi</a:t>
            </a:r>
            <a:endParaRPr lang="en-US" sz="1500" dirty="0"/>
          </a:p>
          <a:p>
            <a:pPr marL="342900" indent="-342900">
              <a:spcAft>
                <a:spcPts val="600"/>
              </a:spcAft>
              <a:buSzPct val="100000"/>
              <a:buChar char="•"/>
            </a:pPr>
            <a:r>
              <a:rPr lang="en-US" sz="1500" dirty="0">
                <a:solidFill>
                  <a:schemeClr val="tx1"/>
                </a:solidFill>
              </a:rPr>
              <a:t>DROP: dikeluarkan, tetap disimpan untuk penelusuran</a:t>
            </a:r>
            <a:endParaRPr lang="en-US" sz="1500" dirty="0"/>
          </a:p>
        </p:txBody>
      </p:sp>
      <p:sp>
        <p:nvSpPr>
          <p:cNvPr id="16" name="Kartu angka"/>
          <p:cNvSpPr/>
          <p:nvPr/>
        </p:nvSpPr>
        <p:spPr>
          <a:xfrm>
            <a:off x="7863840" y="1463040"/>
            <a:ext cx="3776472" cy="1417320"/>
          </a:xfrm>
          <a:prstGeom prst="roundRect">
            <a:avLst>
              <a:gd name="adj" fmla="val 7742"/>
            </a:avLst>
          </a:prstGeom>
          <a:solidFill>
            <a:schemeClr val="bg2"/>
          </a:solidFill>
          <a:ln w="12700">
            <a:solidFill>
              <a:schemeClr val="bg2"/>
            </a:solidFill>
            <a:prstDash val="solid"/>
          </a:ln>
        </p:spPr>
      </p:sp>
      <p:sp>
        <p:nvSpPr>
          <p:cNvPr id="17" name="Text 15"/>
          <p:cNvSpPr txBox="1"/>
          <p:nvPr/>
        </p:nvSpPr>
        <p:spPr>
          <a:xfrm>
            <a:off x="8092440" y="1600200"/>
            <a:ext cx="3383280" cy="64008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2,31%</a:t>
            </a:r>
            <a:endParaRPr lang="en-US" sz="3000" dirty="0"/>
          </a:p>
        </p:txBody>
      </p:sp>
      <p:sp>
        <p:nvSpPr>
          <p:cNvPr id="18" name="Text 16"/>
          <p:cNvSpPr txBox="1"/>
          <p:nvPr/>
        </p:nvSpPr>
        <p:spPr>
          <a:xfrm>
            <a:off x="8092440" y="2240280"/>
            <a:ext cx="3383280" cy="594360"/>
          </a:xfrm>
          <a:prstGeom prst="rect">
            <a:avLst/>
          </a:prstGeom>
          <a:noFill/>
          <a:ln/>
        </p:spPr>
        <p:txBody>
          <a:bodyPr wrap="square" lIns="0" tIns="0" rIns="0" bIns="0" rtlCol="0" anchor="t"/>
          <a:lstStyle/>
          <a:p>
            <a:pPr indent="0" marL="0">
              <a:buNone/>
            </a:pPr>
            <a:r>
              <a:rPr lang="en-US" sz="1300" dirty="0">
                <a:solidFill>
                  <a:schemeClr val="accent5"/>
                </a:solidFill>
              </a:rPr>
              <a:t>duplikat (379 dari 16.374). Batas di brief: 5%</a:t>
            </a:r>
            <a:endParaRPr lang="en-US" sz="1300" dirty="0"/>
          </a:p>
        </p:txBody>
      </p:sp>
      <p:sp>
        <p:nvSpPr>
          <p:cNvPr id="19" name="Kartu angka"/>
          <p:cNvSpPr/>
          <p:nvPr/>
        </p:nvSpPr>
        <p:spPr>
          <a:xfrm>
            <a:off x="7863840" y="3063240"/>
            <a:ext cx="3776472" cy="1417320"/>
          </a:xfrm>
          <a:prstGeom prst="roundRect">
            <a:avLst>
              <a:gd name="adj" fmla="val 7742"/>
            </a:avLst>
          </a:prstGeom>
          <a:solidFill>
            <a:schemeClr val="bg2"/>
          </a:solidFill>
          <a:ln w="12700">
            <a:solidFill>
              <a:schemeClr val="bg2"/>
            </a:solidFill>
            <a:prstDash val="solid"/>
          </a:ln>
        </p:spPr>
      </p:sp>
      <p:sp>
        <p:nvSpPr>
          <p:cNvPr id="20" name="Text 18"/>
          <p:cNvSpPr txBox="1"/>
          <p:nvPr/>
        </p:nvSpPr>
        <p:spPr>
          <a:xfrm>
            <a:off x="8092440" y="3200400"/>
            <a:ext cx="3383280" cy="64008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80</a:t>
            </a:r>
            <a:endParaRPr lang="en-US" sz="3000" dirty="0"/>
          </a:p>
        </p:txBody>
      </p:sp>
      <p:sp>
        <p:nvSpPr>
          <p:cNvPr id="21" name="Text 19"/>
          <p:cNvSpPr txBox="1"/>
          <p:nvPr/>
        </p:nvSpPr>
        <p:spPr>
          <a:xfrm>
            <a:off x="8092440" y="3840480"/>
            <a:ext cx="3383280" cy="594360"/>
          </a:xfrm>
          <a:prstGeom prst="rect">
            <a:avLst/>
          </a:prstGeom>
          <a:noFill/>
          <a:ln/>
        </p:spPr>
        <p:txBody>
          <a:bodyPr wrap="square" lIns="0" tIns="0" rIns="0" bIns="0" rtlCol="0" anchor="t"/>
          <a:lstStyle/>
          <a:p>
            <a:pPr indent="0" marL="0">
              <a:buNone/>
            </a:pPr>
            <a:r>
              <a:rPr lang="en-US" sz="1300" dirty="0">
                <a:solidFill>
                  <a:schemeClr val="accent5"/>
                </a:solidFill>
              </a:rPr>
              <a:t>templat menghasilkan 10.000 unit cerita; partisi nanti dibuat per templat</a:t>
            </a:r>
            <a:endParaRPr lang="en-US" sz="1300" dirty="0"/>
          </a:p>
        </p:txBody>
      </p:sp>
      <p:sp>
        <p:nvSpPr>
          <p:cNvPr id="22" name="Kartu angka"/>
          <p:cNvSpPr/>
          <p:nvPr/>
        </p:nvSpPr>
        <p:spPr>
          <a:xfrm>
            <a:off x="7863840" y="4663440"/>
            <a:ext cx="3776472" cy="1417320"/>
          </a:xfrm>
          <a:prstGeom prst="roundRect">
            <a:avLst>
              <a:gd name="adj" fmla="val 7742"/>
            </a:avLst>
          </a:prstGeom>
          <a:solidFill>
            <a:schemeClr val="bg2"/>
          </a:solidFill>
          <a:ln w="12700">
            <a:solidFill>
              <a:schemeClr val="bg2"/>
            </a:solidFill>
            <a:prstDash val="solid"/>
          </a:ln>
        </p:spPr>
      </p:sp>
      <p:sp>
        <p:nvSpPr>
          <p:cNvPr id="23" name="Text 21"/>
          <p:cNvSpPr txBox="1"/>
          <p:nvPr/>
        </p:nvSpPr>
        <p:spPr>
          <a:xfrm>
            <a:off x="8092440" y="4800600"/>
            <a:ext cx="3383280" cy="64008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Penutur</a:t>
            </a:r>
            <a:endParaRPr lang="en-US" sz="3000" dirty="0"/>
          </a:p>
        </p:txBody>
      </p:sp>
      <p:sp>
        <p:nvSpPr>
          <p:cNvPr id="24" name="Text 22"/>
          <p:cNvSpPr txBox="1"/>
          <p:nvPr/>
        </p:nvSpPr>
        <p:spPr>
          <a:xfrm>
            <a:off x="8092440" y="5440680"/>
            <a:ext cx="3383280" cy="594360"/>
          </a:xfrm>
          <a:prstGeom prst="rect">
            <a:avLst/>
          </a:prstGeom>
          <a:noFill/>
          <a:ln/>
        </p:spPr>
        <p:txBody>
          <a:bodyPr wrap="square" lIns="0" tIns="0" rIns="0" bIns="0" rtlCol="0" anchor="t"/>
          <a:lstStyle/>
          <a:p>
            <a:pPr indent="0" marL="0">
              <a:buNone/>
            </a:pPr>
            <a:r>
              <a:rPr lang="en-US" sz="1300" dirty="0">
                <a:solidFill>
                  <a:schemeClr val="accent5"/>
                </a:solidFill>
              </a:rPr>
              <a:t>meninjau rekaman REVIEW: langkah berikutnya</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Campuran data latih: 17.547 pasangan</a:t>
            </a:r>
            <a:endParaRPr lang="en-US" sz="3600" dirty="0"/>
          </a:p>
        </p:txBody>
      </p:sp>
      <p:sp>
        <p:nvSpPr>
          <p:cNvPr id="4" name="Text 2"/>
          <p:cNvSpPr txBox="1"/>
          <p:nvPr/>
        </p:nvSpPr>
        <p:spPr>
          <a:xfrm>
            <a:off x="548640" y="147391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Ayat Al-Qur'an</a:t>
            </a:r>
            <a:endParaRPr lang="en-US" sz="1300" dirty="0"/>
          </a:p>
        </p:txBody>
      </p:sp>
      <p:sp>
        <p:nvSpPr>
          <p:cNvPr id="5" name="Bar Ayat Al-Qur'an"/>
          <p:cNvSpPr/>
          <p:nvPr/>
        </p:nvSpPr>
        <p:spPr>
          <a:xfrm>
            <a:off x="3154680" y="1473911"/>
            <a:ext cx="3305202" cy="333858"/>
          </a:xfrm>
          <a:prstGeom prst="rect">
            <a:avLst/>
          </a:prstGeom>
          <a:solidFill>
            <a:srgbClr val="0D9488"/>
          </a:solidFill>
          <a:ln w="12700">
            <a:solidFill>
              <a:srgbClr val="0D9488"/>
            </a:solidFill>
            <a:prstDash val="solid"/>
          </a:ln>
        </p:spPr>
      </p:sp>
      <p:sp>
        <p:nvSpPr>
          <p:cNvPr id="6" name="Text 4"/>
          <p:cNvSpPr txBox="1"/>
          <p:nvPr/>
        </p:nvSpPr>
        <p:spPr>
          <a:xfrm>
            <a:off x="6551322" y="147391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5.466</a:t>
            </a:r>
            <a:endParaRPr lang="en-US" sz="1300" dirty="0"/>
          </a:p>
        </p:txBody>
      </p:sp>
      <p:sp>
        <p:nvSpPr>
          <p:cNvPr id="7" name="Text 5"/>
          <p:cNvSpPr txBox="1"/>
          <p:nvPr/>
        </p:nvSpPr>
        <p:spPr>
          <a:xfrm>
            <a:off x="548640" y="201239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Pivot NLLB-Seed (±)</a:t>
            </a:r>
            <a:endParaRPr lang="en-US" sz="1300" dirty="0"/>
          </a:p>
        </p:txBody>
      </p:sp>
      <p:sp>
        <p:nvSpPr>
          <p:cNvPr id="8" name="Bar Pivot NLLB-Seed (±)"/>
          <p:cNvSpPr/>
          <p:nvPr/>
        </p:nvSpPr>
        <p:spPr>
          <a:xfrm>
            <a:off x="3154680" y="2012391"/>
            <a:ext cx="3466653" cy="333858"/>
          </a:xfrm>
          <a:prstGeom prst="rect">
            <a:avLst/>
          </a:prstGeom>
          <a:solidFill>
            <a:srgbClr val="0D9488"/>
          </a:solidFill>
          <a:ln w="12700">
            <a:solidFill>
              <a:srgbClr val="0D9488"/>
            </a:solidFill>
            <a:prstDash val="solid"/>
          </a:ln>
        </p:spPr>
      </p:sp>
      <p:sp>
        <p:nvSpPr>
          <p:cNvPr id="9" name="Text 7"/>
          <p:cNvSpPr txBox="1"/>
          <p:nvPr/>
        </p:nvSpPr>
        <p:spPr>
          <a:xfrm>
            <a:off x="6712773" y="201239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5.733</a:t>
            </a:r>
            <a:endParaRPr lang="en-US" sz="1300" dirty="0"/>
          </a:p>
        </p:txBody>
      </p:sp>
      <p:sp>
        <p:nvSpPr>
          <p:cNvPr id="10" name="Text 8"/>
          <p:cNvSpPr txBox="1"/>
          <p:nvPr/>
        </p:nvSpPr>
        <p:spPr>
          <a:xfrm>
            <a:off x="548640" y="255087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Tim: pasangan Andrie</a:t>
            </a:r>
            <a:endParaRPr lang="en-US" sz="1300" dirty="0"/>
          </a:p>
        </p:txBody>
      </p:sp>
      <p:sp>
        <p:nvSpPr>
          <p:cNvPr id="11" name="Bar Tim: pasangan Andrie"/>
          <p:cNvSpPr/>
          <p:nvPr/>
        </p:nvSpPr>
        <p:spPr>
          <a:xfrm>
            <a:off x="3154680" y="2550871"/>
            <a:ext cx="1691905" cy="333858"/>
          </a:xfrm>
          <a:prstGeom prst="rect">
            <a:avLst/>
          </a:prstGeom>
          <a:solidFill>
            <a:srgbClr val="0D9488"/>
          </a:solidFill>
          <a:ln w="12700">
            <a:solidFill>
              <a:srgbClr val="0D9488"/>
            </a:solidFill>
            <a:prstDash val="solid"/>
          </a:ln>
        </p:spPr>
      </p:sp>
      <p:sp>
        <p:nvSpPr>
          <p:cNvPr id="12" name="Text 10"/>
          <p:cNvSpPr txBox="1"/>
          <p:nvPr/>
        </p:nvSpPr>
        <p:spPr>
          <a:xfrm>
            <a:off x="4938025" y="255087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2.798</a:t>
            </a:r>
            <a:endParaRPr lang="en-US" sz="1300" dirty="0"/>
          </a:p>
        </p:txBody>
      </p:sp>
      <p:sp>
        <p:nvSpPr>
          <p:cNvPr id="13" name="Text 11"/>
          <p:cNvSpPr txBox="1"/>
          <p:nvPr/>
        </p:nvSpPr>
        <p:spPr>
          <a:xfrm>
            <a:off x="548640" y="308935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Hikayat Abu Sammah</a:t>
            </a:r>
            <a:endParaRPr lang="en-US" sz="1300" dirty="0"/>
          </a:p>
        </p:txBody>
      </p:sp>
      <p:sp>
        <p:nvSpPr>
          <p:cNvPr id="14" name="Bar Hikayat Abu Sammah"/>
          <p:cNvSpPr/>
          <p:nvPr/>
        </p:nvSpPr>
        <p:spPr>
          <a:xfrm>
            <a:off x="3154680" y="3089351"/>
            <a:ext cx="865907" cy="333858"/>
          </a:xfrm>
          <a:prstGeom prst="rect">
            <a:avLst/>
          </a:prstGeom>
          <a:solidFill>
            <a:srgbClr val="0D9488"/>
          </a:solidFill>
          <a:ln w="12700">
            <a:solidFill>
              <a:srgbClr val="0D9488"/>
            </a:solidFill>
            <a:prstDash val="solid"/>
          </a:ln>
        </p:spPr>
      </p:sp>
      <p:sp>
        <p:nvSpPr>
          <p:cNvPr id="15" name="Text 13"/>
          <p:cNvSpPr txBox="1"/>
          <p:nvPr/>
        </p:nvSpPr>
        <p:spPr>
          <a:xfrm>
            <a:off x="4112027" y="308935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1.432</a:t>
            </a:r>
            <a:endParaRPr lang="en-US" sz="1300" dirty="0"/>
          </a:p>
        </p:txBody>
      </p:sp>
      <p:sp>
        <p:nvSpPr>
          <p:cNvPr id="16" name="Text 14"/>
          <p:cNvSpPr txBox="1"/>
          <p:nvPr/>
        </p:nvSpPr>
        <p:spPr>
          <a:xfrm>
            <a:off x="548640" y="362783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FLORES (dev)</a:t>
            </a:r>
            <a:endParaRPr lang="en-US" sz="1300" dirty="0"/>
          </a:p>
        </p:txBody>
      </p:sp>
      <p:sp>
        <p:nvSpPr>
          <p:cNvPr id="17" name="Bar FLORES (dev)"/>
          <p:cNvSpPr/>
          <p:nvPr/>
        </p:nvSpPr>
        <p:spPr>
          <a:xfrm>
            <a:off x="3154680" y="3627831"/>
            <a:ext cx="481933" cy="333858"/>
          </a:xfrm>
          <a:prstGeom prst="rect">
            <a:avLst/>
          </a:prstGeom>
          <a:solidFill>
            <a:srgbClr val="0D9488"/>
          </a:solidFill>
          <a:ln w="12700">
            <a:solidFill>
              <a:srgbClr val="0D9488"/>
            </a:solidFill>
            <a:prstDash val="solid"/>
          </a:ln>
        </p:spPr>
      </p:sp>
      <p:sp>
        <p:nvSpPr>
          <p:cNvPr id="18" name="Text 16"/>
          <p:cNvSpPr txBox="1"/>
          <p:nvPr/>
        </p:nvSpPr>
        <p:spPr>
          <a:xfrm>
            <a:off x="3728053" y="362783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797</a:t>
            </a:r>
            <a:endParaRPr lang="en-US" sz="1300" dirty="0"/>
          </a:p>
        </p:txBody>
      </p:sp>
      <p:sp>
        <p:nvSpPr>
          <p:cNvPr id="19" name="Text 17"/>
          <p:cNvSpPr txBox="1"/>
          <p:nvPr/>
        </p:nvSpPr>
        <p:spPr>
          <a:xfrm>
            <a:off x="548640" y="416631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NusaX (latih)</a:t>
            </a:r>
            <a:endParaRPr lang="en-US" sz="1300" dirty="0"/>
          </a:p>
        </p:txBody>
      </p:sp>
      <p:sp>
        <p:nvSpPr>
          <p:cNvPr id="20" name="Bar NusaX (latih)"/>
          <p:cNvSpPr/>
          <p:nvPr/>
        </p:nvSpPr>
        <p:spPr>
          <a:xfrm>
            <a:off x="3154680" y="4166311"/>
            <a:ext cx="302342" cy="333858"/>
          </a:xfrm>
          <a:prstGeom prst="rect">
            <a:avLst/>
          </a:prstGeom>
          <a:solidFill>
            <a:srgbClr val="0D9488"/>
          </a:solidFill>
          <a:ln w="12700">
            <a:solidFill>
              <a:srgbClr val="0D9488"/>
            </a:solidFill>
            <a:prstDash val="solid"/>
          </a:ln>
        </p:spPr>
      </p:sp>
      <p:sp>
        <p:nvSpPr>
          <p:cNvPr id="21" name="Text 19"/>
          <p:cNvSpPr txBox="1"/>
          <p:nvPr/>
        </p:nvSpPr>
        <p:spPr>
          <a:xfrm>
            <a:off x="3548462" y="416631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500</a:t>
            </a:r>
            <a:endParaRPr lang="en-US" sz="1300" dirty="0"/>
          </a:p>
        </p:txBody>
      </p:sp>
      <p:sp>
        <p:nvSpPr>
          <p:cNvPr id="22" name="Text 20"/>
          <p:cNvSpPr txBox="1"/>
          <p:nvPr/>
        </p:nvSpPr>
        <p:spPr>
          <a:xfrm>
            <a:off x="548640" y="470479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Wikipedia</a:t>
            </a:r>
            <a:endParaRPr lang="en-US" sz="1300" dirty="0"/>
          </a:p>
        </p:txBody>
      </p:sp>
      <p:sp>
        <p:nvSpPr>
          <p:cNvPr id="23" name="Bar Wikipedia"/>
          <p:cNvSpPr/>
          <p:nvPr/>
        </p:nvSpPr>
        <p:spPr>
          <a:xfrm>
            <a:off x="3154680" y="4704791"/>
            <a:ext cx="226756" cy="333858"/>
          </a:xfrm>
          <a:prstGeom prst="rect">
            <a:avLst/>
          </a:prstGeom>
          <a:solidFill>
            <a:srgbClr val="0D9488"/>
          </a:solidFill>
          <a:ln w="12700">
            <a:solidFill>
              <a:srgbClr val="0D9488"/>
            </a:solidFill>
            <a:prstDash val="solid"/>
          </a:ln>
        </p:spPr>
      </p:sp>
      <p:sp>
        <p:nvSpPr>
          <p:cNvPr id="24" name="Text 22"/>
          <p:cNvSpPr txBox="1"/>
          <p:nvPr/>
        </p:nvSpPr>
        <p:spPr>
          <a:xfrm>
            <a:off x="3472876" y="470479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375</a:t>
            </a:r>
            <a:endParaRPr lang="en-US" sz="1300" dirty="0"/>
          </a:p>
        </p:txBody>
      </p:sp>
      <p:sp>
        <p:nvSpPr>
          <p:cNvPr id="25" name="Text 23"/>
          <p:cNvSpPr txBox="1"/>
          <p:nvPr/>
        </p:nvSpPr>
        <p:spPr>
          <a:xfrm>
            <a:off x="548640" y="524327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Hikayat Malik Mawot</a:t>
            </a:r>
            <a:endParaRPr lang="en-US" sz="1300" dirty="0"/>
          </a:p>
        </p:txBody>
      </p:sp>
      <p:sp>
        <p:nvSpPr>
          <p:cNvPr id="26" name="Bar Hikayat Malik Mawot"/>
          <p:cNvSpPr/>
          <p:nvPr/>
        </p:nvSpPr>
        <p:spPr>
          <a:xfrm>
            <a:off x="3154680" y="5243271"/>
            <a:ext cx="211639" cy="333858"/>
          </a:xfrm>
          <a:prstGeom prst="rect">
            <a:avLst/>
          </a:prstGeom>
          <a:solidFill>
            <a:srgbClr val="0D9488"/>
          </a:solidFill>
          <a:ln w="12700">
            <a:solidFill>
              <a:srgbClr val="0D9488"/>
            </a:solidFill>
            <a:prstDash val="solid"/>
          </a:ln>
        </p:spPr>
      </p:sp>
      <p:sp>
        <p:nvSpPr>
          <p:cNvPr id="27" name="Text 25"/>
          <p:cNvSpPr txBox="1"/>
          <p:nvPr/>
        </p:nvSpPr>
        <p:spPr>
          <a:xfrm>
            <a:off x="3457759" y="524327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350</a:t>
            </a:r>
            <a:endParaRPr lang="en-US" sz="1300" dirty="0"/>
          </a:p>
        </p:txBody>
      </p:sp>
      <p:sp>
        <p:nvSpPr>
          <p:cNvPr id="28" name="Text 26"/>
          <p:cNvSpPr txBox="1"/>
          <p:nvPr/>
        </p:nvSpPr>
        <p:spPr>
          <a:xfrm>
            <a:off x="548640" y="578175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Tim: cerpen</a:t>
            </a:r>
            <a:endParaRPr lang="en-US" sz="1300" dirty="0"/>
          </a:p>
        </p:txBody>
      </p:sp>
      <p:sp>
        <p:nvSpPr>
          <p:cNvPr id="29" name="Bar Tim: cerpen"/>
          <p:cNvSpPr/>
          <p:nvPr/>
        </p:nvSpPr>
        <p:spPr>
          <a:xfrm>
            <a:off x="3154680" y="5781751"/>
            <a:ext cx="58050" cy="333858"/>
          </a:xfrm>
          <a:prstGeom prst="rect">
            <a:avLst/>
          </a:prstGeom>
          <a:solidFill>
            <a:srgbClr val="0D9488"/>
          </a:solidFill>
          <a:ln w="12700">
            <a:solidFill>
              <a:srgbClr val="0D9488"/>
            </a:solidFill>
            <a:prstDash val="solid"/>
          </a:ln>
        </p:spPr>
      </p:sp>
      <p:sp>
        <p:nvSpPr>
          <p:cNvPr id="30" name="Text 28"/>
          <p:cNvSpPr txBox="1"/>
          <p:nvPr/>
        </p:nvSpPr>
        <p:spPr>
          <a:xfrm>
            <a:off x="3304170" y="578175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96</a:t>
            </a:r>
            <a:endParaRPr lang="en-US" sz="1300" dirty="0"/>
          </a:p>
        </p:txBody>
      </p:sp>
      <p:sp>
        <p:nvSpPr>
          <p:cNvPr id="31" name="Kartu angka"/>
          <p:cNvSpPr/>
          <p:nvPr/>
        </p:nvSpPr>
        <p:spPr>
          <a:xfrm>
            <a:off x="8138160" y="1463040"/>
            <a:ext cx="3502152" cy="1325880"/>
          </a:xfrm>
          <a:prstGeom prst="roundRect">
            <a:avLst>
              <a:gd name="adj" fmla="val 8276"/>
            </a:avLst>
          </a:prstGeom>
          <a:solidFill>
            <a:schemeClr val="bg2"/>
          </a:solidFill>
          <a:ln w="12700">
            <a:solidFill>
              <a:schemeClr val="bg2"/>
            </a:solidFill>
            <a:prstDash val="solid"/>
          </a:ln>
        </p:spPr>
      </p:sp>
      <p:sp>
        <p:nvSpPr>
          <p:cNvPr id="32" name="Stat validasi: 200 FLORES, 79 hikayat, 100 NusaX"/>
          <p:cNvSpPr txBox="1"/>
          <p:nvPr/>
        </p:nvSpPr>
        <p:spPr>
          <a:xfrm>
            <a:off x="8366760" y="1536192"/>
            <a:ext cx="3108960" cy="731520"/>
          </a:xfrm>
          <a:prstGeom prst="rect">
            <a:avLst/>
          </a:prstGeom>
          <a:noFill/>
          <a:ln/>
        </p:spPr>
        <p:txBody>
          <a:bodyPr wrap="square" lIns="0" tIns="0" rIns="0" bIns="0" rtlCol="0" anchor="t"/>
          <a:lstStyle/>
          <a:p>
            <a:pPr indent="0" marL="0">
              <a:buNone/>
            </a:pPr>
            <a:r>
              <a:rPr lang="en-US" sz="3400" b="1" dirty="0">
                <a:solidFill>
                  <a:schemeClr val="accent1"/>
                </a:solidFill>
                <a:latin typeface="Georgia" pitchFamily="34" charset="0"/>
                <a:ea typeface="Georgia" pitchFamily="34" charset="-122"/>
                <a:cs typeface="Georgia" pitchFamily="34" charset="-120"/>
              </a:rPr>
              <a:t>379</a:t>
            </a:r>
            <a:endParaRPr lang="en-US" sz="3400" dirty="0"/>
          </a:p>
        </p:txBody>
      </p:sp>
      <p:sp>
        <p:nvSpPr>
          <p:cNvPr id="33" name="Text 31"/>
          <p:cNvSpPr txBox="1"/>
          <p:nvPr/>
        </p:nvSpPr>
        <p:spPr>
          <a:xfrm>
            <a:off x="8366760" y="2054352"/>
            <a:ext cx="3108960" cy="640080"/>
          </a:xfrm>
          <a:prstGeom prst="rect">
            <a:avLst/>
          </a:prstGeom>
          <a:noFill/>
          <a:ln/>
        </p:spPr>
        <p:txBody>
          <a:bodyPr wrap="square" lIns="0" tIns="0" rIns="0" bIns="0" rtlCol="0" anchor="t"/>
          <a:lstStyle/>
          <a:p>
            <a:pPr indent="0" marL="0">
              <a:buNone/>
            </a:pPr>
            <a:r>
              <a:rPr lang="en-US" sz="1400" dirty="0">
                <a:solidFill>
                  <a:schemeClr val="accent5"/>
                </a:solidFill>
              </a:rPr>
              <a:t>validasi: 200 FLORES, 79 hikayat, 100 NusaX</a:t>
            </a:r>
            <a:endParaRPr lang="en-US" sz="1400" dirty="0"/>
          </a:p>
        </p:txBody>
      </p:sp>
      <p:sp>
        <p:nvSpPr>
          <p:cNvPr id="34" name="Kartu angka"/>
          <p:cNvSpPr/>
          <p:nvPr/>
        </p:nvSpPr>
        <p:spPr>
          <a:xfrm>
            <a:off x="8138160" y="2971800"/>
            <a:ext cx="3502152" cy="1920240"/>
          </a:xfrm>
          <a:prstGeom prst="roundRect">
            <a:avLst>
              <a:gd name="adj" fmla="val 5714"/>
            </a:avLst>
          </a:prstGeom>
          <a:solidFill>
            <a:schemeClr val="bg2"/>
          </a:solidFill>
          <a:ln w="12700">
            <a:solidFill>
              <a:schemeClr val="bg2"/>
            </a:solidFill>
            <a:prstDash val="solid"/>
          </a:ln>
        </p:spPr>
      </p:sp>
      <p:sp>
        <p:nvSpPr>
          <p:cNvPr id="35" name="Text 33"/>
          <p:cNvSpPr txBox="1"/>
          <p:nvPr/>
        </p:nvSpPr>
        <p:spPr>
          <a:xfrm>
            <a:off x="8366760" y="3063240"/>
            <a:ext cx="3108960" cy="365760"/>
          </a:xfrm>
          <a:prstGeom prst="rect">
            <a:avLst/>
          </a:prstGeom>
          <a:noFill/>
          <a:ln/>
        </p:spPr>
        <p:txBody>
          <a:bodyPr wrap="square" lIns="0" tIns="0" rIns="0" bIns="0" rtlCol="0" anchor="t"/>
          <a:lstStyle/>
          <a:p>
            <a:pPr indent="0" marL="0">
              <a:buNone/>
            </a:pPr>
            <a:r>
              <a:rPr lang="en-US" sz="1500" b="1" dirty="0">
                <a:solidFill>
                  <a:schemeClr val="tx1"/>
                </a:solidFill>
              </a:rPr>
              <a:t>Set uji (tidak dilatih)</a:t>
            </a:r>
            <a:endParaRPr lang="en-US" sz="1500" dirty="0"/>
          </a:p>
        </p:txBody>
      </p:sp>
      <p:sp>
        <p:nvSpPr>
          <p:cNvPr id="36" name="Text 34"/>
          <p:cNvSpPr txBox="1"/>
          <p:nvPr/>
        </p:nvSpPr>
        <p:spPr>
          <a:xfrm>
            <a:off x="8366760" y="3474720"/>
            <a:ext cx="1188720" cy="411480"/>
          </a:xfrm>
          <a:prstGeom prst="rect">
            <a:avLst/>
          </a:prstGeom>
          <a:noFill/>
          <a:ln/>
        </p:spPr>
        <p:txBody>
          <a:bodyPr wrap="square" lIns="0" tIns="0" rIns="0" bIns="0" rtlCol="0" anchor="ctr"/>
          <a:lstStyle/>
          <a:p>
            <a:pPr indent="0" marL="0">
              <a:buNone/>
            </a:pPr>
            <a:r>
              <a:rPr lang="en-US" sz="2200" b="1" dirty="0">
                <a:solidFill>
                  <a:schemeClr val="accent1"/>
                </a:solidFill>
                <a:latin typeface="Georgia" pitchFamily="34" charset="0"/>
                <a:ea typeface="Georgia" pitchFamily="34" charset="-122"/>
                <a:cs typeface="Georgia" pitchFamily="34" charset="-120"/>
              </a:rPr>
              <a:t>400</a:t>
            </a:r>
            <a:endParaRPr lang="en-US" sz="2200" dirty="0"/>
          </a:p>
        </p:txBody>
      </p:sp>
      <p:sp>
        <p:nvSpPr>
          <p:cNvPr id="37" name="Text 35"/>
          <p:cNvSpPr txBox="1"/>
          <p:nvPr/>
        </p:nvSpPr>
        <p:spPr>
          <a:xfrm>
            <a:off x="9601200" y="3474720"/>
            <a:ext cx="1920240" cy="411480"/>
          </a:xfrm>
          <a:prstGeom prst="rect">
            <a:avLst/>
          </a:prstGeom>
          <a:noFill/>
          <a:ln/>
        </p:spPr>
        <p:txBody>
          <a:bodyPr wrap="square" lIns="0" tIns="0" rIns="0" bIns="0" rtlCol="0" anchor="ctr"/>
          <a:lstStyle/>
          <a:p>
            <a:pPr indent="0" marL="0">
              <a:buNone/>
            </a:pPr>
            <a:r>
              <a:rPr lang="en-US" sz="1400" dirty="0">
                <a:solidFill>
                  <a:schemeClr val="accent5"/>
                </a:solidFill>
              </a:rPr>
              <a:t>NusaX</a:t>
            </a:r>
            <a:endParaRPr lang="en-US" sz="1400" dirty="0"/>
          </a:p>
        </p:txBody>
      </p:sp>
      <p:sp>
        <p:nvSpPr>
          <p:cNvPr id="38" name="Text 36"/>
          <p:cNvSpPr txBox="1"/>
          <p:nvPr/>
        </p:nvSpPr>
        <p:spPr>
          <a:xfrm>
            <a:off x="8366760" y="3931920"/>
            <a:ext cx="1188720" cy="411480"/>
          </a:xfrm>
          <a:prstGeom prst="rect">
            <a:avLst/>
          </a:prstGeom>
          <a:noFill/>
          <a:ln/>
        </p:spPr>
        <p:txBody>
          <a:bodyPr wrap="square" lIns="0" tIns="0" rIns="0" bIns="0" rtlCol="0" anchor="ctr"/>
          <a:lstStyle/>
          <a:p>
            <a:pPr indent="0" marL="0">
              <a:buNone/>
            </a:pPr>
            <a:r>
              <a:rPr lang="en-US" sz="2200" b="1" dirty="0">
                <a:solidFill>
                  <a:schemeClr val="accent1"/>
                </a:solidFill>
                <a:latin typeface="Georgia" pitchFamily="34" charset="0"/>
                <a:ea typeface="Georgia" pitchFamily="34" charset="-122"/>
                <a:cs typeface="Georgia" pitchFamily="34" charset="-120"/>
              </a:rPr>
              <a:t>1.012</a:t>
            </a:r>
            <a:endParaRPr lang="en-US" sz="2200" dirty="0"/>
          </a:p>
        </p:txBody>
      </p:sp>
      <p:sp>
        <p:nvSpPr>
          <p:cNvPr id="39" name="Text 37"/>
          <p:cNvSpPr txBox="1"/>
          <p:nvPr/>
        </p:nvSpPr>
        <p:spPr>
          <a:xfrm>
            <a:off x="9601200" y="3931920"/>
            <a:ext cx="1920240" cy="411480"/>
          </a:xfrm>
          <a:prstGeom prst="rect">
            <a:avLst/>
          </a:prstGeom>
          <a:noFill/>
          <a:ln/>
        </p:spPr>
        <p:txBody>
          <a:bodyPr wrap="square" lIns="0" tIns="0" rIns="0" bIns="0" rtlCol="0" anchor="ctr"/>
          <a:lstStyle/>
          <a:p>
            <a:pPr indent="0" marL="0">
              <a:buNone/>
            </a:pPr>
            <a:r>
              <a:rPr lang="en-US" sz="1400" dirty="0">
                <a:solidFill>
                  <a:schemeClr val="accent5"/>
                </a:solidFill>
              </a:rPr>
              <a:t>FLORES</a:t>
            </a:r>
            <a:endParaRPr lang="en-US" sz="1400" dirty="0"/>
          </a:p>
        </p:txBody>
      </p:sp>
      <p:sp>
        <p:nvSpPr>
          <p:cNvPr id="40" name="Text 38"/>
          <p:cNvSpPr txBox="1"/>
          <p:nvPr/>
        </p:nvSpPr>
        <p:spPr>
          <a:xfrm>
            <a:off x="8366760" y="4389120"/>
            <a:ext cx="1188720" cy="411480"/>
          </a:xfrm>
          <a:prstGeom prst="rect">
            <a:avLst/>
          </a:prstGeom>
          <a:noFill/>
          <a:ln/>
        </p:spPr>
        <p:txBody>
          <a:bodyPr wrap="square" lIns="0" tIns="0" rIns="0" bIns="0" rtlCol="0" anchor="ctr"/>
          <a:lstStyle/>
          <a:p>
            <a:pPr indent="0" marL="0">
              <a:buNone/>
            </a:pPr>
            <a:r>
              <a:rPr lang="en-US" sz="2200" b="1" dirty="0">
                <a:solidFill>
                  <a:schemeClr val="accent1"/>
                </a:solidFill>
                <a:latin typeface="Georgia" pitchFamily="34" charset="0"/>
                <a:ea typeface="Georgia" pitchFamily="34" charset="-122"/>
                <a:cs typeface="Georgia" pitchFamily="34" charset="-120"/>
              </a:rPr>
              <a:t>143</a:t>
            </a:r>
            <a:endParaRPr lang="en-US" sz="2200" dirty="0"/>
          </a:p>
        </p:txBody>
      </p:sp>
      <p:sp>
        <p:nvSpPr>
          <p:cNvPr id="41" name="Text 39"/>
          <p:cNvSpPr txBox="1"/>
          <p:nvPr/>
        </p:nvSpPr>
        <p:spPr>
          <a:xfrm>
            <a:off x="9601200" y="4389120"/>
            <a:ext cx="1920240" cy="411480"/>
          </a:xfrm>
          <a:prstGeom prst="rect">
            <a:avLst/>
          </a:prstGeom>
          <a:noFill/>
          <a:ln/>
        </p:spPr>
        <p:txBody>
          <a:bodyPr wrap="square" lIns="0" tIns="0" rIns="0" bIns="0" rtlCol="0" anchor="ctr"/>
          <a:lstStyle/>
          <a:p>
            <a:pPr indent="0" marL="0">
              <a:buNone/>
            </a:pPr>
            <a:r>
              <a:rPr lang="en-US" sz="1400" dirty="0">
                <a:solidFill>
                  <a:schemeClr val="accent5"/>
                </a:solidFill>
              </a:rPr>
              <a:t>Hikayat</a:t>
            </a:r>
            <a:endParaRPr lang="en-US" sz="1400" dirty="0"/>
          </a:p>
        </p:txBody>
      </p:sp>
      <p:sp>
        <p:nvSpPr>
          <p:cNvPr id="42" name="Kartu angka"/>
          <p:cNvSpPr/>
          <p:nvPr/>
        </p:nvSpPr>
        <p:spPr>
          <a:xfrm>
            <a:off x="8138160" y="5074920"/>
            <a:ext cx="3502152" cy="1143000"/>
          </a:xfrm>
          <a:prstGeom prst="roundRect">
            <a:avLst>
              <a:gd name="adj" fmla="val 9600"/>
            </a:avLst>
          </a:prstGeom>
          <a:solidFill>
            <a:schemeClr val="bg2"/>
          </a:solidFill>
          <a:ln w="12700">
            <a:solidFill>
              <a:schemeClr val="bg2"/>
            </a:solidFill>
            <a:prstDash val="solid"/>
          </a:ln>
        </p:spPr>
      </p:sp>
      <p:sp>
        <p:nvSpPr>
          <p:cNvPr id="43" name="Text 41"/>
          <p:cNvSpPr txBox="1"/>
          <p:nvPr/>
        </p:nvSpPr>
        <p:spPr>
          <a:xfrm>
            <a:off x="8366760" y="5120640"/>
            <a:ext cx="3108960" cy="1051560"/>
          </a:xfrm>
          <a:prstGeom prst="rect">
            <a:avLst/>
          </a:prstGeom>
          <a:noFill/>
          <a:ln/>
        </p:spPr>
        <p:txBody>
          <a:bodyPr wrap="square" lIns="0" tIns="0" rIns="0" bIns="0" rtlCol="0" anchor="ctr"/>
          <a:lstStyle/>
          <a:p>
            <a:pPr indent="0" marL="0">
              <a:buNone/>
            </a:pPr>
            <a:r>
              <a:rPr lang="en-US" sz="1300" dirty="0">
                <a:solidFill>
                  <a:schemeClr val="tx1"/>
                </a:solidFill>
              </a:rPr>
              <a:t>17.618 kandidat menjadi 17.547 setelah 1 pasangan mirip dan 70 duplikat dibuang</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Dari buku pindai ke pasangan kalimat</a:t>
            </a:r>
            <a:endParaRPr lang="en-US" sz="3600" dirty="0"/>
          </a:p>
        </p:txBody>
      </p:sp>
      <p:sp>
        <p:nvSpPr>
          <p:cNvPr id="4" name="Nomor langkah"/>
          <p:cNvSpPr/>
          <p:nvPr/>
        </p:nvSpPr>
        <p:spPr>
          <a:xfrm>
            <a:off x="548640" y="141732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548640" y="14173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1380744"/>
            <a:ext cx="5394960" cy="640080"/>
          </a:xfrm>
          <a:prstGeom prst="rect">
            <a:avLst/>
          </a:prstGeom>
          <a:noFill/>
          <a:ln/>
        </p:spPr>
        <p:txBody>
          <a:bodyPr wrap="square" lIns="0" tIns="0" rIns="0" bIns="0" rtlCol="0" anchor="ctr"/>
          <a:lstStyle/>
          <a:p>
            <a:pPr indent="0" marL="0">
              <a:buNone/>
            </a:pPr>
            <a:r>
              <a:rPr lang="en-US" sz="1400" dirty="0">
                <a:solidFill>
                  <a:schemeClr val="tx1"/>
                </a:solidFill>
              </a:rPr>
              <a:t>OCR setiap halaman dengan 300 dpi (RapidOCR)</a:t>
            </a:r>
            <a:endParaRPr lang="en-US" sz="1400" dirty="0"/>
          </a:p>
        </p:txBody>
      </p:sp>
      <p:sp>
        <p:nvSpPr>
          <p:cNvPr id="7" name="Nomor langkah"/>
          <p:cNvSpPr/>
          <p:nvPr/>
        </p:nvSpPr>
        <p:spPr>
          <a:xfrm>
            <a:off x="548640" y="2194560"/>
            <a:ext cx="502920" cy="502920"/>
          </a:xfrm>
          <a:prstGeom prst="ellipse">
            <a:avLst/>
          </a:prstGeom>
          <a:solidFill>
            <a:schemeClr val="accent1"/>
          </a:solidFill>
          <a:ln w="12700">
            <a:solidFill>
              <a:schemeClr val="accent1"/>
            </a:solidFill>
            <a:prstDash val="solid"/>
          </a:ln>
        </p:spPr>
      </p:sp>
      <p:sp>
        <p:nvSpPr>
          <p:cNvPr id="8" name="Text 6"/>
          <p:cNvSpPr txBox="1"/>
          <p:nvPr/>
        </p:nvSpPr>
        <p:spPr>
          <a:xfrm>
            <a:off x="548640" y="21945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34440" y="2157984"/>
            <a:ext cx="5394960" cy="640080"/>
          </a:xfrm>
          <a:prstGeom prst="rect">
            <a:avLst/>
          </a:prstGeom>
          <a:noFill/>
          <a:ln/>
        </p:spPr>
        <p:txBody>
          <a:bodyPr wrap="square" lIns="0" tIns="0" rIns="0" bIns="0" rtlCol="0" anchor="ctr"/>
          <a:lstStyle/>
          <a:p>
            <a:pPr indent="0" marL="0">
              <a:buNone/>
            </a:pPr>
            <a:r>
              <a:rPr lang="en-US" sz="1400" dirty="0">
                <a:solidFill>
                  <a:schemeClr val="tx1"/>
                </a:solidFill>
              </a:rPr>
              <a:t>Buang nomor halaman, judul, catatan kaki, dan baris yang kurang yakin</a:t>
            </a:r>
            <a:endParaRPr lang="en-US" sz="1400" dirty="0"/>
          </a:p>
        </p:txBody>
      </p:sp>
      <p:sp>
        <p:nvSpPr>
          <p:cNvPr id="10" name="Nomor langkah"/>
          <p:cNvSpPr/>
          <p:nvPr/>
        </p:nvSpPr>
        <p:spPr>
          <a:xfrm>
            <a:off x="548640" y="2971800"/>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548640" y="2971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1234440" y="2935224"/>
            <a:ext cx="5394960" cy="640080"/>
          </a:xfrm>
          <a:prstGeom prst="rect">
            <a:avLst/>
          </a:prstGeom>
          <a:noFill/>
          <a:ln/>
        </p:spPr>
        <p:txBody>
          <a:bodyPr wrap="square" lIns="0" tIns="0" rIns="0" bIns="0" rtlCol="0" anchor="ctr"/>
          <a:lstStyle/>
          <a:p>
            <a:pPr indent="0" marL="0">
              <a:buNone/>
            </a:pPr>
            <a:r>
              <a:rPr lang="en-US" sz="1400" dirty="0">
                <a:solidFill>
                  <a:schemeClr val="tx1"/>
                </a:solidFill>
              </a:rPr>
              <a:t>Gabungkan baris yang terpotong tata letak</a:t>
            </a:r>
            <a:endParaRPr lang="en-US" sz="1400" dirty="0"/>
          </a:p>
        </p:txBody>
      </p:sp>
      <p:sp>
        <p:nvSpPr>
          <p:cNvPr id="13" name="Nomor langkah"/>
          <p:cNvSpPr/>
          <p:nvPr/>
        </p:nvSpPr>
        <p:spPr>
          <a:xfrm>
            <a:off x="548640" y="3749040"/>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1234440" y="3712464"/>
            <a:ext cx="5394960" cy="640080"/>
          </a:xfrm>
          <a:prstGeom prst="rect">
            <a:avLst/>
          </a:prstGeom>
          <a:noFill/>
          <a:ln/>
        </p:spPr>
        <p:txBody>
          <a:bodyPr wrap="square" lIns="0" tIns="0" rIns="0" bIns="0" rtlCol="0" anchor="ctr"/>
          <a:lstStyle/>
          <a:p>
            <a:pPr indent="0" marL="0">
              <a:buNone/>
            </a:pPr>
            <a:r>
              <a:rPr lang="en-US" sz="1400" dirty="0">
                <a:solidFill>
                  <a:schemeClr val="tx1"/>
                </a:solidFill>
              </a:rPr>
              <a:t>Perbaiki huruf salah hasil OCR, hanya jika teks acuan membenarkannya</a:t>
            </a:r>
            <a:endParaRPr lang="en-US" sz="1400" dirty="0"/>
          </a:p>
        </p:txBody>
      </p:sp>
      <p:sp>
        <p:nvSpPr>
          <p:cNvPr id="16" name="Nomor langkah"/>
          <p:cNvSpPr/>
          <p:nvPr/>
        </p:nvSpPr>
        <p:spPr>
          <a:xfrm>
            <a:off x="548640" y="452628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548640" y="45262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1234440" y="4489704"/>
            <a:ext cx="5394960" cy="640080"/>
          </a:xfrm>
          <a:prstGeom prst="rect">
            <a:avLst/>
          </a:prstGeom>
          <a:noFill/>
          <a:ln/>
        </p:spPr>
        <p:txBody>
          <a:bodyPr wrap="square" lIns="0" tIns="0" rIns="0" bIns="0" rtlCol="0" anchor="ctr"/>
          <a:lstStyle/>
          <a:p>
            <a:pPr indent="0" marL="0">
              <a:buNone/>
            </a:pPr>
            <a:r>
              <a:rPr lang="en-US" sz="1400" dirty="0">
                <a:solidFill>
                  <a:schemeClr val="tx1"/>
                </a:solidFill>
              </a:rPr>
              <a:t>Sejajarkan bait Aceh dan bait Indonesia dengan pemrograman dinamis</a:t>
            </a:r>
            <a:endParaRPr lang="en-US" sz="1400" dirty="0"/>
          </a:p>
        </p:txBody>
      </p:sp>
      <p:sp>
        <p:nvSpPr>
          <p:cNvPr id="19" name="Nomor langkah"/>
          <p:cNvSpPr/>
          <p:nvPr/>
        </p:nvSpPr>
        <p:spPr>
          <a:xfrm>
            <a:off x="548640" y="530352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548640" y="5303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1" name="Text 19"/>
          <p:cNvSpPr txBox="1"/>
          <p:nvPr/>
        </p:nvSpPr>
        <p:spPr>
          <a:xfrm>
            <a:off x="1234440" y="5266944"/>
            <a:ext cx="5394960" cy="640080"/>
          </a:xfrm>
          <a:prstGeom prst="rect">
            <a:avLst/>
          </a:prstGeom>
          <a:noFill/>
          <a:ln/>
        </p:spPr>
        <p:txBody>
          <a:bodyPr wrap="square" lIns="0" tIns="0" rIns="0" bIns="0" rtlCol="0" anchor="ctr"/>
          <a:lstStyle/>
          <a:p>
            <a:pPr indent="0" marL="0">
              <a:buNone/>
            </a:pPr>
            <a:r>
              <a:rPr lang="en-US" sz="1400" dirty="0">
                <a:solidFill>
                  <a:schemeClr val="tx1"/>
                </a:solidFill>
              </a:rPr>
              <a:t>Beri label KEEP atau REVIEW, tidak ada yang dihapus</a:t>
            </a:r>
            <a:endParaRPr lang="en-US" sz="1400" dirty="0"/>
          </a:p>
        </p:txBody>
      </p:sp>
      <p:sp>
        <p:nvSpPr>
          <p:cNvPr id="22" name="Kartu angka"/>
          <p:cNvSpPr/>
          <p:nvPr/>
        </p:nvSpPr>
        <p:spPr>
          <a:xfrm>
            <a:off x="7040880" y="1417320"/>
            <a:ext cx="2240280" cy="2148840"/>
          </a:xfrm>
          <a:prstGeom prst="roundRect">
            <a:avLst>
              <a:gd name="adj" fmla="val 5106"/>
            </a:avLst>
          </a:prstGeom>
          <a:solidFill>
            <a:schemeClr val="bg2"/>
          </a:solidFill>
          <a:ln w="12700">
            <a:solidFill>
              <a:schemeClr val="bg2"/>
            </a:solidFill>
            <a:prstDash val="solid"/>
          </a:ln>
        </p:spPr>
      </p:sp>
      <p:sp>
        <p:nvSpPr>
          <p:cNvPr id="23" name="Text 21"/>
          <p:cNvSpPr txBox="1"/>
          <p:nvPr/>
        </p:nvSpPr>
        <p:spPr>
          <a:xfrm>
            <a:off x="7178040" y="1600200"/>
            <a:ext cx="1965960" cy="731520"/>
          </a:xfrm>
          <a:prstGeom prst="rect">
            <a:avLst/>
          </a:prstGeom>
          <a:noFill/>
          <a:ln/>
        </p:spPr>
        <p:txBody>
          <a:bodyPr wrap="square" lIns="0" tIns="0" rIns="0" bIns="0" rtlCol="0" anchor="ctr"/>
          <a:lstStyle/>
          <a:p>
            <a:pPr indent="0" marL="0">
              <a:buNone/>
            </a:pPr>
            <a:r>
              <a:rPr lang="en-US" sz="2000" b="1" dirty="0">
                <a:solidFill>
                  <a:schemeClr val="accent1"/>
                </a:solidFill>
                <a:latin typeface="Georgia" pitchFamily="34" charset="0"/>
                <a:ea typeface="Georgia" pitchFamily="34" charset="-122"/>
                <a:cs typeface="Georgia" pitchFamily="34" charset="-120"/>
              </a:rPr>
              <a:t>11,3% → 0,8%</a:t>
            </a:r>
            <a:endParaRPr lang="en-US" sz="2000" dirty="0"/>
          </a:p>
        </p:txBody>
      </p:sp>
      <p:sp>
        <p:nvSpPr>
          <p:cNvPr id="24" name="Text 22"/>
          <p:cNvSpPr txBox="1"/>
          <p:nvPr/>
        </p:nvSpPr>
        <p:spPr>
          <a:xfrm>
            <a:off x="7178040" y="2423160"/>
            <a:ext cx="1965960" cy="1051560"/>
          </a:xfrm>
          <a:prstGeom prst="rect">
            <a:avLst/>
          </a:prstGeom>
          <a:noFill/>
          <a:ln/>
        </p:spPr>
        <p:txBody>
          <a:bodyPr wrap="square" lIns="0" tIns="0" rIns="0" bIns="0" rtlCol="0" anchor="t"/>
          <a:lstStyle/>
          <a:p>
            <a:pPr indent="0" marL="0">
              <a:buNone/>
            </a:pPr>
            <a:r>
              <a:rPr lang="en-US" sz="1200" dirty="0">
                <a:solidFill>
                  <a:schemeClr val="accent5"/>
                </a:solidFill>
              </a:rPr>
              <a:t>kata salah: teks bawaan PDF dibanding OCR kami (contoh yang diperiksa tangan)</a:t>
            </a:r>
            <a:endParaRPr lang="en-US" sz="1200" dirty="0"/>
          </a:p>
        </p:txBody>
      </p:sp>
      <p:sp>
        <p:nvSpPr>
          <p:cNvPr id="25" name="Kartu angka"/>
          <p:cNvSpPr/>
          <p:nvPr/>
        </p:nvSpPr>
        <p:spPr>
          <a:xfrm>
            <a:off x="9418320" y="1417320"/>
            <a:ext cx="2240280" cy="2148840"/>
          </a:xfrm>
          <a:prstGeom prst="roundRect">
            <a:avLst>
              <a:gd name="adj" fmla="val 5106"/>
            </a:avLst>
          </a:prstGeom>
          <a:solidFill>
            <a:schemeClr val="bg2"/>
          </a:solidFill>
          <a:ln w="12700">
            <a:solidFill>
              <a:schemeClr val="bg2"/>
            </a:solidFill>
            <a:prstDash val="solid"/>
          </a:ln>
        </p:spPr>
      </p:sp>
      <p:sp>
        <p:nvSpPr>
          <p:cNvPr id="26" name="Text 24"/>
          <p:cNvSpPr txBox="1"/>
          <p:nvPr/>
        </p:nvSpPr>
        <p:spPr>
          <a:xfrm>
            <a:off x="9555480" y="1600200"/>
            <a:ext cx="1965960" cy="73152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1.856</a:t>
            </a:r>
            <a:endParaRPr lang="en-US" sz="3000" dirty="0"/>
          </a:p>
        </p:txBody>
      </p:sp>
      <p:sp>
        <p:nvSpPr>
          <p:cNvPr id="27" name="Text 25"/>
          <p:cNvSpPr txBox="1"/>
          <p:nvPr/>
        </p:nvSpPr>
        <p:spPr>
          <a:xfrm>
            <a:off x="9555480" y="2423160"/>
            <a:ext cx="1965960" cy="1051560"/>
          </a:xfrm>
          <a:prstGeom prst="rect">
            <a:avLst/>
          </a:prstGeom>
          <a:noFill/>
          <a:ln/>
        </p:spPr>
        <p:txBody>
          <a:bodyPr wrap="square" lIns="0" tIns="0" rIns="0" bIns="0" rtlCol="0" anchor="t"/>
          <a:lstStyle/>
          <a:p>
            <a:pPr indent="0" marL="0">
              <a:buNone/>
            </a:pPr>
            <a:r>
              <a:rPr lang="en-US" sz="1200" dirty="0">
                <a:solidFill>
                  <a:schemeClr val="accent5"/>
                </a:solidFill>
              </a:rPr>
              <a:t>pasangan bait hasil penyejajaran</a:t>
            </a:r>
            <a:endParaRPr lang="en-US" sz="1200" dirty="0"/>
          </a:p>
        </p:txBody>
      </p:sp>
      <p:sp>
        <p:nvSpPr>
          <p:cNvPr id="28" name="Kartu angka"/>
          <p:cNvSpPr/>
          <p:nvPr/>
        </p:nvSpPr>
        <p:spPr>
          <a:xfrm>
            <a:off x="7040880" y="3749040"/>
            <a:ext cx="2240280" cy="2148840"/>
          </a:xfrm>
          <a:prstGeom prst="roundRect">
            <a:avLst>
              <a:gd name="adj" fmla="val 5106"/>
            </a:avLst>
          </a:prstGeom>
          <a:solidFill>
            <a:schemeClr val="bg2"/>
          </a:solidFill>
          <a:ln w="12700">
            <a:solidFill>
              <a:schemeClr val="bg2"/>
            </a:solidFill>
            <a:prstDash val="solid"/>
          </a:ln>
        </p:spPr>
      </p:sp>
      <p:sp>
        <p:nvSpPr>
          <p:cNvPr id="29" name="Text 27"/>
          <p:cNvSpPr txBox="1"/>
          <p:nvPr/>
        </p:nvSpPr>
        <p:spPr>
          <a:xfrm>
            <a:off x="7178040" y="3931920"/>
            <a:ext cx="1965960" cy="73152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1.654</a:t>
            </a:r>
            <a:endParaRPr lang="en-US" sz="3000" dirty="0"/>
          </a:p>
        </p:txBody>
      </p:sp>
      <p:sp>
        <p:nvSpPr>
          <p:cNvPr id="30" name="Text 28"/>
          <p:cNvSpPr txBox="1"/>
          <p:nvPr/>
        </p:nvSpPr>
        <p:spPr>
          <a:xfrm>
            <a:off x="7178040" y="4754880"/>
            <a:ext cx="1965960" cy="1051560"/>
          </a:xfrm>
          <a:prstGeom prst="rect">
            <a:avLst/>
          </a:prstGeom>
          <a:noFill/>
          <a:ln/>
        </p:spPr>
        <p:txBody>
          <a:bodyPr wrap="square" lIns="0" tIns="0" rIns="0" bIns="0" rtlCol="0" anchor="t"/>
          <a:lstStyle/>
          <a:p>
            <a:pPr indent="0" marL="0">
              <a:buNone/>
            </a:pPr>
            <a:r>
              <a:rPr lang="en-US" sz="1200" dirty="0">
                <a:solidFill>
                  <a:schemeClr val="accent5"/>
                </a:solidFill>
              </a:rPr>
              <a:t>pasangan berlabel KEEP (199 berlabel REVIEW)</a:t>
            </a:r>
            <a:endParaRPr lang="en-US" sz="1200" dirty="0"/>
          </a:p>
        </p:txBody>
      </p:sp>
      <p:sp>
        <p:nvSpPr>
          <p:cNvPr id="31" name="Kartu angka"/>
          <p:cNvSpPr/>
          <p:nvPr/>
        </p:nvSpPr>
        <p:spPr>
          <a:xfrm>
            <a:off x="9418320" y="3749040"/>
            <a:ext cx="2240280" cy="2148840"/>
          </a:xfrm>
          <a:prstGeom prst="roundRect">
            <a:avLst>
              <a:gd name="adj" fmla="val 5106"/>
            </a:avLst>
          </a:prstGeom>
          <a:solidFill>
            <a:schemeClr val="bg2"/>
          </a:solidFill>
          <a:ln w="12700">
            <a:solidFill>
              <a:schemeClr val="bg2"/>
            </a:solidFill>
            <a:prstDash val="solid"/>
          </a:ln>
        </p:spPr>
      </p:sp>
      <p:sp>
        <p:nvSpPr>
          <p:cNvPr id="32" name="Text 30"/>
          <p:cNvSpPr txBox="1"/>
          <p:nvPr/>
        </p:nvSpPr>
        <p:spPr>
          <a:xfrm>
            <a:off x="9555480" y="3931920"/>
            <a:ext cx="1965960" cy="73152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40 dari 40</a:t>
            </a:r>
            <a:endParaRPr lang="en-US" sz="2400" dirty="0"/>
          </a:p>
        </p:txBody>
      </p:sp>
      <p:sp>
        <p:nvSpPr>
          <p:cNvPr id="33" name="Text 31"/>
          <p:cNvSpPr txBox="1"/>
          <p:nvPr/>
        </p:nvSpPr>
        <p:spPr>
          <a:xfrm>
            <a:off x="9555480" y="4754880"/>
            <a:ext cx="1965960" cy="1051560"/>
          </a:xfrm>
          <a:prstGeom prst="rect">
            <a:avLst/>
          </a:prstGeom>
          <a:noFill/>
          <a:ln/>
        </p:spPr>
        <p:txBody>
          <a:bodyPr wrap="square" lIns="0" tIns="0" rIns="0" bIns="0" rtlCol="0" anchor="t"/>
          <a:lstStyle/>
          <a:p>
            <a:pPr indent="0" marL="0">
              <a:buNone/>
            </a:pPr>
            <a:r>
              <a:rPr lang="en-US" sz="1200" dirty="0">
                <a:solidFill>
                  <a:schemeClr val="accent5"/>
                </a:solidFill>
              </a:rPr>
              <a:t>pasangan KEEP acak yang diperiksa tangan ternyata benar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Skripsi, cerpen, dan terjemahan tim</a:t>
            </a:r>
            <a:endParaRPr lang="en-US" sz="3600" dirty="0"/>
          </a:p>
        </p:txBody>
      </p:sp>
      <p:sp>
        <p:nvSpPr>
          <p:cNvPr id="4" name="Kartu sumber"/>
          <p:cNvSpPr/>
          <p:nvPr/>
        </p:nvSpPr>
        <p:spPr>
          <a:xfrm>
            <a:off x="548640" y="1417320"/>
            <a:ext cx="3593592" cy="4754880"/>
          </a:xfrm>
          <a:prstGeom prst="roundRect">
            <a:avLst>
              <a:gd name="adj" fmla="val 3053"/>
            </a:avLst>
          </a:prstGeom>
          <a:solidFill>
            <a:schemeClr val="bg2"/>
          </a:solidFill>
          <a:ln w="12700">
            <a:solidFill>
              <a:schemeClr val="bg2"/>
            </a:solidFill>
            <a:prstDash val="solid"/>
          </a:ln>
        </p:spPr>
      </p:sp>
      <p:sp>
        <p:nvSpPr>
          <p:cNvPr id="5" name="Icon circle"/>
          <p:cNvSpPr/>
          <p:nvPr/>
        </p:nvSpPr>
        <p:spPr>
          <a:xfrm>
            <a:off x="822960" y="1645920"/>
            <a:ext cx="731520" cy="731520"/>
          </a:xfrm>
          <a:prstGeom prst="ellipse">
            <a:avLst/>
          </a:prstGeom>
          <a:solidFill>
            <a:schemeClr val="accent1"/>
          </a:solidFill>
          <a:ln w="12700">
            <a:solidFill>
              <a:schemeClr val="accent1"/>
            </a:solidFill>
            <a:prstDash val="solid"/>
          </a:ln>
        </p:spPr>
      </p:sp>
      <p:pic>
        <p:nvPicPr>
          <p:cNvPr id="6" name="Image 0" descr="BookOpen icon">    </p:cNvPr>
          <p:cNvPicPr>
            <a:picLocks noChangeAspect="1"/>
          </p:cNvPicPr>
          <p:nvPr/>
        </p:nvPicPr>
        <p:blipFill>
          <a:blip r:embed="rId1"/>
          <a:stretch>
            <a:fillRect/>
          </a:stretch>
        </p:blipFill>
        <p:spPr>
          <a:xfrm>
            <a:off x="1020470" y="1843430"/>
            <a:ext cx="336499" cy="336499"/>
          </a:xfrm>
          <a:prstGeom prst="rect">
            <a:avLst/>
          </a:prstGeom>
        </p:spPr>
      </p:pic>
      <p:sp>
        <p:nvSpPr>
          <p:cNvPr id="7" name="Text 4"/>
          <p:cNvSpPr txBox="1"/>
          <p:nvPr/>
        </p:nvSpPr>
        <p:spPr>
          <a:xfrm>
            <a:off x="1691640" y="1691640"/>
            <a:ext cx="2331720" cy="640080"/>
          </a:xfrm>
          <a:prstGeom prst="rect">
            <a:avLst/>
          </a:prstGeom>
          <a:noFill/>
          <a:ln/>
        </p:spPr>
        <p:txBody>
          <a:bodyPr wrap="square" lIns="0" tIns="0" rIns="0" bIns="0" rtlCol="0" anchor="ctr"/>
          <a:lstStyle/>
          <a:p>
            <a:pPr indent="0" marL="0">
              <a:buNone/>
            </a:pPr>
            <a:r>
              <a:rPr lang="en-US" sz="1700" b="1" dirty="0">
                <a:solidFill>
                  <a:schemeClr val="tx1"/>
                </a:solidFill>
              </a:rPr>
              <a:t>Hikayat Malik Mawot</a:t>
            </a:r>
            <a:endParaRPr lang="en-US" sz="1700" dirty="0"/>
          </a:p>
        </p:txBody>
      </p:sp>
      <p:sp>
        <p:nvSpPr>
          <p:cNvPr id="8" name="Text 5"/>
          <p:cNvSpPr txBox="1"/>
          <p:nvPr/>
        </p:nvSpPr>
        <p:spPr>
          <a:xfrm>
            <a:off x="822960" y="2651760"/>
            <a:ext cx="1554480" cy="640080"/>
          </a:xfrm>
          <a:prstGeom prst="rect">
            <a:avLst/>
          </a:prstGeom>
          <a:noFill/>
          <a:ln/>
        </p:spPr>
        <p:txBody>
          <a:bodyPr wrap="square" lIns="0" tIns="0" rIns="0" bIns="0" rtlCol="0" anchor="ctr"/>
          <a:lstStyle/>
          <a:p>
            <a:pPr indent="0" marL="0">
              <a:buNone/>
            </a:pPr>
            <a:r>
              <a:rPr lang="en-US" sz="3200" b="1" dirty="0">
                <a:solidFill>
                  <a:schemeClr val="accent5"/>
                </a:solidFill>
                <a:latin typeface="Georgia" pitchFamily="34" charset="0"/>
                <a:ea typeface="Georgia" pitchFamily="34" charset="-122"/>
                <a:cs typeface="Georgia" pitchFamily="34" charset="-120"/>
              </a:rPr>
              <a:t>1.030</a:t>
            </a:r>
            <a:endParaRPr lang="en-US" sz="3200" dirty="0"/>
          </a:p>
        </p:txBody>
      </p:sp>
      <p:sp>
        <p:nvSpPr>
          <p:cNvPr id="9" name="Text 6"/>
          <p:cNvSpPr txBox="1"/>
          <p:nvPr/>
        </p:nvSpPr>
        <p:spPr>
          <a:xfrm>
            <a:off x="2377440" y="2651760"/>
            <a:ext cx="1600200" cy="640080"/>
          </a:xfrm>
          <a:prstGeom prst="rect">
            <a:avLst/>
          </a:prstGeom>
          <a:noFill/>
          <a:ln/>
        </p:spPr>
        <p:txBody>
          <a:bodyPr wrap="square" lIns="0" tIns="0" rIns="0" bIns="0" rtlCol="0" anchor="ctr"/>
          <a:lstStyle/>
          <a:p>
            <a:pPr indent="0" marL="0">
              <a:buNone/>
            </a:pPr>
            <a:r>
              <a:rPr lang="en-US" sz="1200" dirty="0">
                <a:solidFill>
                  <a:schemeClr val="accent5"/>
                </a:solidFill>
              </a:rPr>
              <a:t>baris syair dan terjemahan</a:t>
            </a:r>
            <a:endParaRPr lang="en-US" sz="1200" dirty="0"/>
          </a:p>
        </p:txBody>
      </p:sp>
      <p:sp>
        <p:nvSpPr>
          <p:cNvPr id="10" name="Text 7"/>
          <p:cNvSpPr txBox="1"/>
          <p:nvPr/>
        </p:nvSpPr>
        <p:spPr>
          <a:xfrm>
            <a:off x="822960" y="3611880"/>
            <a:ext cx="1554480" cy="640080"/>
          </a:xfrm>
          <a:prstGeom prst="rect">
            <a:avLst/>
          </a:prstGeom>
          <a:noFill/>
          <a:ln/>
        </p:spPr>
        <p:txBody>
          <a:bodyPr wrap="square" lIns="0" tIns="0" rIns="0" bIns="0" rtlCol="0" anchor="ctr"/>
          <a:lstStyle/>
          <a:p>
            <a:pPr indent="0" marL="0">
              <a:buNone/>
            </a:pPr>
            <a:r>
              <a:rPr lang="en-US" sz="3200" b="1" dirty="0">
                <a:solidFill>
                  <a:schemeClr val="accent1"/>
                </a:solidFill>
                <a:latin typeface="Georgia" pitchFamily="34" charset="0"/>
                <a:ea typeface="Georgia" pitchFamily="34" charset="-122"/>
                <a:cs typeface="Georgia" pitchFamily="34" charset="-120"/>
              </a:rPr>
              <a:t>350</a:t>
            </a:r>
            <a:endParaRPr lang="en-US" sz="3200" dirty="0"/>
          </a:p>
        </p:txBody>
      </p:sp>
      <p:sp>
        <p:nvSpPr>
          <p:cNvPr id="11" name="Text 8"/>
          <p:cNvSpPr txBox="1"/>
          <p:nvPr/>
        </p:nvSpPr>
        <p:spPr>
          <a:xfrm>
            <a:off x="2377440" y="3611880"/>
            <a:ext cx="1600200" cy="640080"/>
          </a:xfrm>
          <a:prstGeom prst="rect">
            <a:avLst/>
          </a:prstGeom>
          <a:noFill/>
          <a:ln/>
        </p:spPr>
        <p:txBody>
          <a:bodyPr wrap="square" lIns="0" tIns="0" rIns="0" bIns="0" rtlCol="0" anchor="ctr"/>
          <a:lstStyle/>
          <a:p>
            <a:pPr indent="0" marL="0">
              <a:buNone/>
            </a:pPr>
            <a:r>
              <a:rPr lang="en-US" sz="1200" dirty="0">
                <a:solidFill>
                  <a:schemeClr val="accent5"/>
                </a:solidFill>
              </a:rPr>
              <a:t>pasangan dipakai</a:t>
            </a:r>
            <a:endParaRPr lang="en-US" sz="1200" dirty="0"/>
          </a:p>
        </p:txBody>
      </p:sp>
      <p:sp>
        <p:nvSpPr>
          <p:cNvPr id="12" name="Text 9"/>
          <p:cNvSpPr txBox="1"/>
          <p:nvPr/>
        </p:nvSpPr>
        <p:spPr>
          <a:xfrm>
            <a:off x="822960" y="4754880"/>
            <a:ext cx="3063240" cy="1280160"/>
          </a:xfrm>
          <a:prstGeom prst="rect">
            <a:avLst/>
          </a:prstGeom>
          <a:noFill/>
          <a:ln/>
        </p:spPr>
        <p:txBody>
          <a:bodyPr wrap="square" lIns="0" tIns="0" rIns="0" bIns="0" rtlCol="0" anchor="t"/>
          <a:lstStyle/>
          <a:p>
            <a:pPr indent="0" marL="0">
              <a:buNone/>
            </a:pPr>
            <a:r>
              <a:rPr lang="en-US" sz="1400" dirty="0">
                <a:solidFill>
                  <a:schemeClr val="tx1"/>
                </a:solidFill>
              </a:rPr>
              <a:t>Catatan kaki dibuang. Tiap pasangan diperiksa kemiripan baris dan bahasa Acehnya.</a:t>
            </a:r>
            <a:endParaRPr lang="en-US" sz="1400" dirty="0"/>
          </a:p>
        </p:txBody>
      </p:sp>
      <p:sp>
        <p:nvSpPr>
          <p:cNvPr id="13" name="Kartu sumber"/>
          <p:cNvSpPr/>
          <p:nvPr/>
        </p:nvSpPr>
        <p:spPr>
          <a:xfrm>
            <a:off x="4297680" y="1417320"/>
            <a:ext cx="3593592" cy="4754880"/>
          </a:xfrm>
          <a:prstGeom prst="roundRect">
            <a:avLst>
              <a:gd name="adj" fmla="val 3053"/>
            </a:avLst>
          </a:prstGeom>
          <a:solidFill>
            <a:schemeClr val="bg2"/>
          </a:solidFill>
          <a:ln w="12700">
            <a:solidFill>
              <a:schemeClr val="bg2"/>
            </a:solidFill>
            <a:prstDash val="solid"/>
          </a:ln>
        </p:spPr>
      </p:sp>
      <p:sp>
        <p:nvSpPr>
          <p:cNvPr id="14" name="Icon circle"/>
          <p:cNvSpPr/>
          <p:nvPr/>
        </p:nvSpPr>
        <p:spPr>
          <a:xfrm>
            <a:off x="4572000" y="1645920"/>
            <a:ext cx="731520" cy="731520"/>
          </a:xfrm>
          <a:prstGeom prst="ellipse">
            <a:avLst/>
          </a:prstGeom>
          <a:solidFill>
            <a:schemeClr val="accent1"/>
          </a:solidFill>
          <a:ln w="12700">
            <a:solidFill>
              <a:schemeClr val="accent1"/>
            </a:solidFill>
            <a:prstDash val="solid"/>
          </a:ln>
        </p:spPr>
      </p:sp>
      <p:pic>
        <p:nvPicPr>
          <p:cNvPr id="15" name="Image 1" descr="ListOl icon">    </p:cNvPr>
          <p:cNvPicPr>
            <a:picLocks noChangeAspect="1"/>
          </p:cNvPicPr>
          <p:nvPr/>
        </p:nvPicPr>
        <p:blipFill>
          <a:blip r:embed="rId2"/>
          <a:stretch>
            <a:fillRect/>
          </a:stretch>
        </p:blipFill>
        <p:spPr>
          <a:xfrm>
            <a:off x="4769510" y="1843430"/>
            <a:ext cx="336499" cy="336499"/>
          </a:xfrm>
          <a:prstGeom prst="rect">
            <a:avLst/>
          </a:prstGeom>
        </p:spPr>
      </p:pic>
      <p:sp>
        <p:nvSpPr>
          <p:cNvPr id="16" name="Text 12"/>
          <p:cNvSpPr txBox="1"/>
          <p:nvPr/>
        </p:nvSpPr>
        <p:spPr>
          <a:xfrm>
            <a:off x="5440680" y="1691640"/>
            <a:ext cx="2331720" cy="640080"/>
          </a:xfrm>
          <a:prstGeom prst="rect">
            <a:avLst/>
          </a:prstGeom>
          <a:noFill/>
          <a:ln/>
        </p:spPr>
        <p:txBody>
          <a:bodyPr wrap="square" lIns="0" tIns="0" rIns="0" bIns="0" rtlCol="0" anchor="ctr"/>
          <a:lstStyle/>
          <a:p>
            <a:pPr indent="0" marL="0">
              <a:buNone/>
            </a:pPr>
            <a:r>
              <a:rPr lang="en-US" sz="1700" b="1" dirty="0">
                <a:solidFill>
                  <a:schemeClr val="tx1"/>
                </a:solidFill>
              </a:rPr>
              <a:t>Berkas tim (Andrie)</a:t>
            </a:r>
            <a:endParaRPr lang="en-US" sz="1700" dirty="0"/>
          </a:p>
        </p:txBody>
      </p:sp>
      <p:sp>
        <p:nvSpPr>
          <p:cNvPr id="17" name="Text 13"/>
          <p:cNvSpPr txBox="1"/>
          <p:nvPr/>
        </p:nvSpPr>
        <p:spPr>
          <a:xfrm>
            <a:off x="4572000" y="2651760"/>
            <a:ext cx="1554480" cy="640080"/>
          </a:xfrm>
          <a:prstGeom prst="rect">
            <a:avLst/>
          </a:prstGeom>
          <a:noFill/>
          <a:ln/>
        </p:spPr>
        <p:txBody>
          <a:bodyPr wrap="square" lIns="0" tIns="0" rIns="0" bIns="0" rtlCol="0" anchor="ctr"/>
          <a:lstStyle/>
          <a:p>
            <a:pPr indent="0" marL="0">
              <a:buNone/>
            </a:pPr>
            <a:r>
              <a:rPr lang="en-US" sz="3200" b="1" dirty="0">
                <a:solidFill>
                  <a:schemeClr val="accent5"/>
                </a:solidFill>
                <a:latin typeface="Georgia" pitchFamily="34" charset="0"/>
                <a:ea typeface="Georgia" pitchFamily="34" charset="-122"/>
                <a:cs typeface="Georgia" pitchFamily="34" charset="-120"/>
              </a:rPr>
              <a:t>5.000</a:t>
            </a:r>
            <a:endParaRPr lang="en-US" sz="3200" dirty="0"/>
          </a:p>
        </p:txBody>
      </p:sp>
      <p:sp>
        <p:nvSpPr>
          <p:cNvPr id="18" name="Text 14"/>
          <p:cNvSpPr txBox="1"/>
          <p:nvPr/>
        </p:nvSpPr>
        <p:spPr>
          <a:xfrm>
            <a:off x="6126480" y="2651760"/>
            <a:ext cx="1600200" cy="640080"/>
          </a:xfrm>
          <a:prstGeom prst="rect">
            <a:avLst/>
          </a:prstGeom>
          <a:noFill/>
          <a:ln/>
        </p:spPr>
        <p:txBody>
          <a:bodyPr wrap="square" lIns="0" tIns="0" rIns="0" bIns="0" rtlCol="0" anchor="ctr"/>
          <a:lstStyle/>
          <a:p>
            <a:pPr indent="0" marL="0">
              <a:buNone/>
            </a:pPr>
            <a:r>
              <a:rPr lang="en-US" sz="1200" dirty="0">
                <a:solidFill>
                  <a:schemeClr val="accent5"/>
                </a:solidFill>
              </a:rPr>
              <a:t>baris diterima</a:t>
            </a:r>
            <a:endParaRPr lang="en-US" sz="1200" dirty="0"/>
          </a:p>
        </p:txBody>
      </p:sp>
      <p:sp>
        <p:nvSpPr>
          <p:cNvPr id="19" name="Text 15"/>
          <p:cNvSpPr txBox="1"/>
          <p:nvPr/>
        </p:nvSpPr>
        <p:spPr>
          <a:xfrm>
            <a:off x="4572000" y="3611880"/>
            <a:ext cx="1554480" cy="640080"/>
          </a:xfrm>
          <a:prstGeom prst="rect">
            <a:avLst/>
          </a:prstGeom>
          <a:noFill/>
          <a:ln/>
        </p:spPr>
        <p:txBody>
          <a:bodyPr wrap="square" lIns="0" tIns="0" rIns="0" bIns="0" rtlCol="0" anchor="ctr"/>
          <a:lstStyle/>
          <a:p>
            <a:pPr indent="0" marL="0">
              <a:buNone/>
            </a:pPr>
            <a:r>
              <a:rPr lang="en-US" sz="3200" b="1" dirty="0">
                <a:solidFill>
                  <a:schemeClr val="accent1"/>
                </a:solidFill>
                <a:latin typeface="Georgia" pitchFamily="34" charset="0"/>
                <a:ea typeface="Georgia" pitchFamily="34" charset="-122"/>
                <a:cs typeface="Georgia" pitchFamily="34" charset="-120"/>
              </a:rPr>
              <a:t>2.798</a:t>
            </a:r>
            <a:endParaRPr lang="en-US" sz="3200" dirty="0"/>
          </a:p>
        </p:txBody>
      </p:sp>
      <p:sp>
        <p:nvSpPr>
          <p:cNvPr id="20" name="Text 16"/>
          <p:cNvSpPr txBox="1"/>
          <p:nvPr/>
        </p:nvSpPr>
        <p:spPr>
          <a:xfrm>
            <a:off x="6126480" y="3611880"/>
            <a:ext cx="1600200" cy="640080"/>
          </a:xfrm>
          <a:prstGeom prst="rect">
            <a:avLst/>
          </a:prstGeom>
          <a:noFill/>
          <a:ln/>
        </p:spPr>
        <p:txBody>
          <a:bodyPr wrap="square" lIns="0" tIns="0" rIns="0" bIns="0" rtlCol="0" anchor="ctr"/>
          <a:lstStyle/>
          <a:p>
            <a:pPr indent="0" marL="0">
              <a:buNone/>
            </a:pPr>
            <a:r>
              <a:rPr lang="en-US" sz="1200" dirty="0">
                <a:solidFill>
                  <a:schemeClr val="accent5"/>
                </a:solidFill>
              </a:rPr>
              <a:t>pasangan setelah dibersihkan</a:t>
            </a:r>
            <a:endParaRPr lang="en-US" sz="1200" dirty="0"/>
          </a:p>
        </p:txBody>
      </p:sp>
      <p:sp>
        <p:nvSpPr>
          <p:cNvPr id="21" name="Text 17"/>
          <p:cNvSpPr txBox="1"/>
          <p:nvPr/>
        </p:nvSpPr>
        <p:spPr>
          <a:xfrm>
            <a:off x="4572000" y="4754880"/>
            <a:ext cx="3063240" cy="1280160"/>
          </a:xfrm>
          <a:prstGeom prst="rect">
            <a:avLst/>
          </a:prstGeom>
          <a:noFill/>
          <a:ln/>
        </p:spPr>
        <p:txBody>
          <a:bodyPr wrap="square" lIns="0" tIns="0" rIns="0" bIns="0" rtlCol="0" anchor="t"/>
          <a:lstStyle/>
          <a:p>
            <a:pPr indent="0" marL="0">
              <a:buNone/>
            </a:pPr>
            <a:r>
              <a:rPr lang="en-US" sz="1400" dirty="0">
                <a:solidFill>
                  <a:schemeClr val="tx1"/>
                </a:solidFill>
              </a:rPr>
              <a:t>Baris dengan galat OCR berat, tanpa terjemahan, atau sama dengan set uji dibuang.</a:t>
            </a:r>
            <a:endParaRPr lang="en-US" sz="1400" dirty="0"/>
          </a:p>
        </p:txBody>
      </p:sp>
      <p:sp>
        <p:nvSpPr>
          <p:cNvPr id="22" name="Kartu sumber"/>
          <p:cNvSpPr/>
          <p:nvPr/>
        </p:nvSpPr>
        <p:spPr>
          <a:xfrm>
            <a:off x="8046720" y="1417320"/>
            <a:ext cx="3593592" cy="4754880"/>
          </a:xfrm>
          <a:prstGeom prst="roundRect">
            <a:avLst>
              <a:gd name="adj" fmla="val 3053"/>
            </a:avLst>
          </a:prstGeom>
          <a:solidFill>
            <a:schemeClr val="bg2"/>
          </a:solidFill>
          <a:ln w="12700">
            <a:solidFill>
              <a:schemeClr val="bg2"/>
            </a:solidFill>
            <a:prstDash val="solid"/>
          </a:ln>
        </p:spPr>
      </p:sp>
      <p:sp>
        <p:nvSpPr>
          <p:cNvPr id="23" name="Icon circle"/>
          <p:cNvSpPr/>
          <p:nvPr/>
        </p:nvSpPr>
        <p:spPr>
          <a:xfrm>
            <a:off x="8321040" y="1645920"/>
            <a:ext cx="731520" cy="731520"/>
          </a:xfrm>
          <a:prstGeom prst="ellipse">
            <a:avLst/>
          </a:prstGeom>
          <a:solidFill>
            <a:schemeClr val="accent1"/>
          </a:solidFill>
          <a:ln w="12700">
            <a:solidFill>
              <a:schemeClr val="accent1"/>
            </a:solidFill>
            <a:prstDash val="solid"/>
          </a:ln>
        </p:spPr>
      </p:sp>
      <p:pic>
        <p:nvPicPr>
          <p:cNvPr id="24" name="Image 2" descr="FileAlt icon">    </p:cNvPr>
          <p:cNvPicPr>
            <a:picLocks noChangeAspect="1"/>
          </p:cNvPicPr>
          <p:nvPr/>
        </p:nvPicPr>
        <p:blipFill>
          <a:blip r:embed="rId3"/>
          <a:stretch>
            <a:fillRect/>
          </a:stretch>
        </p:blipFill>
        <p:spPr>
          <a:xfrm>
            <a:off x="8518550" y="1843430"/>
            <a:ext cx="336499" cy="336499"/>
          </a:xfrm>
          <a:prstGeom prst="rect">
            <a:avLst/>
          </a:prstGeom>
        </p:spPr>
      </p:pic>
      <p:sp>
        <p:nvSpPr>
          <p:cNvPr id="25" name="Text 20"/>
          <p:cNvSpPr txBox="1"/>
          <p:nvPr/>
        </p:nvSpPr>
        <p:spPr>
          <a:xfrm>
            <a:off x="9189720" y="1691640"/>
            <a:ext cx="2331720" cy="640080"/>
          </a:xfrm>
          <a:prstGeom prst="rect">
            <a:avLst/>
          </a:prstGeom>
          <a:noFill/>
          <a:ln/>
        </p:spPr>
        <p:txBody>
          <a:bodyPr wrap="square" lIns="0" tIns="0" rIns="0" bIns="0" rtlCol="0" anchor="ctr"/>
          <a:lstStyle/>
          <a:p>
            <a:pPr indent="0" marL="0">
              <a:buNone/>
            </a:pPr>
            <a:r>
              <a:rPr lang="en-US" sz="1700" b="1" dirty="0">
                <a:solidFill>
                  <a:schemeClr val="tx1"/>
                </a:solidFill>
              </a:rPr>
              <a:t>Lima cerpen</a:t>
            </a:r>
            <a:endParaRPr lang="en-US" sz="1700" dirty="0"/>
          </a:p>
        </p:txBody>
      </p:sp>
      <p:sp>
        <p:nvSpPr>
          <p:cNvPr id="26" name="Text 21"/>
          <p:cNvSpPr txBox="1"/>
          <p:nvPr/>
        </p:nvSpPr>
        <p:spPr>
          <a:xfrm>
            <a:off x="8321040" y="2651760"/>
            <a:ext cx="1554480" cy="640080"/>
          </a:xfrm>
          <a:prstGeom prst="rect">
            <a:avLst/>
          </a:prstGeom>
          <a:noFill/>
          <a:ln/>
        </p:spPr>
        <p:txBody>
          <a:bodyPr wrap="square" lIns="0" tIns="0" rIns="0" bIns="0" rtlCol="0" anchor="ctr"/>
          <a:lstStyle/>
          <a:p>
            <a:pPr indent="0" marL="0">
              <a:buNone/>
            </a:pPr>
            <a:r>
              <a:rPr lang="en-US" sz="3200" b="1" dirty="0">
                <a:solidFill>
                  <a:schemeClr val="accent5"/>
                </a:solidFill>
                <a:latin typeface="Georgia" pitchFamily="34" charset="0"/>
                <a:ea typeface="Georgia" pitchFamily="34" charset="-122"/>
                <a:cs typeface="Georgia" pitchFamily="34" charset="-120"/>
              </a:rPr>
              <a:t>103</a:t>
            </a:r>
            <a:endParaRPr lang="en-US" sz="3200" dirty="0"/>
          </a:p>
        </p:txBody>
      </p:sp>
      <p:sp>
        <p:nvSpPr>
          <p:cNvPr id="27" name="Text 22"/>
          <p:cNvSpPr txBox="1"/>
          <p:nvPr/>
        </p:nvSpPr>
        <p:spPr>
          <a:xfrm>
            <a:off x="9875520" y="2651760"/>
            <a:ext cx="1600200" cy="640080"/>
          </a:xfrm>
          <a:prstGeom prst="rect">
            <a:avLst/>
          </a:prstGeom>
          <a:noFill/>
          <a:ln/>
        </p:spPr>
        <p:txBody>
          <a:bodyPr wrap="square" lIns="0" tIns="0" rIns="0" bIns="0" rtlCol="0" anchor="ctr"/>
          <a:lstStyle/>
          <a:p>
            <a:pPr indent="0" marL="0">
              <a:buNone/>
            </a:pPr>
            <a:r>
              <a:rPr lang="en-US" sz="1200" dirty="0">
                <a:solidFill>
                  <a:schemeClr val="accent5"/>
                </a:solidFill>
              </a:rPr>
              <a:t>pasangan kalimat bernomor</a:t>
            </a:r>
            <a:endParaRPr lang="en-US" sz="1200" dirty="0"/>
          </a:p>
        </p:txBody>
      </p:sp>
      <p:sp>
        <p:nvSpPr>
          <p:cNvPr id="28" name="Text 23"/>
          <p:cNvSpPr txBox="1"/>
          <p:nvPr/>
        </p:nvSpPr>
        <p:spPr>
          <a:xfrm>
            <a:off x="8321040" y="3611880"/>
            <a:ext cx="1554480" cy="640080"/>
          </a:xfrm>
          <a:prstGeom prst="rect">
            <a:avLst/>
          </a:prstGeom>
          <a:noFill/>
          <a:ln/>
        </p:spPr>
        <p:txBody>
          <a:bodyPr wrap="square" lIns="0" tIns="0" rIns="0" bIns="0" rtlCol="0" anchor="ctr"/>
          <a:lstStyle/>
          <a:p>
            <a:pPr indent="0" marL="0">
              <a:buNone/>
            </a:pPr>
            <a:r>
              <a:rPr lang="en-US" sz="3200" b="1" dirty="0">
                <a:solidFill>
                  <a:schemeClr val="accent1"/>
                </a:solidFill>
                <a:latin typeface="Georgia" pitchFamily="34" charset="0"/>
                <a:ea typeface="Georgia" pitchFamily="34" charset="-122"/>
                <a:cs typeface="Georgia" pitchFamily="34" charset="-120"/>
              </a:rPr>
              <a:t>96</a:t>
            </a:r>
            <a:endParaRPr lang="en-US" sz="3200" dirty="0"/>
          </a:p>
        </p:txBody>
      </p:sp>
      <p:sp>
        <p:nvSpPr>
          <p:cNvPr id="29" name="Text 24"/>
          <p:cNvSpPr txBox="1"/>
          <p:nvPr/>
        </p:nvSpPr>
        <p:spPr>
          <a:xfrm>
            <a:off x="9875520" y="3611880"/>
            <a:ext cx="1600200" cy="640080"/>
          </a:xfrm>
          <a:prstGeom prst="rect">
            <a:avLst/>
          </a:prstGeom>
          <a:noFill/>
          <a:ln/>
        </p:spPr>
        <p:txBody>
          <a:bodyPr wrap="square" lIns="0" tIns="0" rIns="0" bIns="0" rtlCol="0" anchor="ctr"/>
          <a:lstStyle/>
          <a:p>
            <a:pPr indent="0" marL="0">
              <a:buNone/>
            </a:pPr>
            <a:r>
              <a:rPr lang="en-US" sz="1200" dirty="0">
                <a:solidFill>
                  <a:schemeClr val="accent5"/>
                </a:solidFill>
              </a:rPr>
              <a:t>pasangan dipakai</a:t>
            </a:r>
            <a:endParaRPr lang="en-US" sz="1200" dirty="0"/>
          </a:p>
        </p:txBody>
      </p:sp>
      <p:sp>
        <p:nvSpPr>
          <p:cNvPr id="30" name="Text 25"/>
          <p:cNvSpPr txBox="1"/>
          <p:nvPr/>
        </p:nvSpPr>
        <p:spPr>
          <a:xfrm>
            <a:off x="8321040" y="4754880"/>
            <a:ext cx="3063240" cy="1280160"/>
          </a:xfrm>
          <a:prstGeom prst="rect">
            <a:avLst/>
          </a:prstGeom>
          <a:noFill/>
          <a:ln/>
        </p:spPr>
        <p:txBody>
          <a:bodyPr wrap="square" lIns="0" tIns="0" rIns="0" bIns="0" rtlCol="0" anchor="t"/>
          <a:lstStyle/>
          <a:p>
            <a:pPr indent="0" marL="0">
              <a:buNone/>
            </a:pPr>
            <a:r>
              <a:rPr lang="en-US" sz="1400" dirty="0">
                <a:solidFill>
                  <a:schemeClr val="tx1"/>
                </a:solidFill>
              </a:rPr>
              <a:t>Tabel sudah disejajarkan manusia. Baris yang terlalu pendek atau kurang jelas dibuang.</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AUGMENTASI 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Terjemahan pivot: ± 5.700 pasangan</a:t>
            </a:r>
            <a:endParaRPr lang="en-US" sz="3600" dirty="0"/>
          </a:p>
        </p:txBody>
      </p:sp>
      <p:sp>
        <p:nvSpPr>
          <p:cNvPr id="4" name="Kotak alur"/>
          <p:cNvSpPr/>
          <p:nvPr/>
        </p:nvSpPr>
        <p:spPr>
          <a:xfrm>
            <a:off x="548640" y="1508760"/>
            <a:ext cx="2560320" cy="1737360"/>
          </a:xfrm>
          <a:prstGeom prst="roundRect">
            <a:avLst>
              <a:gd name="adj" fmla="val 6316"/>
            </a:avLst>
          </a:prstGeom>
          <a:solidFill>
            <a:srgbClr val="0D9488"/>
          </a:solidFill>
          <a:ln w="12700">
            <a:solidFill>
              <a:srgbClr val="0D9488"/>
            </a:solidFill>
            <a:prstDash val="solid"/>
          </a:ln>
        </p:spPr>
      </p:sp>
      <p:sp>
        <p:nvSpPr>
          <p:cNvPr id="5" name="Text 3"/>
          <p:cNvSpPr txBox="1"/>
          <p:nvPr/>
        </p:nvSpPr>
        <p:spPr>
          <a:xfrm>
            <a:off x="685800" y="1645920"/>
            <a:ext cx="2286000" cy="640080"/>
          </a:xfrm>
          <a:prstGeom prst="rect">
            <a:avLst/>
          </a:prstGeom>
          <a:noFill/>
          <a:ln/>
        </p:spPr>
        <p:txBody>
          <a:bodyPr wrap="square" lIns="0" tIns="0" rIns="0" bIns="0" rtlCol="0" anchor="ctr"/>
          <a:lstStyle/>
          <a:p>
            <a:pPr indent="0" marL="0">
              <a:buNone/>
            </a:pPr>
            <a:r>
              <a:rPr lang="en-US" sz="1600" b="1" dirty="0">
                <a:solidFill>
                  <a:srgbClr val="FFFFFF"/>
                </a:solidFill>
              </a:rPr>
              <a:t>Bahasa Aceh</a:t>
            </a:r>
            <a:endParaRPr lang="en-US" sz="1600" dirty="0"/>
          </a:p>
        </p:txBody>
      </p:sp>
      <p:sp>
        <p:nvSpPr>
          <p:cNvPr id="6" name="Text 4"/>
          <p:cNvSpPr txBox="1"/>
          <p:nvPr/>
        </p:nvSpPr>
        <p:spPr>
          <a:xfrm>
            <a:off x="685800" y="2286000"/>
            <a:ext cx="2286000" cy="868680"/>
          </a:xfrm>
          <a:prstGeom prst="rect">
            <a:avLst/>
          </a:prstGeom>
          <a:noFill/>
          <a:ln/>
        </p:spPr>
        <p:txBody>
          <a:bodyPr wrap="square" lIns="0" tIns="0" rIns="0" bIns="0" rtlCol="0" anchor="t"/>
          <a:lstStyle/>
          <a:p>
            <a:pPr indent="0" marL="0">
              <a:buNone/>
            </a:pPr>
            <a:r>
              <a:rPr lang="en-US" sz="1200" dirty="0">
                <a:solidFill>
                  <a:srgbClr val="FFFFFF"/>
                </a:solidFill>
              </a:rPr>
              <a:t>6.193 kalimat buatan manusia (NLLB-Seed)</a:t>
            </a:r>
            <a:endParaRPr lang="en-US" sz="1200" dirty="0"/>
          </a:p>
        </p:txBody>
      </p:sp>
      <p:sp>
        <p:nvSpPr>
          <p:cNvPr id="7" name="Flow arrow"/>
          <p:cNvSpPr/>
          <p:nvPr/>
        </p:nvSpPr>
        <p:spPr>
          <a:xfrm>
            <a:off x="3118104" y="2240280"/>
            <a:ext cx="201168" cy="256032"/>
          </a:xfrm>
          <a:prstGeom prst="rightArrow">
            <a:avLst/>
          </a:prstGeom>
          <a:solidFill>
            <a:schemeClr val="accent1"/>
          </a:solidFill>
          <a:ln w="12700">
            <a:solidFill>
              <a:schemeClr val="accent1"/>
            </a:solidFill>
            <a:prstDash val="solid"/>
          </a:ln>
        </p:spPr>
      </p:sp>
      <p:sp>
        <p:nvSpPr>
          <p:cNvPr id="8" name="Kotak alur"/>
          <p:cNvSpPr/>
          <p:nvPr/>
        </p:nvSpPr>
        <p:spPr>
          <a:xfrm>
            <a:off x="3383280" y="1508760"/>
            <a:ext cx="2560320" cy="1737360"/>
          </a:xfrm>
          <a:prstGeom prst="roundRect">
            <a:avLst>
              <a:gd name="adj" fmla="val 6316"/>
            </a:avLst>
          </a:prstGeom>
          <a:solidFill>
            <a:srgbClr val="4F6F7A"/>
          </a:solidFill>
          <a:ln w="12700">
            <a:solidFill>
              <a:srgbClr val="4F6F7A"/>
            </a:solidFill>
            <a:prstDash val="solid"/>
          </a:ln>
        </p:spPr>
      </p:sp>
      <p:sp>
        <p:nvSpPr>
          <p:cNvPr id="9" name="Text 7"/>
          <p:cNvSpPr txBox="1"/>
          <p:nvPr/>
        </p:nvSpPr>
        <p:spPr>
          <a:xfrm>
            <a:off x="3520440" y="1645920"/>
            <a:ext cx="2286000" cy="640080"/>
          </a:xfrm>
          <a:prstGeom prst="rect">
            <a:avLst/>
          </a:prstGeom>
          <a:noFill/>
          <a:ln/>
        </p:spPr>
        <p:txBody>
          <a:bodyPr wrap="square" lIns="0" tIns="0" rIns="0" bIns="0" rtlCol="0" anchor="ctr"/>
          <a:lstStyle/>
          <a:p>
            <a:pPr indent="0" marL="0">
              <a:buNone/>
            </a:pPr>
            <a:r>
              <a:rPr lang="en-US" sz="1600" b="1" dirty="0">
                <a:solidFill>
                  <a:srgbClr val="FFFFFF"/>
                </a:solidFill>
              </a:rPr>
              <a:t>Bahasa Inggris</a:t>
            </a:r>
            <a:endParaRPr lang="en-US" sz="1600" dirty="0"/>
          </a:p>
        </p:txBody>
      </p:sp>
      <p:sp>
        <p:nvSpPr>
          <p:cNvPr id="10" name="Text 8"/>
          <p:cNvSpPr txBox="1"/>
          <p:nvPr/>
        </p:nvSpPr>
        <p:spPr>
          <a:xfrm>
            <a:off x="3520440" y="2286000"/>
            <a:ext cx="2286000" cy="868680"/>
          </a:xfrm>
          <a:prstGeom prst="rect">
            <a:avLst/>
          </a:prstGeom>
          <a:noFill/>
          <a:ln/>
        </p:spPr>
        <p:txBody>
          <a:bodyPr wrap="square" lIns="0" tIns="0" rIns="0" bIns="0" rtlCol="0" anchor="t"/>
          <a:lstStyle/>
          <a:p>
            <a:pPr indent="0" marL="0">
              <a:buNone/>
            </a:pPr>
            <a:r>
              <a:rPr lang="en-US" sz="1200" dirty="0">
                <a:solidFill>
                  <a:srgbClr val="FFFFFF"/>
                </a:solidFill>
              </a:rPr>
              <a:t>Arti yang sama, dari dataset yang sama</a:t>
            </a:r>
            <a:endParaRPr lang="en-US" sz="1200" dirty="0"/>
          </a:p>
        </p:txBody>
      </p:sp>
      <p:sp>
        <p:nvSpPr>
          <p:cNvPr id="11" name="Flow arrow"/>
          <p:cNvSpPr/>
          <p:nvPr/>
        </p:nvSpPr>
        <p:spPr>
          <a:xfrm>
            <a:off x="5952744" y="2240280"/>
            <a:ext cx="201168" cy="256032"/>
          </a:xfrm>
          <a:prstGeom prst="rightArrow">
            <a:avLst/>
          </a:prstGeom>
          <a:solidFill>
            <a:schemeClr val="accent1"/>
          </a:solidFill>
          <a:ln w="12700">
            <a:solidFill>
              <a:schemeClr val="accent1"/>
            </a:solidFill>
            <a:prstDash val="solid"/>
          </a:ln>
        </p:spPr>
      </p:sp>
      <p:sp>
        <p:nvSpPr>
          <p:cNvPr id="12" name="Kotak alur"/>
          <p:cNvSpPr/>
          <p:nvPr/>
        </p:nvSpPr>
        <p:spPr>
          <a:xfrm>
            <a:off x="6217920" y="1508760"/>
            <a:ext cx="2560320" cy="1737360"/>
          </a:xfrm>
          <a:prstGeom prst="roundRect">
            <a:avLst>
              <a:gd name="adj" fmla="val 6316"/>
            </a:avLst>
          </a:prstGeom>
          <a:solidFill>
            <a:srgbClr val="0B3C49"/>
          </a:solidFill>
          <a:ln w="12700">
            <a:solidFill>
              <a:srgbClr val="0B3C49"/>
            </a:solidFill>
            <a:prstDash val="solid"/>
          </a:ln>
        </p:spPr>
      </p:sp>
      <p:sp>
        <p:nvSpPr>
          <p:cNvPr id="13" name="Text 11"/>
          <p:cNvSpPr txBox="1"/>
          <p:nvPr/>
        </p:nvSpPr>
        <p:spPr>
          <a:xfrm>
            <a:off x="6355080" y="1645920"/>
            <a:ext cx="2286000" cy="640080"/>
          </a:xfrm>
          <a:prstGeom prst="rect">
            <a:avLst/>
          </a:prstGeom>
          <a:noFill/>
          <a:ln/>
        </p:spPr>
        <p:txBody>
          <a:bodyPr wrap="square" lIns="0" tIns="0" rIns="0" bIns="0" rtlCol="0" anchor="ctr"/>
          <a:lstStyle/>
          <a:p>
            <a:pPr indent="0" marL="0">
              <a:buNone/>
            </a:pPr>
            <a:r>
              <a:rPr lang="en-US" sz="1600" b="1" dirty="0">
                <a:solidFill>
                  <a:srgbClr val="FFFFFF"/>
                </a:solidFill>
              </a:rPr>
              <a:t>NLLB Inggris ke Indonesia</a:t>
            </a:r>
            <a:endParaRPr lang="en-US" sz="1600" dirty="0"/>
          </a:p>
        </p:txBody>
      </p:sp>
      <p:sp>
        <p:nvSpPr>
          <p:cNvPr id="14" name="Text 12"/>
          <p:cNvSpPr txBox="1"/>
          <p:nvPr/>
        </p:nvSpPr>
        <p:spPr>
          <a:xfrm>
            <a:off x="6355080" y="2286000"/>
            <a:ext cx="2286000" cy="868680"/>
          </a:xfrm>
          <a:prstGeom prst="rect">
            <a:avLst/>
          </a:prstGeom>
          <a:noFill/>
          <a:ln/>
        </p:spPr>
        <p:txBody>
          <a:bodyPr wrap="square" lIns="0" tIns="0" rIns="0" bIns="0" rtlCol="0" anchor="t"/>
          <a:lstStyle/>
          <a:p>
            <a:pPr indent="0" marL="0">
              <a:buNone/>
            </a:pPr>
            <a:r>
              <a:rPr lang="en-US" sz="1200" dirty="0">
                <a:solidFill>
                  <a:srgbClr val="FFFFFF"/>
                </a:solidFill>
              </a:rPr>
              <a:t>Arah terjemahan yang sangat kuat</a:t>
            </a:r>
            <a:endParaRPr lang="en-US" sz="1200" dirty="0"/>
          </a:p>
        </p:txBody>
      </p:sp>
      <p:sp>
        <p:nvSpPr>
          <p:cNvPr id="15" name="Flow arrow"/>
          <p:cNvSpPr/>
          <p:nvPr/>
        </p:nvSpPr>
        <p:spPr>
          <a:xfrm>
            <a:off x="8787384" y="2240280"/>
            <a:ext cx="201168" cy="256032"/>
          </a:xfrm>
          <a:prstGeom prst="rightArrow">
            <a:avLst/>
          </a:prstGeom>
          <a:solidFill>
            <a:schemeClr val="accent1"/>
          </a:solidFill>
          <a:ln w="12700">
            <a:solidFill>
              <a:schemeClr val="accent1"/>
            </a:solidFill>
            <a:prstDash val="solid"/>
          </a:ln>
        </p:spPr>
      </p:sp>
      <p:sp>
        <p:nvSpPr>
          <p:cNvPr id="16" name="Kotak alur"/>
          <p:cNvSpPr/>
          <p:nvPr/>
        </p:nvSpPr>
        <p:spPr>
          <a:xfrm>
            <a:off x="9052560" y="1508760"/>
            <a:ext cx="2560320" cy="1737360"/>
          </a:xfrm>
          <a:prstGeom prst="roundRect">
            <a:avLst>
              <a:gd name="adj" fmla="val 6316"/>
            </a:avLst>
          </a:prstGeom>
          <a:solidFill>
            <a:srgbClr val="E9A23B"/>
          </a:solidFill>
          <a:ln w="12700">
            <a:solidFill>
              <a:srgbClr val="E9A23B"/>
            </a:solidFill>
            <a:prstDash val="solid"/>
          </a:ln>
        </p:spPr>
      </p:sp>
      <p:sp>
        <p:nvSpPr>
          <p:cNvPr id="17" name="Text 15"/>
          <p:cNvSpPr txBox="1"/>
          <p:nvPr/>
        </p:nvSpPr>
        <p:spPr>
          <a:xfrm>
            <a:off x="9189720" y="1645920"/>
            <a:ext cx="2286000" cy="640080"/>
          </a:xfrm>
          <a:prstGeom prst="rect">
            <a:avLst/>
          </a:prstGeom>
          <a:noFill/>
          <a:ln/>
        </p:spPr>
        <p:txBody>
          <a:bodyPr wrap="square" lIns="0" tIns="0" rIns="0" bIns="0" rtlCol="0" anchor="ctr"/>
          <a:lstStyle/>
          <a:p>
            <a:pPr indent="0" marL="0">
              <a:buNone/>
            </a:pPr>
            <a:r>
              <a:rPr lang="en-US" sz="1600" b="1" dirty="0">
                <a:solidFill>
                  <a:srgbClr val="12303A"/>
                </a:solidFill>
              </a:rPr>
              <a:t>Pasangan latih</a:t>
            </a:r>
            <a:endParaRPr lang="en-US" sz="1600" dirty="0"/>
          </a:p>
        </p:txBody>
      </p:sp>
      <p:sp>
        <p:nvSpPr>
          <p:cNvPr id="18" name="Text 16"/>
          <p:cNvSpPr txBox="1"/>
          <p:nvPr/>
        </p:nvSpPr>
        <p:spPr>
          <a:xfrm>
            <a:off x="9189720" y="2286000"/>
            <a:ext cx="2286000" cy="868680"/>
          </a:xfrm>
          <a:prstGeom prst="rect">
            <a:avLst/>
          </a:prstGeom>
          <a:noFill/>
          <a:ln/>
        </p:spPr>
        <p:txBody>
          <a:bodyPr wrap="square" lIns="0" tIns="0" rIns="0" bIns="0" rtlCol="0" anchor="t"/>
          <a:lstStyle/>
          <a:p>
            <a:pPr indent="0" marL="0">
              <a:buNone/>
            </a:pPr>
            <a:r>
              <a:rPr lang="en-US" sz="1200" dirty="0">
                <a:solidFill>
                  <a:srgbClr val="12303A"/>
                </a:solidFill>
              </a:rPr>
              <a:t>Aceh manusia + Indonesia mesin, diberi label</a:t>
            </a:r>
            <a:endParaRPr lang="en-US" sz="1200" dirty="0"/>
          </a:p>
        </p:txBody>
      </p:sp>
      <p:sp>
        <p:nvSpPr>
          <p:cNvPr id="19" name="Kartu filter"/>
          <p:cNvSpPr/>
          <p:nvPr/>
        </p:nvSpPr>
        <p:spPr>
          <a:xfrm>
            <a:off x="548640" y="3611880"/>
            <a:ext cx="5394960" cy="2606040"/>
          </a:xfrm>
          <a:prstGeom prst="roundRect">
            <a:avLst>
              <a:gd name="adj" fmla="val 4211"/>
            </a:avLst>
          </a:prstGeom>
          <a:solidFill>
            <a:schemeClr val="bg2"/>
          </a:solidFill>
          <a:ln w="12700">
            <a:solidFill>
              <a:schemeClr val="bg2"/>
            </a:solidFill>
            <a:prstDash val="solid"/>
          </a:ln>
        </p:spPr>
      </p:sp>
      <p:sp>
        <p:nvSpPr>
          <p:cNvPr id="20" name="Text 18"/>
          <p:cNvSpPr txBox="1"/>
          <p:nvPr/>
        </p:nvSpPr>
        <p:spPr>
          <a:xfrm>
            <a:off x="822960" y="3749040"/>
            <a:ext cx="4937760" cy="365760"/>
          </a:xfrm>
          <a:prstGeom prst="rect">
            <a:avLst/>
          </a:prstGeom>
          <a:noFill/>
          <a:ln/>
        </p:spPr>
        <p:txBody>
          <a:bodyPr wrap="square" lIns="0" tIns="0" rIns="0" bIns="0" rtlCol="0" anchor="t"/>
          <a:lstStyle/>
          <a:p>
            <a:pPr indent="0" marL="0">
              <a:buNone/>
            </a:pPr>
            <a:r>
              <a:rPr lang="en-US" sz="1600" b="1" dirty="0">
                <a:solidFill>
                  <a:schemeClr val="tx1"/>
                </a:solidFill>
              </a:rPr>
              <a:t>Penyaringan sebelum pasangan dipakai</a:t>
            </a:r>
            <a:endParaRPr lang="en-US" sz="1600" dirty="0"/>
          </a:p>
        </p:txBody>
      </p:sp>
      <p:sp>
        <p:nvSpPr>
          <p:cNvPr id="21" name="Text 19"/>
          <p:cNvSpPr txBox="1"/>
          <p:nvPr/>
        </p:nvSpPr>
        <p:spPr>
          <a:xfrm>
            <a:off x="822960" y="4160520"/>
            <a:ext cx="4937760" cy="1965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4 sampai 60 kata di tiap sisi</a:t>
            </a:r>
            <a:endParaRPr lang="en-US" sz="1500" dirty="0"/>
          </a:p>
          <a:p>
            <a:pPr marL="342900" indent="-342900">
              <a:spcAft>
                <a:spcPts val="800"/>
              </a:spcAft>
              <a:buSzPct val="100000"/>
              <a:buChar char="•"/>
            </a:pPr>
            <a:r>
              <a:rPr lang="en-US" sz="1500" dirty="0">
                <a:solidFill>
                  <a:schemeClr val="tx1"/>
                </a:solidFill>
              </a:rPr>
              <a:t>Perbandingan jumlah kata kedua sisi antara 0,5 dan 2</a:t>
            </a:r>
            <a:endParaRPr lang="en-US" sz="1500" dirty="0"/>
          </a:p>
          <a:p>
            <a:pPr marL="342900" indent="-342900">
              <a:spcAft>
                <a:spcPts val="800"/>
              </a:spcAft>
              <a:buSzPct val="100000"/>
              <a:buChar char="•"/>
            </a:pPr>
            <a:r>
              <a:rPr lang="en-US" sz="1500" dirty="0">
                <a:solidFill>
                  <a:schemeClr val="tx1"/>
                </a:solidFill>
              </a:rPr>
              <a:t>Sisi Aceh harus lolos deteksi bahasa</a:t>
            </a:r>
            <a:endParaRPr lang="en-US" sz="1500" dirty="0"/>
          </a:p>
          <a:p>
            <a:pPr marL="342900" indent="-342900">
              <a:spcAft>
                <a:spcPts val="800"/>
              </a:spcAft>
              <a:buSzPct val="100000"/>
              <a:buChar char="•"/>
            </a:pPr>
            <a:r>
              <a:rPr lang="en-US" sz="1500" dirty="0">
                <a:solidFill>
                  <a:schemeClr val="tx1"/>
                </a:solidFill>
              </a:rPr>
              <a:t>Diperiksa agar tidak bocor ke set validasi dan uji</a:t>
            </a:r>
            <a:endParaRPr lang="en-US" sz="1500" dirty="0"/>
          </a:p>
        </p:txBody>
      </p:sp>
      <p:sp>
        <p:nvSpPr>
          <p:cNvPr id="22" name="Kartu hasil"/>
          <p:cNvSpPr/>
          <p:nvPr/>
        </p:nvSpPr>
        <p:spPr>
          <a:xfrm>
            <a:off x="6245352" y="3611880"/>
            <a:ext cx="5394960" cy="2606040"/>
          </a:xfrm>
          <a:prstGeom prst="roundRect">
            <a:avLst>
              <a:gd name="adj" fmla="val 4211"/>
            </a:avLst>
          </a:prstGeom>
          <a:solidFill>
            <a:schemeClr val="bg2"/>
          </a:solidFill>
          <a:ln w="12700">
            <a:solidFill>
              <a:schemeClr val="bg2"/>
            </a:solidFill>
            <a:prstDash val="solid"/>
          </a:ln>
        </p:spPr>
      </p:sp>
      <p:sp>
        <p:nvSpPr>
          <p:cNvPr id="23" name="Stat kandidat setelah disaring"/>
          <p:cNvSpPr txBox="1"/>
          <p:nvPr/>
        </p:nvSpPr>
        <p:spPr>
          <a:xfrm>
            <a:off x="6519672" y="3749040"/>
            <a:ext cx="2377440" cy="73152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5.750</a:t>
            </a:r>
            <a:endParaRPr lang="en-US" sz="4000" dirty="0"/>
          </a:p>
        </p:txBody>
      </p:sp>
      <p:sp>
        <p:nvSpPr>
          <p:cNvPr id="24" name="Text 22"/>
          <p:cNvSpPr txBox="1"/>
          <p:nvPr/>
        </p:nvSpPr>
        <p:spPr>
          <a:xfrm>
            <a:off x="6519672" y="4358640"/>
            <a:ext cx="2377440" cy="548640"/>
          </a:xfrm>
          <a:prstGeom prst="rect">
            <a:avLst/>
          </a:prstGeom>
          <a:noFill/>
          <a:ln/>
        </p:spPr>
        <p:txBody>
          <a:bodyPr wrap="square" lIns="0" tIns="0" rIns="0" bIns="0" rtlCol="0" anchor="t"/>
          <a:lstStyle/>
          <a:p>
            <a:pPr indent="0" marL="0">
              <a:buNone/>
            </a:pPr>
            <a:r>
              <a:rPr lang="en-US" sz="1400" dirty="0">
                <a:solidFill>
                  <a:schemeClr val="accent5"/>
                </a:solidFill>
              </a:rPr>
              <a:t>kandidat setelah disaring</a:t>
            </a:r>
            <a:endParaRPr lang="en-US" sz="1400" dirty="0"/>
          </a:p>
        </p:txBody>
      </p:sp>
      <p:sp>
        <p:nvSpPr>
          <p:cNvPr id="25" name="Stat pasangan dipertahankan sebelum digabung"/>
          <p:cNvSpPr txBox="1"/>
          <p:nvPr/>
        </p:nvSpPr>
        <p:spPr>
          <a:xfrm>
            <a:off x="9144000" y="3749040"/>
            <a:ext cx="2377440" cy="73152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5.733</a:t>
            </a:r>
            <a:endParaRPr lang="en-US" sz="4000" dirty="0"/>
          </a:p>
        </p:txBody>
      </p:sp>
      <p:sp>
        <p:nvSpPr>
          <p:cNvPr id="26" name="Text 24"/>
          <p:cNvSpPr txBox="1"/>
          <p:nvPr/>
        </p:nvSpPr>
        <p:spPr>
          <a:xfrm>
            <a:off x="9144000" y="4358640"/>
            <a:ext cx="2377440" cy="731520"/>
          </a:xfrm>
          <a:prstGeom prst="rect">
            <a:avLst/>
          </a:prstGeom>
          <a:noFill/>
          <a:ln/>
        </p:spPr>
        <p:txBody>
          <a:bodyPr wrap="square" lIns="0" tIns="0" rIns="0" bIns="0" rtlCol="0" anchor="t"/>
          <a:lstStyle/>
          <a:p>
            <a:pPr indent="0" marL="0">
              <a:buNone/>
            </a:pPr>
            <a:r>
              <a:rPr lang="en-US" sz="1400" dirty="0">
                <a:solidFill>
                  <a:schemeClr val="accent5"/>
                </a:solidFill>
              </a:rPr>
              <a:t>pasangan dipertahankan sebelum digabung</a:t>
            </a:r>
            <a:endParaRPr lang="en-US" sz="1400" dirty="0"/>
          </a:p>
        </p:txBody>
      </p:sp>
      <p:sp>
        <p:nvSpPr>
          <p:cNvPr id="27" name="Text 25"/>
          <p:cNvSpPr txBox="1"/>
          <p:nvPr/>
        </p:nvSpPr>
        <p:spPr>
          <a:xfrm>
            <a:off x="6519672" y="5349240"/>
            <a:ext cx="4937760" cy="777240"/>
          </a:xfrm>
          <a:prstGeom prst="rect">
            <a:avLst/>
          </a:prstGeom>
          <a:noFill/>
          <a:ln/>
        </p:spPr>
        <p:txBody>
          <a:bodyPr wrap="square" lIns="0" tIns="0" rIns="0" bIns="0" rtlCol="0" anchor="t"/>
          <a:lstStyle/>
          <a:p>
            <a:pPr indent="0" marL="0">
              <a:buNone/>
            </a:pPr>
            <a:r>
              <a:rPr lang="en-US" sz="1400" dirty="0">
                <a:solidFill>
                  <a:schemeClr val="tx1"/>
                </a:solidFill>
              </a:rPr>
              <a:t>Sisi Indonesia adalah hasil mesin, jadi asalnya dicatat di metadata.</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Menyiapkan dan memeriksa teks</a:t>
            </a:r>
            <a:endParaRPr lang="en-US" sz="3600" dirty="0"/>
          </a:p>
        </p:txBody>
      </p:sp>
      <p:sp>
        <p:nvSpPr>
          <p:cNvPr id="4" name="Kartu pemeriksaan"/>
          <p:cNvSpPr/>
          <p:nvPr/>
        </p:nvSpPr>
        <p:spPr>
          <a:xfrm>
            <a:off x="548640" y="1417320"/>
            <a:ext cx="3593592" cy="4754880"/>
          </a:xfrm>
          <a:prstGeom prst="roundRect">
            <a:avLst>
              <a:gd name="adj" fmla="val 3053"/>
            </a:avLst>
          </a:prstGeom>
          <a:solidFill>
            <a:schemeClr val="bg2"/>
          </a:solidFill>
          <a:ln w="12700">
            <a:solidFill>
              <a:schemeClr val="bg2"/>
            </a:solidFill>
            <a:prstDash val="solid"/>
          </a:ln>
        </p:spPr>
      </p:sp>
      <p:sp>
        <p:nvSpPr>
          <p:cNvPr id="5" name="Icon circle"/>
          <p:cNvSpPr/>
          <p:nvPr/>
        </p:nvSpPr>
        <p:spPr>
          <a:xfrm>
            <a:off x="822960" y="1645920"/>
            <a:ext cx="685800" cy="685800"/>
          </a:xfrm>
          <a:prstGeom prst="ellipse">
            <a:avLst/>
          </a:prstGeom>
          <a:solidFill>
            <a:schemeClr val="accent1"/>
          </a:solidFill>
          <a:ln w="12700">
            <a:solidFill>
              <a:schemeClr val="accent1"/>
            </a:solidFill>
            <a:prstDash val="solid"/>
          </a:ln>
        </p:spPr>
      </p:sp>
      <p:pic>
        <p:nvPicPr>
          <p:cNvPr id="6" name="Image 0" descr="Language icon">    </p:cNvPr>
          <p:cNvPicPr>
            <a:picLocks noChangeAspect="1"/>
          </p:cNvPicPr>
          <p:nvPr/>
        </p:nvPicPr>
        <p:blipFill>
          <a:blip r:embed="rId1"/>
          <a:stretch>
            <a:fillRect/>
          </a:stretch>
        </p:blipFill>
        <p:spPr>
          <a:xfrm>
            <a:off x="1008126" y="1831086"/>
            <a:ext cx="315468" cy="315468"/>
          </a:xfrm>
          <a:prstGeom prst="rect">
            <a:avLst/>
          </a:prstGeom>
        </p:spPr>
      </p:pic>
      <p:sp>
        <p:nvSpPr>
          <p:cNvPr id="7" name="Text 4"/>
          <p:cNvSpPr txBox="1"/>
          <p:nvPr/>
        </p:nvSpPr>
        <p:spPr>
          <a:xfrm>
            <a:off x="1691640" y="1645920"/>
            <a:ext cx="2286000" cy="365760"/>
          </a:xfrm>
          <a:prstGeom prst="rect">
            <a:avLst/>
          </a:prstGeom>
          <a:noFill/>
          <a:ln/>
        </p:spPr>
        <p:txBody>
          <a:bodyPr wrap="square" lIns="0" tIns="0" rIns="0" bIns="0" rtlCol="0" anchor="t"/>
          <a:lstStyle/>
          <a:p>
            <a:pPr indent="0" marL="0">
              <a:buNone/>
            </a:pPr>
            <a:r>
              <a:rPr lang="en-US" sz="1700" b="1" dirty="0">
                <a:solidFill>
                  <a:schemeClr val="tx1"/>
                </a:solidFill>
              </a:rPr>
              <a:t>Normalisasi</a:t>
            </a:r>
            <a:endParaRPr lang="en-US" sz="1700" dirty="0"/>
          </a:p>
        </p:txBody>
      </p:sp>
      <p:sp>
        <p:nvSpPr>
          <p:cNvPr id="8" name="Text 5"/>
          <p:cNvSpPr txBox="1"/>
          <p:nvPr/>
        </p:nvSpPr>
        <p:spPr>
          <a:xfrm>
            <a:off x="1691640" y="2011680"/>
            <a:ext cx="2286000" cy="457200"/>
          </a:xfrm>
          <a:prstGeom prst="rect">
            <a:avLst/>
          </a:prstGeom>
          <a:noFill/>
          <a:ln/>
        </p:spPr>
        <p:txBody>
          <a:bodyPr wrap="square" lIns="0" tIns="0" rIns="0" bIns="0" rtlCol="0" anchor="t"/>
          <a:lstStyle/>
          <a:p>
            <a:pPr indent="0" marL="0">
              <a:buNone/>
            </a:pPr>
            <a:r>
              <a:rPr lang="en-US" sz="1100" dirty="0">
                <a:solidFill>
                  <a:schemeClr val="accent5"/>
                </a:solidFill>
              </a:rPr>
              <a:t>Aturan sama untuk pelatihan dan aplikasi</a:t>
            </a:r>
            <a:endParaRPr lang="en-US" sz="1100" dirty="0"/>
          </a:p>
        </p:txBody>
      </p:sp>
      <p:sp>
        <p:nvSpPr>
          <p:cNvPr id="9" name="Text 6"/>
          <p:cNvSpPr txBox="1"/>
          <p:nvPr/>
        </p:nvSpPr>
        <p:spPr>
          <a:xfrm>
            <a:off x="822960" y="2788920"/>
            <a:ext cx="3108960"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Unicode NFC dan tanda kutip lurus</a:t>
            </a:r>
            <a:endParaRPr lang="en-US" sz="1400" dirty="0"/>
          </a:p>
          <a:p>
            <a:pPr marL="342900" indent="-342900">
              <a:spcAft>
                <a:spcPts val="1000"/>
              </a:spcAft>
              <a:buSzPct val="100000"/>
              <a:buChar char="•"/>
            </a:pPr>
            <a:r>
              <a:rPr lang="en-US" sz="1400" dirty="0">
                <a:solidFill>
                  <a:schemeClr val="tx1"/>
                </a:solidFill>
              </a:rPr>
              <a:t>Ejaan lama: njang → nyang, djipeugot → jipeugot</a:t>
            </a:r>
            <a:endParaRPr lang="en-US" sz="1400" dirty="0"/>
          </a:p>
          <a:p>
            <a:pPr marL="342900" indent="-342900">
              <a:spcAft>
                <a:spcPts val="1000"/>
              </a:spcAft>
              <a:buSzPct val="100000"/>
              <a:buChar char="•"/>
            </a:pPr>
            <a:r>
              <a:rPr lang="en-US" sz="1400" dirty="0">
                <a:solidFill>
                  <a:schemeClr val="tx1"/>
                </a:solidFill>
              </a:rPr>
              <a:t>Tanda dua titik dibuang: löen → loen</a:t>
            </a:r>
            <a:endParaRPr lang="en-US" sz="1400" dirty="0"/>
          </a:p>
          <a:p>
            <a:pPr marL="342900" indent="-342900">
              <a:spcAft>
                <a:spcPts val="1000"/>
              </a:spcAft>
              <a:buSzPct val="100000"/>
              <a:buChar char="•"/>
            </a:pPr>
            <a:r>
              <a:rPr lang="en-US" sz="1400" dirty="0">
                <a:solidFill>
                  <a:schemeClr val="tx1"/>
                </a:solidFill>
              </a:rPr>
              <a:t>Teks asli selalu disimpan di samping teks normal</a:t>
            </a:r>
            <a:endParaRPr lang="en-US" sz="1400" dirty="0"/>
          </a:p>
        </p:txBody>
      </p:sp>
      <p:sp>
        <p:nvSpPr>
          <p:cNvPr id="10" name="Kartu pemeriksaan"/>
          <p:cNvSpPr/>
          <p:nvPr/>
        </p:nvSpPr>
        <p:spPr>
          <a:xfrm>
            <a:off x="4297680" y="1417320"/>
            <a:ext cx="3593592" cy="4754880"/>
          </a:xfrm>
          <a:prstGeom prst="roundRect">
            <a:avLst>
              <a:gd name="adj" fmla="val 3053"/>
            </a:avLst>
          </a:prstGeom>
          <a:solidFill>
            <a:schemeClr val="bg2"/>
          </a:solidFill>
          <a:ln w="12700">
            <a:solidFill>
              <a:schemeClr val="bg2"/>
            </a:solidFill>
            <a:prstDash val="solid"/>
          </a:ln>
        </p:spPr>
      </p:sp>
      <p:sp>
        <p:nvSpPr>
          <p:cNvPr id="11" name="Icon circle"/>
          <p:cNvSpPr/>
          <p:nvPr/>
        </p:nvSpPr>
        <p:spPr>
          <a:xfrm>
            <a:off x="4572000" y="1645920"/>
            <a:ext cx="685800" cy="685800"/>
          </a:xfrm>
          <a:prstGeom prst="ellipse">
            <a:avLst/>
          </a:prstGeom>
          <a:solidFill>
            <a:schemeClr val="accent1"/>
          </a:solidFill>
          <a:ln w="12700">
            <a:solidFill>
              <a:schemeClr val="accent1"/>
            </a:solidFill>
            <a:prstDash val="solid"/>
          </a:ln>
        </p:spPr>
      </p:sp>
      <p:pic>
        <p:nvPicPr>
          <p:cNvPr id="12" name="Image 1" descr="Search icon">    </p:cNvPr>
          <p:cNvPicPr>
            <a:picLocks noChangeAspect="1"/>
          </p:cNvPicPr>
          <p:nvPr/>
        </p:nvPicPr>
        <p:blipFill>
          <a:blip r:embed="rId2"/>
          <a:stretch>
            <a:fillRect/>
          </a:stretch>
        </p:blipFill>
        <p:spPr>
          <a:xfrm>
            <a:off x="4757166" y="1831086"/>
            <a:ext cx="315468" cy="315468"/>
          </a:xfrm>
          <a:prstGeom prst="rect">
            <a:avLst/>
          </a:prstGeom>
        </p:spPr>
      </p:pic>
      <p:sp>
        <p:nvSpPr>
          <p:cNvPr id="13" name="Text 9"/>
          <p:cNvSpPr txBox="1"/>
          <p:nvPr/>
        </p:nvSpPr>
        <p:spPr>
          <a:xfrm>
            <a:off x="5440680" y="1645920"/>
            <a:ext cx="2286000" cy="365760"/>
          </a:xfrm>
          <a:prstGeom prst="rect">
            <a:avLst/>
          </a:prstGeom>
          <a:noFill/>
          <a:ln/>
        </p:spPr>
        <p:txBody>
          <a:bodyPr wrap="square" lIns="0" tIns="0" rIns="0" bIns="0" rtlCol="0" anchor="t"/>
          <a:lstStyle/>
          <a:p>
            <a:pPr indent="0" marL="0">
              <a:buNone/>
            </a:pPr>
            <a:r>
              <a:rPr lang="en-US" sz="1700" b="1" dirty="0">
                <a:solidFill>
                  <a:schemeClr val="tx1"/>
                </a:solidFill>
              </a:rPr>
              <a:t>Deteksi bahasa</a:t>
            </a:r>
            <a:endParaRPr lang="en-US" sz="1700" dirty="0"/>
          </a:p>
        </p:txBody>
      </p:sp>
      <p:sp>
        <p:nvSpPr>
          <p:cNvPr id="14" name="Text 10"/>
          <p:cNvSpPr txBox="1"/>
          <p:nvPr/>
        </p:nvSpPr>
        <p:spPr>
          <a:xfrm>
            <a:off x="5440680" y="2011680"/>
            <a:ext cx="2286000" cy="457200"/>
          </a:xfrm>
          <a:prstGeom prst="rect">
            <a:avLst/>
          </a:prstGeom>
          <a:noFill/>
          <a:ln/>
        </p:spPr>
        <p:txBody>
          <a:bodyPr wrap="square" lIns="0" tIns="0" rIns="0" bIns="0" rtlCol="0" anchor="t"/>
          <a:lstStyle/>
          <a:p>
            <a:pPr indent="0" marL="0">
              <a:buNone/>
            </a:pPr>
            <a:r>
              <a:rPr lang="en-US" sz="1100" dirty="0">
                <a:solidFill>
                  <a:schemeClr val="accent5"/>
                </a:solidFill>
              </a:rPr>
              <a:t>Model n-gram huruf (naive Bayes)</a:t>
            </a:r>
            <a:endParaRPr lang="en-US" sz="1100" dirty="0"/>
          </a:p>
        </p:txBody>
      </p:sp>
      <p:sp>
        <p:nvSpPr>
          <p:cNvPr id="15" name="Text 11"/>
          <p:cNvSpPr txBox="1"/>
          <p:nvPr/>
        </p:nvSpPr>
        <p:spPr>
          <a:xfrm>
            <a:off x="4572000" y="2788920"/>
            <a:ext cx="3108960"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Dilatih dari AcehX dan NusaX latih</a:t>
            </a:r>
            <a:endParaRPr lang="en-US" sz="1400" dirty="0"/>
          </a:p>
          <a:p>
            <a:pPr marL="342900" indent="-342900">
              <a:spcAft>
                <a:spcPts val="1000"/>
              </a:spcAft>
              <a:buSzPct val="100000"/>
              <a:buChar char="•"/>
            </a:pPr>
            <a:r>
              <a:rPr lang="en-US" sz="1400" dirty="0">
                <a:solidFill>
                  <a:schemeClr val="tx1"/>
                </a:solidFill>
              </a:rPr>
              <a:t>Bahasa Aceh dikenali 96–98%</a:t>
            </a:r>
            <a:endParaRPr lang="en-US" sz="1400" dirty="0"/>
          </a:p>
          <a:p>
            <a:pPr marL="342900" indent="-342900">
              <a:spcAft>
                <a:spcPts val="1000"/>
              </a:spcAft>
              <a:buSzPct val="100000"/>
              <a:buChar char="•"/>
            </a:pPr>
            <a:r>
              <a:rPr lang="en-US" sz="1400" dirty="0">
                <a:solidFill>
                  <a:schemeClr val="tx1"/>
                </a:solidFill>
              </a:rPr>
              <a:t>Bahasa Indonesia dikenali 99,5–100%</a:t>
            </a:r>
            <a:endParaRPr lang="en-US" sz="1400" dirty="0"/>
          </a:p>
          <a:p>
            <a:pPr marL="342900" indent="-342900">
              <a:spcAft>
                <a:spcPts val="1000"/>
              </a:spcAft>
              <a:buSzPct val="100000"/>
              <a:buChar char="•"/>
            </a:pPr>
            <a:r>
              <a:rPr lang="en-US" sz="1400" dirty="0">
                <a:solidFill>
                  <a:schemeClr val="tx1"/>
                </a:solidFill>
              </a:rPr>
              <a:t>Menyaring baris asing atau berisik</a:t>
            </a:r>
            <a:endParaRPr lang="en-US" sz="1400" dirty="0"/>
          </a:p>
        </p:txBody>
      </p:sp>
      <p:sp>
        <p:nvSpPr>
          <p:cNvPr id="16" name="Kartu pemeriksaan"/>
          <p:cNvSpPr/>
          <p:nvPr/>
        </p:nvSpPr>
        <p:spPr>
          <a:xfrm>
            <a:off x="8046720" y="1417320"/>
            <a:ext cx="3593592" cy="4754880"/>
          </a:xfrm>
          <a:prstGeom prst="roundRect">
            <a:avLst>
              <a:gd name="adj" fmla="val 3053"/>
            </a:avLst>
          </a:prstGeom>
          <a:solidFill>
            <a:schemeClr val="bg2"/>
          </a:solidFill>
          <a:ln w="12700">
            <a:solidFill>
              <a:schemeClr val="bg2"/>
            </a:solidFill>
            <a:prstDash val="solid"/>
          </a:ln>
        </p:spPr>
      </p:sp>
      <p:sp>
        <p:nvSpPr>
          <p:cNvPr id="17" name="Icon circle"/>
          <p:cNvSpPr/>
          <p:nvPr/>
        </p:nvSpPr>
        <p:spPr>
          <a:xfrm>
            <a:off x="8321040" y="1645920"/>
            <a:ext cx="685800" cy="685800"/>
          </a:xfrm>
          <a:prstGeom prst="ellipse">
            <a:avLst/>
          </a:prstGeom>
          <a:solidFill>
            <a:schemeClr val="accent1"/>
          </a:solidFill>
          <a:ln w="12700">
            <a:solidFill>
              <a:schemeClr val="accent1"/>
            </a:solidFill>
            <a:prstDash val="solid"/>
          </a:ln>
        </p:spPr>
      </p:sp>
      <p:pic>
        <p:nvPicPr>
          <p:cNvPr id="18" name="Image 2" descr="Clone icon">    </p:cNvPr>
          <p:cNvPicPr>
            <a:picLocks noChangeAspect="1"/>
          </p:cNvPicPr>
          <p:nvPr/>
        </p:nvPicPr>
        <p:blipFill>
          <a:blip r:embed="rId3"/>
          <a:stretch>
            <a:fillRect/>
          </a:stretch>
        </p:blipFill>
        <p:spPr>
          <a:xfrm>
            <a:off x="8506206" y="1831086"/>
            <a:ext cx="315468" cy="315468"/>
          </a:xfrm>
          <a:prstGeom prst="rect">
            <a:avLst/>
          </a:prstGeom>
        </p:spPr>
      </p:pic>
      <p:sp>
        <p:nvSpPr>
          <p:cNvPr id="19" name="Text 14"/>
          <p:cNvSpPr txBox="1"/>
          <p:nvPr/>
        </p:nvSpPr>
        <p:spPr>
          <a:xfrm>
            <a:off x="9189720" y="1645920"/>
            <a:ext cx="2286000" cy="365760"/>
          </a:xfrm>
          <a:prstGeom prst="rect">
            <a:avLst/>
          </a:prstGeom>
          <a:noFill/>
          <a:ln/>
        </p:spPr>
        <p:txBody>
          <a:bodyPr wrap="square" lIns="0" tIns="0" rIns="0" bIns="0" rtlCol="0" anchor="t"/>
          <a:lstStyle/>
          <a:p>
            <a:pPr indent="0" marL="0">
              <a:buNone/>
            </a:pPr>
            <a:r>
              <a:rPr lang="en-US" sz="1700" b="1" dirty="0">
                <a:solidFill>
                  <a:schemeClr val="tx1"/>
                </a:solidFill>
              </a:rPr>
              <a:t>Kontrol duplikat</a:t>
            </a:r>
            <a:endParaRPr lang="en-US" sz="1700" dirty="0"/>
          </a:p>
        </p:txBody>
      </p:sp>
      <p:sp>
        <p:nvSpPr>
          <p:cNvPr id="20" name="Text 15"/>
          <p:cNvSpPr txBox="1"/>
          <p:nvPr/>
        </p:nvSpPr>
        <p:spPr>
          <a:xfrm>
            <a:off x="9189720" y="2011680"/>
            <a:ext cx="2286000" cy="457200"/>
          </a:xfrm>
          <a:prstGeom prst="rect">
            <a:avLst/>
          </a:prstGeom>
          <a:noFill/>
          <a:ln/>
        </p:spPr>
        <p:txBody>
          <a:bodyPr wrap="square" lIns="0" tIns="0" rIns="0" bIns="0" rtlCol="0" anchor="t"/>
          <a:lstStyle/>
          <a:p>
            <a:pPr indent="0" marL="0">
              <a:buNone/>
            </a:pPr>
            <a:r>
              <a:rPr lang="en-US" sz="1100" dirty="0">
                <a:solidFill>
                  <a:schemeClr val="accent5"/>
                </a:solidFill>
              </a:rPr>
              <a:t>Kecocokan persis dan hampir sama</a:t>
            </a:r>
            <a:endParaRPr lang="en-US" sz="1100" dirty="0"/>
          </a:p>
        </p:txBody>
      </p:sp>
      <p:sp>
        <p:nvSpPr>
          <p:cNvPr id="21" name="Text 16"/>
          <p:cNvSpPr txBox="1"/>
          <p:nvPr/>
        </p:nvSpPr>
        <p:spPr>
          <a:xfrm>
            <a:off x="8321040" y="2788920"/>
            <a:ext cx="3108960"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Kunci cocok mengabaikan huruf besar, aksen, tanda baca, ejaan lama</a:t>
            </a:r>
            <a:endParaRPr lang="en-US" sz="1400" dirty="0"/>
          </a:p>
          <a:p>
            <a:pPr marL="342900" indent="-342900">
              <a:spcAft>
                <a:spcPts val="1000"/>
              </a:spcAft>
              <a:buSzPct val="100000"/>
              <a:buChar char="•"/>
            </a:pPr>
            <a:r>
              <a:rPr lang="en-US" sz="1400" dirty="0">
                <a:solidFill>
                  <a:schemeClr val="tx1"/>
                </a:solidFill>
              </a:rPr>
              <a:t>Hampir sama: kemiripan 90% atau lebih (rapidfuzz)</a:t>
            </a:r>
            <a:endParaRPr lang="en-US" sz="1400" dirty="0"/>
          </a:p>
          <a:p>
            <a:pPr marL="342900" indent="-342900">
              <a:spcAft>
                <a:spcPts val="1000"/>
              </a:spcAft>
              <a:buSzPct val="100000"/>
              <a:buChar char="•"/>
            </a:pPr>
            <a:r>
              <a:rPr lang="en-US" sz="1400" dirty="0">
                <a:solidFill>
                  <a:schemeClr val="tx1"/>
                </a:solidFill>
              </a:rPr>
              <a:t>MinHash-LSH terhadap AcehX (164.778 baris)</a:t>
            </a:r>
            <a:endParaRPr lang="en-US" sz="1400" dirty="0"/>
          </a:p>
          <a:p>
            <a:pPr marL="342900" indent="-342900">
              <a:spcAft>
                <a:spcPts val="1000"/>
              </a:spcAft>
              <a:buSzPct val="100000"/>
              <a:buChar char="•"/>
            </a:pPr>
            <a:r>
              <a:rPr lang="en-US" sz="1400" dirty="0">
                <a:solidFill>
                  <a:schemeClr val="tx1"/>
                </a:solidFill>
              </a:rPr>
              <a:t>Duplikat ditandai, tidak dibuang diam-diam</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DESAIN EVALUASI</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Menjaga ujian tetap jujur</a:t>
            </a:r>
            <a:endParaRPr lang="en-US" sz="3600" dirty="0"/>
          </a:p>
        </p:txBody>
      </p:sp>
      <p:sp>
        <p:nvSpPr>
          <p:cNvPr id="4" name="Kartu aturan"/>
          <p:cNvSpPr/>
          <p:nvPr/>
        </p:nvSpPr>
        <p:spPr>
          <a:xfrm>
            <a:off x="548640" y="1463040"/>
            <a:ext cx="6675120" cy="822960"/>
          </a:xfrm>
          <a:prstGeom prst="roundRect">
            <a:avLst>
              <a:gd name="adj" fmla="val 13333"/>
            </a:avLst>
          </a:prstGeom>
          <a:solidFill>
            <a:schemeClr val="bg2"/>
          </a:solidFill>
          <a:ln w="12700">
            <a:solidFill>
              <a:schemeClr val="bg2"/>
            </a:solidFill>
            <a:prstDash val="solid"/>
          </a:ln>
        </p:spPr>
      </p:sp>
      <p:sp>
        <p:nvSpPr>
          <p:cNvPr id="5" name="Text 3"/>
          <p:cNvSpPr txBox="1"/>
          <p:nvPr/>
        </p:nvSpPr>
        <p:spPr>
          <a:xfrm>
            <a:off x="731520" y="146304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1</a:t>
            </a:r>
            <a:endParaRPr lang="en-US" sz="2400" dirty="0"/>
          </a:p>
        </p:txBody>
      </p:sp>
      <p:sp>
        <p:nvSpPr>
          <p:cNvPr id="6" name="Text 4"/>
          <p:cNvSpPr txBox="1"/>
          <p:nvPr/>
        </p:nvSpPr>
        <p:spPr>
          <a:xfrm>
            <a:off x="1280160" y="1463040"/>
            <a:ext cx="5806440" cy="822960"/>
          </a:xfrm>
          <a:prstGeom prst="rect">
            <a:avLst/>
          </a:prstGeom>
          <a:noFill/>
          <a:ln/>
        </p:spPr>
        <p:txBody>
          <a:bodyPr wrap="square" lIns="0" tIns="0" rIns="0" bIns="0" rtlCol="0" anchor="ctr"/>
          <a:lstStyle/>
          <a:p>
            <a:pPr indent="0" marL="0">
              <a:buNone/>
            </a:pPr>
            <a:r>
              <a:rPr lang="en-US" sz="1300" dirty="0">
                <a:solidFill>
                  <a:schemeClr val="tx1"/>
                </a:solidFill>
              </a:rPr>
              <a:t>Halaman uji dan validasi dijaga sebagai satu blok, jadi bait yang bersebelahan tidak terpisah</a:t>
            </a:r>
            <a:endParaRPr lang="en-US" sz="1300" dirty="0"/>
          </a:p>
        </p:txBody>
      </p:sp>
      <p:sp>
        <p:nvSpPr>
          <p:cNvPr id="7" name="Kartu aturan"/>
          <p:cNvSpPr/>
          <p:nvPr/>
        </p:nvSpPr>
        <p:spPr>
          <a:xfrm>
            <a:off x="548640" y="2423160"/>
            <a:ext cx="6675120" cy="822960"/>
          </a:xfrm>
          <a:prstGeom prst="roundRect">
            <a:avLst>
              <a:gd name="adj" fmla="val 13333"/>
            </a:avLst>
          </a:prstGeom>
          <a:solidFill>
            <a:schemeClr val="bg2"/>
          </a:solidFill>
          <a:ln w="12700">
            <a:solidFill>
              <a:schemeClr val="bg2"/>
            </a:solidFill>
            <a:prstDash val="solid"/>
          </a:ln>
        </p:spPr>
      </p:sp>
      <p:sp>
        <p:nvSpPr>
          <p:cNvPr id="8" name="Text 6"/>
          <p:cNvSpPr txBox="1"/>
          <p:nvPr/>
        </p:nvSpPr>
        <p:spPr>
          <a:xfrm>
            <a:off x="731520" y="242316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2</a:t>
            </a:r>
            <a:endParaRPr lang="en-US" sz="2400" dirty="0"/>
          </a:p>
        </p:txBody>
      </p:sp>
      <p:sp>
        <p:nvSpPr>
          <p:cNvPr id="9" name="Text 7"/>
          <p:cNvSpPr txBox="1"/>
          <p:nvPr/>
        </p:nvSpPr>
        <p:spPr>
          <a:xfrm>
            <a:off x="1280160" y="2423160"/>
            <a:ext cx="5806440" cy="822960"/>
          </a:xfrm>
          <a:prstGeom prst="rect">
            <a:avLst/>
          </a:prstGeom>
          <a:noFill/>
          <a:ln/>
        </p:spPr>
        <p:txBody>
          <a:bodyPr wrap="square" lIns="0" tIns="0" rIns="0" bIns="0" rtlCol="0" anchor="ctr"/>
          <a:lstStyle/>
          <a:p>
            <a:pPr indent="0" marL="0">
              <a:buNone/>
            </a:pPr>
            <a:r>
              <a:rPr lang="en-US" sz="1300" dirty="0">
                <a:solidFill>
                  <a:schemeClr val="tx1"/>
                </a:solidFill>
              </a:rPr>
              <a:t>Pasangan latih yang sama dengan kalimat validasi atau uji dibuang, tanpa memandang huruf besar, aksen, tanda baca, dan ejaan lama</a:t>
            </a:r>
            <a:endParaRPr lang="en-US" sz="1300" dirty="0"/>
          </a:p>
        </p:txBody>
      </p:sp>
      <p:sp>
        <p:nvSpPr>
          <p:cNvPr id="10" name="Kartu aturan"/>
          <p:cNvSpPr/>
          <p:nvPr/>
        </p:nvSpPr>
        <p:spPr>
          <a:xfrm>
            <a:off x="548640" y="3383280"/>
            <a:ext cx="6675120" cy="822960"/>
          </a:xfrm>
          <a:prstGeom prst="roundRect">
            <a:avLst>
              <a:gd name="adj" fmla="val 13333"/>
            </a:avLst>
          </a:prstGeom>
          <a:solidFill>
            <a:schemeClr val="bg2"/>
          </a:solidFill>
          <a:ln w="12700">
            <a:solidFill>
              <a:schemeClr val="bg2"/>
            </a:solidFill>
            <a:prstDash val="solid"/>
          </a:ln>
        </p:spPr>
      </p:sp>
      <p:sp>
        <p:nvSpPr>
          <p:cNvPr id="11" name="Text 9"/>
          <p:cNvSpPr txBox="1"/>
          <p:nvPr/>
        </p:nvSpPr>
        <p:spPr>
          <a:xfrm>
            <a:off x="731520" y="338328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3</a:t>
            </a:r>
            <a:endParaRPr lang="en-US" sz="2400" dirty="0"/>
          </a:p>
        </p:txBody>
      </p:sp>
      <p:sp>
        <p:nvSpPr>
          <p:cNvPr id="12" name="Text 10"/>
          <p:cNvSpPr txBox="1"/>
          <p:nvPr/>
        </p:nvSpPr>
        <p:spPr>
          <a:xfrm>
            <a:off x="1280160" y="3383280"/>
            <a:ext cx="5806440" cy="822960"/>
          </a:xfrm>
          <a:prstGeom prst="rect">
            <a:avLst/>
          </a:prstGeom>
          <a:noFill/>
          <a:ln/>
        </p:spPr>
        <p:txBody>
          <a:bodyPr wrap="square" lIns="0" tIns="0" rIns="0" bIns="0" rtlCol="0" anchor="ctr"/>
          <a:lstStyle/>
          <a:p>
            <a:pPr indent="0" marL="0">
              <a:buNone/>
            </a:pPr>
            <a:r>
              <a:rPr lang="en-US" sz="1300" dirty="0">
                <a:solidFill>
                  <a:schemeClr val="tx1"/>
                </a:solidFill>
              </a:rPr>
              <a:t>Pasangan latih yang 90% atau lebih mirip dengan kalimat uji dibuang</a:t>
            </a:r>
            <a:endParaRPr lang="en-US" sz="1300" dirty="0"/>
          </a:p>
        </p:txBody>
      </p:sp>
      <p:sp>
        <p:nvSpPr>
          <p:cNvPr id="13" name="Kartu aturan"/>
          <p:cNvSpPr/>
          <p:nvPr/>
        </p:nvSpPr>
        <p:spPr>
          <a:xfrm>
            <a:off x="548640" y="4343400"/>
            <a:ext cx="6675120" cy="822960"/>
          </a:xfrm>
          <a:prstGeom prst="roundRect">
            <a:avLst>
              <a:gd name="adj" fmla="val 13333"/>
            </a:avLst>
          </a:prstGeom>
          <a:solidFill>
            <a:schemeClr val="bg2"/>
          </a:solidFill>
          <a:ln w="12700">
            <a:solidFill>
              <a:schemeClr val="bg2"/>
            </a:solidFill>
            <a:prstDash val="solid"/>
          </a:ln>
        </p:spPr>
      </p:sp>
      <p:sp>
        <p:nvSpPr>
          <p:cNvPr id="14" name="Text 12"/>
          <p:cNvSpPr txBox="1"/>
          <p:nvPr/>
        </p:nvSpPr>
        <p:spPr>
          <a:xfrm>
            <a:off x="731520" y="434340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4</a:t>
            </a:r>
            <a:endParaRPr lang="en-US" sz="2400" dirty="0"/>
          </a:p>
        </p:txBody>
      </p:sp>
      <p:sp>
        <p:nvSpPr>
          <p:cNvPr id="15" name="Text 13"/>
          <p:cNvSpPr txBox="1"/>
          <p:nvPr/>
        </p:nvSpPr>
        <p:spPr>
          <a:xfrm>
            <a:off x="1280160" y="4343400"/>
            <a:ext cx="5806440" cy="822960"/>
          </a:xfrm>
          <a:prstGeom prst="rect">
            <a:avLst/>
          </a:prstGeom>
          <a:noFill/>
          <a:ln/>
        </p:spPr>
        <p:txBody>
          <a:bodyPr wrap="square" lIns="0" tIns="0" rIns="0" bIns="0" rtlCol="0" anchor="ctr"/>
          <a:lstStyle/>
          <a:p>
            <a:pPr indent="0" marL="0">
              <a:buNone/>
            </a:pPr>
            <a:r>
              <a:rPr lang="en-US" sz="1300" dirty="0">
                <a:solidFill>
                  <a:schemeClr val="tx1"/>
                </a:solidFill>
              </a:rPr>
              <a:t>Skrip pelatihan menolak mulai jika masih ada satu kebocoran</a:t>
            </a:r>
            <a:endParaRPr lang="en-US" sz="1300" dirty="0"/>
          </a:p>
        </p:txBody>
      </p:sp>
      <p:sp>
        <p:nvSpPr>
          <p:cNvPr id="16" name="Kartu aturan"/>
          <p:cNvSpPr/>
          <p:nvPr/>
        </p:nvSpPr>
        <p:spPr>
          <a:xfrm>
            <a:off x="548640" y="5303520"/>
            <a:ext cx="6675120" cy="822960"/>
          </a:xfrm>
          <a:prstGeom prst="roundRect">
            <a:avLst>
              <a:gd name="adj" fmla="val 13333"/>
            </a:avLst>
          </a:prstGeom>
          <a:solidFill>
            <a:schemeClr val="bg2"/>
          </a:solidFill>
          <a:ln w="12700">
            <a:solidFill>
              <a:schemeClr val="bg2"/>
            </a:solidFill>
            <a:prstDash val="solid"/>
          </a:ln>
        </p:spPr>
      </p:sp>
      <p:sp>
        <p:nvSpPr>
          <p:cNvPr id="17" name="Text 15"/>
          <p:cNvSpPr txBox="1"/>
          <p:nvPr/>
        </p:nvSpPr>
        <p:spPr>
          <a:xfrm>
            <a:off x="731520" y="530352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5</a:t>
            </a:r>
            <a:endParaRPr lang="en-US" sz="2400" dirty="0"/>
          </a:p>
        </p:txBody>
      </p:sp>
      <p:sp>
        <p:nvSpPr>
          <p:cNvPr id="18" name="Text 16"/>
          <p:cNvSpPr txBox="1"/>
          <p:nvPr/>
        </p:nvSpPr>
        <p:spPr>
          <a:xfrm>
            <a:off x="1280160" y="5303520"/>
            <a:ext cx="5806440" cy="822960"/>
          </a:xfrm>
          <a:prstGeom prst="rect">
            <a:avLst/>
          </a:prstGeom>
          <a:noFill/>
          <a:ln/>
        </p:spPr>
        <p:txBody>
          <a:bodyPr wrap="square" lIns="0" tIns="0" rIns="0" bIns="0" rtlCol="0" anchor="ctr"/>
          <a:lstStyle/>
          <a:p>
            <a:pPr indent="0" marL="0">
              <a:buNone/>
            </a:pPr>
            <a:r>
              <a:rPr lang="en-US" sz="1300" dirty="0">
                <a:solidFill>
                  <a:schemeClr val="tx1"/>
                </a:solidFill>
              </a:rPr>
              <a:t>Epoch terbaik dipilih dari validasi saja, tidak dari set uji</a:t>
            </a:r>
            <a:endParaRPr lang="en-US" sz="1300" dirty="0"/>
          </a:p>
        </p:txBody>
      </p:sp>
      <p:sp>
        <p:nvSpPr>
          <p:cNvPr id="19" name="Kotak pembagian"/>
          <p:cNvSpPr/>
          <p:nvPr/>
        </p:nvSpPr>
        <p:spPr>
          <a:xfrm>
            <a:off x="7772400" y="1463040"/>
            <a:ext cx="3867912" cy="1417320"/>
          </a:xfrm>
          <a:prstGeom prst="roundRect">
            <a:avLst>
              <a:gd name="adj" fmla="val 7742"/>
            </a:avLst>
          </a:prstGeom>
          <a:solidFill>
            <a:srgbClr val="0D9488"/>
          </a:solidFill>
          <a:ln w="12700">
            <a:solidFill>
              <a:srgbClr val="0D9488"/>
            </a:solidFill>
            <a:prstDash val="solid"/>
          </a:ln>
        </p:spPr>
      </p:sp>
      <p:sp>
        <p:nvSpPr>
          <p:cNvPr id="20" name="Text 18"/>
          <p:cNvSpPr txBox="1"/>
          <p:nvPr/>
        </p:nvSpPr>
        <p:spPr>
          <a:xfrm>
            <a:off x="8046720" y="1600200"/>
            <a:ext cx="3291840" cy="73152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17.547</a:t>
            </a:r>
            <a:endParaRPr lang="en-US" sz="4000" dirty="0"/>
          </a:p>
        </p:txBody>
      </p:sp>
      <p:sp>
        <p:nvSpPr>
          <p:cNvPr id="21" name="Text 19"/>
          <p:cNvSpPr txBox="1"/>
          <p:nvPr/>
        </p:nvSpPr>
        <p:spPr>
          <a:xfrm>
            <a:off x="8046720" y="2331720"/>
            <a:ext cx="3291840" cy="411480"/>
          </a:xfrm>
          <a:prstGeom prst="rect">
            <a:avLst/>
          </a:prstGeom>
          <a:noFill/>
          <a:ln/>
        </p:spPr>
        <p:txBody>
          <a:bodyPr wrap="square" lIns="0" tIns="0" rIns="0" bIns="0" rtlCol="0" anchor="t"/>
          <a:lstStyle/>
          <a:p>
            <a:pPr indent="0" marL="0">
              <a:buNone/>
            </a:pPr>
            <a:r>
              <a:rPr lang="en-US" sz="1400" dirty="0">
                <a:solidFill>
                  <a:srgbClr val="FFFFFF"/>
                </a:solidFill>
              </a:rPr>
              <a:t>Latih</a:t>
            </a:r>
            <a:endParaRPr lang="en-US" sz="1400" dirty="0"/>
          </a:p>
        </p:txBody>
      </p:sp>
      <p:sp>
        <p:nvSpPr>
          <p:cNvPr id="22" name="Kotak pembagian"/>
          <p:cNvSpPr/>
          <p:nvPr/>
        </p:nvSpPr>
        <p:spPr>
          <a:xfrm>
            <a:off x="7772400" y="3063240"/>
            <a:ext cx="3867912" cy="1417320"/>
          </a:xfrm>
          <a:prstGeom prst="roundRect">
            <a:avLst>
              <a:gd name="adj" fmla="val 7742"/>
            </a:avLst>
          </a:prstGeom>
          <a:solidFill>
            <a:srgbClr val="E9A23B"/>
          </a:solidFill>
          <a:ln w="12700">
            <a:solidFill>
              <a:srgbClr val="E9A23B"/>
            </a:solidFill>
            <a:prstDash val="solid"/>
          </a:ln>
        </p:spPr>
      </p:sp>
      <p:sp>
        <p:nvSpPr>
          <p:cNvPr id="23" name="Text 21"/>
          <p:cNvSpPr txBox="1"/>
          <p:nvPr/>
        </p:nvSpPr>
        <p:spPr>
          <a:xfrm>
            <a:off x="8046720" y="3200400"/>
            <a:ext cx="3291840" cy="731520"/>
          </a:xfrm>
          <a:prstGeom prst="rect">
            <a:avLst/>
          </a:prstGeom>
          <a:noFill/>
          <a:ln/>
        </p:spPr>
        <p:txBody>
          <a:bodyPr wrap="square" lIns="0" tIns="0" rIns="0" bIns="0" rtlCol="0" anchor="t"/>
          <a:lstStyle/>
          <a:p>
            <a:pPr indent="0" marL="0">
              <a:buNone/>
            </a:pPr>
            <a:r>
              <a:rPr lang="en-US" sz="4000" b="1" dirty="0">
                <a:solidFill>
                  <a:srgbClr val="12303A"/>
                </a:solidFill>
                <a:latin typeface="Georgia" pitchFamily="34" charset="0"/>
                <a:ea typeface="Georgia" pitchFamily="34" charset="-122"/>
                <a:cs typeface="Georgia" pitchFamily="34" charset="-120"/>
              </a:rPr>
              <a:t>379</a:t>
            </a:r>
            <a:endParaRPr lang="en-US" sz="4000" dirty="0"/>
          </a:p>
        </p:txBody>
      </p:sp>
      <p:sp>
        <p:nvSpPr>
          <p:cNvPr id="24" name="Text 22"/>
          <p:cNvSpPr txBox="1"/>
          <p:nvPr/>
        </p:nvSpPr>
        <p:spPr>
          <a:xfrm>
            <a:off x="8046720" y="3931920"/>
            <a:ext cx="3291840" cy="411480"/>
          </a:xfrm>
          <a:prstGeom prst="rect">
            <a:avLst/>
          </a:prstGeom>
          <a:noFill/>
          <a:ln/>
        </p:spPr>
        <p:txBody>
          <a:bodyPr wrap="square" lIns="0" tIns="0" rIns="0" bIns="0" rtlCol="0" anchor="t"/>
          <a:lstStyle/>
          <a:p>
            <a:pPr indent="0" marL="0">
              <a:buNone/>
            </a:pPr>
            <a:r>
              <a:rPr lang="en-US" sz="1400" dirty="0">
                <a:solidFill>
                  <a:srgbClr val="12303A"/>
                </a:solidFill>
              </a:rPr>
              <a:t>Validasi</a:t>
            </a:r>
            <a:endParaRPr lang="en-US" sz="1400" dirty="0"/>
          </a:p>
        </p:txBody>
      </p:sp>
      <p:sp>
        <p:nvSpPr>
          <p:cNvPr id="25" name="Kotak pembagian"/>
          <p:cNvSpPr/>
          <p:nvPr/>
        </p:nvSpPr>
        <p:spPr>
          <a:xfrm>
            <a:off x="7772400" y="4663440"/>
            <a:ext cx="3867912" cy="1417320"/>
          </a:xfrm>
          <a:prstGeom prst="roundRect">
            <a:avLst>
              <a:gd name="adj" fmla="val 7742"/>
            </a:avLst>
          </a:prstGeom>
          <a:solidFill>
            <a:srgbClr val="0B3C49"/>
          </a:solidFill>
          <a:ln w="12700">
            <a:solidFill>
              <a:srgbClr val="0B3C49"/>
            </a:solidFill>
            <a:prstDash val="solid"/>
          </a:ln>
        </p:spPr>
      </p:sp>
      <p:sp>
        <p:nvSpPr>
          <p:cNvPr id="26" name="Text 24"/>
          <p:cNvSpPr txBox="1"/>
          <p:nvPr/>
        </p:nvSpPr>
        <p:spPr>
          <a:xfrm>
            <a:off x="8046720" y="4800600"/>
            <a:ext cx="3291840" cy="73152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1.555</a:t>
            </a:r>
            <a:endParaRPr lang="en-US" sz="4000" dirty="0"/>
          </a:p>
        </p:txBody>
      </p:sp>
      <p:sp>
        <p:nvSpPr>
          <p:cNvPr id="27" name="Text 25"/>
          <p:cNvSpPr txBox="1"/>
          <p:nvPr/>
        </p:nvSpPr>
        <p:spPr>
          <a:xfrm>
            <a:off x="8046720" y="5532120"/>
            <a:ext cx="3291840" cy="411480"/>
          </a:xfrm>
          <a:prstGeom prst="rect">
            <a:avLst/>
          </a:prstGeom>
          <a:noFill/>
          <a:ln/>
        </p:spPr>
        <p:txBody>
          <a:bodyPr wrap="square" lIns="0" tIns="0" rIns="0" bIns="0" rtlCol="0" anchor="t"/>
          <a:lstStyle/>
          <a:p>
            <a:pPr indent="0" marL="0">
              <a:buNone/>
            </a:pPr>
            <a:r>
              <a:rPr lang="en-US" sz="1400" dirty="0">
                <a:solidFill>
                  <a:srgbClr val="FFFFFF"/>
                </a:solidFill>
              </a:rPr>
              <a:t>Uji (400 + 1.012 + 143)</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METODE</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Model dan pengaturan pelatihan</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77440"/>
                <a:gridCol w="4846320"/>
                <a:gridCol w="3867912"/>
              </a:tblGrid>
              <a:tr h="411480">
                <a:tc>
                  <a:txBody>
                    <a:bodyPr/>
                    <a:lstStyle/>
                    <a:p>
                      <a:pPr algn="l" indent="0" marL="0">
                        <a:buNone/>
                      </a:pPr>
                      <a:r>
                        <a:rPr lang="en-US" sz="1100" b="1" dirty="0">
                          <a:solidFill>
                            <a:srgbClr val="FFFFFF"/>
                          </a:solidFill>
                        </a:rPr>
                        <a:t>Pengaturan</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Nilai</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Alasan</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566928">
                <a:tc>
                  <a:txBody>
                    <a:bodyPr/>
                    <a:lstStyle/>
                    <a:p>
                      <a:pPr indent="0" marL="0">
                        <a:buNone/>
                      </a:pPr>
                      <a:r>
                        <a:rPr lang="en-US" sz="1200" b="1" dirty="0">
                          <a:solidFill>
                            <a:srgbClr val="12303A"/>
                          </a:solidFill>
                        </a:rPr>
                        <a:t>Model dasar</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NLLB-200 distilled, 600 juta parameter</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Sudah mengenal bahasa Aceh (ace_Latn)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Yang dilatih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Seluruh bobot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Menyesuaikan seluruh model dengan data kami</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Optimizer</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Adafactor, laju belajar 1e-4, pemanasan 10%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Hemat memori, muat di GPU T4 Colab</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Batch dan panjang</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8 pasangan, sampai 128 token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Muat di memori GPU</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Label smoothing</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0,1</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Mengurangi terlalu percaya diri pada data kecil</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Penghentian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Maksimal 10 epoch, sabar 2 epoch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Berhenti jika validasi tidak naik</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Pemilihan model</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Epoch terbaik menurut chrF++ validasi</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Set uji tidak ikut memilih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Model tersimpan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Setengah presisi (FP16), 1,2 GB</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Terjemahan sama, ukuran separuh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METODE</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Proses pelatihan</a:t>
            </a:r>
            <a:endParaRPr lang="en-US" sz="3600" dirty="0"/>
          </a:p>
        </p:txBody>
      </p:sp>
      <p:sp>
        <p:nvSpPr>
          <p:cNvPr id="4" name="Text 2"/>
          <p:cNvSpPr txBox="1"/>
          <p:nvPr/>
        </p:nvSpPr>
        <p:spPr>
          <a:xfrm>
            <a:off x="548640" y="1371600"/>
            <a:ext cx="7223760" cy="365760"/>
          </a:xfrm>
          <a:prstGeom prst="rect">
            <a:avLst/>
          </a:prstGeom>
          <a:noFill/>
          <a:ln/>
        </p:spPr>
        <p:txBody>
          <a:bodyPr wrap="square" lIns="0" tIns="0" rIns="0" bIns="0" rtlCol="0" anchor="ctr"/>
          <a:lstStyle/>
          <a:p>
            <a:pPr indent="0" marL="0">
              <a:buNone/>
            </a:pPr>
            <a:r>
              <a:rPr lang="en-US" sz="1400" b="1" dirty="0">
                <a:solidFill>
                  <a:schemeClr val="tx1"/>
                </a:solidFill>
              </a:rPr>
              <a:t>chrF++ validasi per epoch</a:t>
            </a:r>
            <a:endParaRPr lang="en-US" sz="1400" dirty="0"/>
          </a:p>
        </p:txBody>
      </p:sp>
      <p:sp>
        <p:nvSpPr>
          <p:cNvPr id="5" name="Gridline"/>
          <p:cNvSpPr/>
          <p:nvPr/>
        </p:nvSpPr>
        <p:spPr>
          <a:xfrm>
            <a:off x="1097280" y="5760720"/>
            <a:ext cx="6675120" cy="0"/>
          </a:xfrm>
          <a:prstGeom prst="line">
            <a:avLst/>
          </a:prstGeom>
          <a:noFill/>
          <a:ln w="9525">
            <a:solidFill>
              <a:srgbClr val="D5E3E3"/>
            </a:solidFill>
            <a:prstDash val="solid"/>
          </a:ln>
        </p:spPr>
      </p:sp>
      <p:sp>
        <p:nvSpPr>
          <p:cNvPr id="6" name="Text 4"/>
          <p:cNvSpPr txBox="1"/>
          <p:nvPr/>
        </p:nvSpPr>
        <p:spPr>
          <a:xfrm>
            <a:off x="548640" y="562356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40</a:t>
            </a:r>
            <a:endParaRPr lang="en-US" sz="1100" dirty="0"/>
          </a:p>
        </p:txBody>
      </p:sp>
      <p:sp>
        <p:nvSpPr>
          <p:cNvPr id="7" name="Gridline"/>
          <p:cNvSpPr/>
          <p:nvPr/>
        </p:nvSpPr>
        <p:spPr>
          <a:xfrm>
            <a:off x="1097280" y="4978400"/>
            <a:ext cx="6675120" cy="0"/>
          </a:xfrm>
          <a:prstGeom prst="line">
            <a:avLst/>
          </a:prstGeom>
          <a:noFill/>
          <a:ln w="9525">
            <a:solidFill>
              <a:srgbClr val="D5E3E3"/>
            </a:solidFill>
            <a:prstDash val="solid"/>
          </a:ln>
        </p:spPr>
      </p:sp>
      <p:sp>
        <p:nvSpPr>
          <p:cNvPr id="8" name="Text 6"/>
          <p:cNvSpPr txBox="1"/>
          <p:nvPr/>
        </p:nvSpPr>
        <p:spPr>
          <a:xfrm>
            <a:off x="548640" y="484124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44</a:t>
            </a:r>
            <a:endParaRPr lang="en-US" sz="1100" dirty="0"/>
          </a:p>
        </p:txBody>
      </p:sp>
      <p:sp>
        <p:nvSpPr>
          <p:cNvPr id="9" name="Gridline"/>
          <p:cNvSpPr/>
          <p:nvPr/>
        </p:nvSpPr>
        <p:spPr>
          <a:xfrm>
            <a:off x="1097280" y="4196080"/>
            <a:ext cx="6675120" cy="0"/>
          </a:xfrm>
          <a:prstGeom prst="line">
            <a:avLst/>
          </a:prstGeom>
          <a:noFill/>
          <a:ln w="9525">
            <a:solidFill>
              <a:srgbClr val="D5E3E3"/>
            </a:solidFill>
            <a:prstDash val="solid"/>
          </a:ln>
        </p:spPr>
      </p:sp>
      <p:sp>
        <p:nvSpPr>
          <p:cNvPr id="10" name="Text 8"/>
          <p:cNvSpPr txBox="1"/>
          <p:nvPr/>
        </p:nvSpPr>
        <p:spPr>
          <a:xfrm>
            <a:off x="548640" y="405892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48</a:t>
            </a:r>
            <a:endParaRPr lang="en-US" sz="1100" dirty="0"/>
          </a:p>
        </p:txBody>
      </p:sp>
      <p:sp>
        <p:nvSpPr>
          <p:cNvPr id="11" name="Gridline"/>
          <p:cNvSpPr/>
          <p:nvPr/>
        </p:nvSpPr>
        <p:spPr>
          <a:xfrm>
            <a:off x="1097280" y="3413760"/>
            <a:ext cx="6675120" cy="0"/>
          </a:xfrm>
          <a:prstGeom prst="line">
            <a:avLst/>
          </a:prstGeom>
          <a:noFill/>
          <a:ln w="9525">
            <a:solidFill>
              <a:srgbClr val="D5E3E3"/>
            </a:solidFill>
            <a:prstDash val="solid"/>
          </a:ln>
        </p:spPr>
      </p:sp>
      <p:sp>
        <p:nvSpPr>
          <p:cNvPr id="12" name="Text 10"/>
          <p:cNvSpPr txBox="1"/>
          <p:nvPr/>
        </p:nvSpPr>
        <p:spPr>
          <a:xfrm>
            <a:off x="548640" y="327660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52</a:t>
            </a:r>
            <a:endParaRPr lang="en-US" sz="1100" dirty="0"/>
          </a:p>
        </p:txBody>
      </p:sp>
      <p:sp>
        <p:nvSpPr>
          <p:cNvPr id="13" name="Gridline"/>
          <p:cNvSpPr/>
          <p:nvPr/>
        </p:nvSpPr>
        <p:spPr>
          <a:xfrm>
            <a:off x="1097280" y="2631440"/>
            <a:ext cx="6675120" cy="0"/>
          </a:xfrm>
          <a:prstGeom prst="line">
            <a:avLst/>
          </a:prstGeom>
          <a:noFill/>
          <a:ln w="9525">
            <a:solidFill>
              <a:srgbClr val="D5E3E3"/>
            </a:solidFill>
            <a:prstDash val="solid"/>
          </a:ln>
        </p:spPr>
      </p:sp>
      <p:sp>
        <p:nvSpPr>
          <p:cNvPr id="14" name="Text 12"/>
          <p:cNvSpPr txBox="1"/>
          <p:nvPr/>
        </p:nvSpPr>
        <p:spPr>
          <a:xfrm>
            <a:off x="548640" y="249428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56</a:t>
            </a:r>
            <a:endParaRPr lang="en-US" sz="1100" dirty="0"/>
          </a:p>
        </p:txBody>
      </p:sp>
      <p:sp>
        <p:nvSpPr>
          <p:cNvPr id="15" name="Line segment 1"/>
          <p:cNvSpPr/>
          <p:nvPr/>
        </p:nvSpPr>
        <p:spPr>
          <a:xfrm flipV="1">
            <a:off x="1653540" y="3247517"/>
            <a:ext cx="1112520" cy="2233524"/>
          </a:xfrm>
          <a:prstGeom prst="line">
            <a:avLst/>
          </a:prstGeom>
          <a:noFill/>
          <a:ln w="44450">
            <a:solidFill>
              <a:srgbClr val="0D9488"/>
            </a:solidFill>
            <a:prstDash val="solid"/>
          </a:ln>
        </p:spPr>
      </p:sp>
      <p:sp>
        <p:nvSpPr>
          <p:cNvPr id="16" name="Line segment 2"/>
          <p:cNvSpPr/>
          <p:nvPr/>
        </p:nvSpPr>
        <p:spPr>
          <a:xfrm flipV="1">
            <a:off x="2766060" y="2891561"/>
            <a:ext cx="1112520" cy="355956"/>
          </a:xfrm>
          <a:prstGeom prst="line">
            <a:avLst/>
          </a:prstGeom>
          <a:noFill/>
          <a:ln w="44450">
            <a:solidFill>
              <a:srgbClr val="0D9488"/>
            </a:solidFill>
            <a:prstDash val="solid"/>
          </a:ln>
        </p:spPr>
      </p:sp>
      <p:sp>
        <p:nvSpPr>
          <p:cNvPr id="17" name="Line segment 3"/>
          <p:cNvSpPr/>
          <p:nvPr/>
        </p:nvSpPr>
        <p:spPr>
          <a:xfrm flipV="1">
            <a:off x="3878580" y="2686202"/>
            <a:ext cx="1112520" cy="205359"/>
          </a:xfrm>
          <a:prstGeom prst="line">
            <a:avLst/>
          </a:prstGeom>
          <a:noFill/>
          <a:ln w="44450">
            <a:solidFill>
              <a:srgbClr val="0D9488"/>
            </a:solidFill>
            <a:prstDash val="solid"/>
          </a:ln>
        </p:spPr>
      </p:sp>
      <p:sp>
        <p:nvSpPr>
          <p:cNvPr id="18" name="Line segment 4"/>
          <p:cNvSpPr/>
          <p:nvPr/>
        </p:nvSpPr>
        <p:spPr>
          <a:xfrm>
            <a:off x="4991100" y="2686202"/>
            <a:ext cx="1112520" cy="76276"/>
          </a:xfrm>
          <a:prstGeom prst="line">
            <a:avLst/>
          </a:prstGeom>
          <a:noFill/>
          <a:ln w="44450">
            <a:solidFill>
              <a:srgbClr val="0D9488"/>
            </a:solidFill>
            <a:prstDash val="solid"/>
          </a:ln>
        </p:spPr>
      </p:sp>
      <p:sp>
        <p:nvSpPr>
          <p:cNvPr id="19" name="Line segment 5"/>
          <p:cNvSpPr/>
          <p:nvPr/>
        </p:nvSpPr>
        <p:spPr>
          <a:xfrm>
            <a:off x="6103620" y="2762479"/>
            <a:ext cx="1112520" cy="62586"/>
          </a:xfrm>
          <a:prstGeom prst="line">
            <a:avLst/>
          </a:prstGeom>
          <a:noFill/>
          <a:ln w="44450">
            <a:solidFill>
              <a:srgbClr val="0D9488"/>
            </a:solidFill>
            <a:prstDash val="solid"/>
          </a:ln>
        </p:spPr>
      </p:sp>
      <p:sp>
        <p:nvSpPr>
          <p:cNvPr id="20" name="Point Dasar"/>
          <p:cNvSpPr/>
          <p:nvPr/>
        </p:nvSpPr>
        <p:spPr>
          <a:xfrm>
            <a:off x="1552956" y="5380457"/>
            <a:ext cx="201168" cy="201168"/>
          </a:xfrm>
          <a:prstGeom prst="ellipse">
            <a:avLst/>
          </a:prstGeom>
          <a:solidFill>
            <a:srgbClr val="0D9488"/>
          </a:solidFill>
          <a:ln w="19050">
            <a:solidFill>
              <a:srgbClr val="FFFFFF"/>
            </a:solidFill>
            <a:prstDash val="solid"/>
          </a:ln>
        </p:spPr>
      </p:sp>
      <p:sp>
        <p:nvSpPr>
          <p:cNvPr id="21" name="Text 19"/>
          <p:cNvSpPr txBox="1"/>
          <p:nvPr/>
        </p:nvSpPr>
        <p:spPr>
          <a:xfrm>
            <a:off x="1836420" y="5343881"/>
            <a:ext cx="914400" cy="274320"/>
          </a:xfrm>
          <a:prstGeom prst="rect">
            <a:avLst/>
          </a:prstGeom>
          <a:noFill/>
          <a:ln/>
        </p:spPr>
        <p:txBody>
          <a:bodyPr wrap="square" lIns="0" tIns="0" rIns="0" bIns="0" rtlCol="0" anchor="ctr"/>
          <a:lstStyle/>
          <a:p>
            <a:pPr algn="l" indent="0" marL="0">
              <a:buNone/>
            </a:pPr>
            <a:r>
              <a:rPr lang="en-US" sz="1300" b="1" dirty="0">
                <a:solidFill>
                  <a:schemeClr val="tx1"/>
                </a:solidFill>
              </a:rPr>
              <a:t>41,43</a:t>
            </a:r>
            <a:endParaRPr lang="en-US" sz="1300" dirty="0"/>
          </a:p>
        </p:txBody>
      </p:sp>
      <p:sp>
        <p:nvSpPr>
          <p:cNvPr id="22" name="Text 20"/>
          <p:cNvSpPr txBox="1"/>
          <p:nvPr/>
        </p:nvSpPr>
        <p:spPr>
          <a:xfrm>
            <a:off x="1013460"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Dasar</a:t>
            </a:r>
            <a:endParaRPr lang="en-US" sz="1200" dirty="0"/>
          </a:p>
        </p:txBody>
      </p:sp>
      <p:sp>
        <p:nvSpPr>
          <p:cNvPr id="23" name="Point Epoch 1"/>
          <p:cNvSpPr/>
          <p:nvPr/>
        </p:nvSpPr>
        <p:spPr>
          <a:xfrm>
            <a:off x="2665476" y="3146933"/>
            <a:ext cx="201168" cy="201168"/>
          </a:xfrm>
          <a:prstGeom prst="ellipse">
            <a:avLst/>
          </a:prstGeom>
          <a:solidFill>
            <a:srgbClr val="0D9488"/>
          </a:solidFill>
          <a:ln w="19050">
            <a:solidFill>
              <a:srgbClr val="FFFFFF"/>
            </a:solidFill>
            <a:prstDash val="solid"/>
          </a:ln>
        </p:spPr>
      </p:sp>
      <p:sp>
        <p:nvSpPr>
          <p:cNvPr id="24" name="Text 22"/>
          <p:cNvSpPr txBox="1"/>
          <p:nvPr/>
        </p:nvSpPr>
        <p:spPr>
          <a:xfrm>
            <a:off x="2217420" y="2826893"/>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52,85</a:t>
            </a:r>
            <a:endParaRPr lang="en-US" sz="1300" dirty="0"/>
          </a:p>
        </p:txBody>
      </p:sp>
      <p:sp>
        <p:nvSpPr>
          <p:cNvPr id="25" name="Text 23"/>
          <p:cNvSpPr txBox="1"/>
          <p:nvPr/>
        </p:nvSpPr>
        <p:spPr>
          <a:xfrm>
            <a:off x="2125980"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1</a:t>
            </a:r>
            <a:endParaRPr lang="en-US" sz="1200" dirty="0"/>
          </a:p>
        </p:txBody>
      </p:sp>
      <p:sp>
        <p:nvSpPr>
          <p:cNvPr id="26" name="Point Epoch 2"/>
          <p:cNvSpPr/>
          <p:nvPr/>
        </p:nvSpPr>
        <p:spPr>
          <a:xfrm>
            <a:off x="3777996" y="2790977"/>
            <a:ext cx="201168" cy="201168"/>
          </a:xfrm>
          <a:prstGeom prst="ellipse">
            <a:avLst/>
          </a:prstGeom>
          <a:solidFill>
            <a:srgbClr val="0D9488"/>
          </a:solidFill>
          <a:ln w="19050">
            <a:solidFill>
              <a:srgbClr val="FFFFFF"/>
            </a:solidFill>
            <a:prstDash val="solid"/>
          </a:ln>
        </p:spPr>
      </p:sp>
      <p:sp>
        <p:nvSpPr>
          <p:cNvPr id="27" name="Text 25"/>
          <p:cNvSpPr txBox="1"/>
          <p:nvPr/>
        </p:nvSpPr>
        <p:spPr>
          <a:xfrm>
            <a:off x="3329940" y="2470937"/>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54,67</a:t>
            </a:r>
            <a:endParaRPr lang="en-US" sz="1300" dirty="0"/>
          </a:p>
        </p:txBody>
      </p:sp>
      <p:sp>
        <p:nvSpPr>
          <p:cNvPr id="28" name="Text 26"/>
          <p:cNvSpPr txBox="1"/>
          <p:nvPr/>
        </p:nvSpPr>
        <p:spPr>
          <a:xfrm>
            <a:off x="3238500"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2</a:t>
            </a:r>
            <a:endParaRPr lang="en-US" sz="1200" dirty="0"/>
          </a:p>
        </p:txBody>
      </p:sp>
      <p:sp>
        <p:nvSpPr>
          <p:cNvPr id="29" name="Point Epoch 3"/>
          <p:cNvSpPr/>
          <p:nvPr/>
        </p:nvSpPr>
        <p:spPr>
          <a:xfrm>
            <a:off x="4890516" y="2585618"/>
            <a:ext cx="201168" cy="201168"/>
          </a:xfrm>
          <a:prstGeom prst="ellipse">
            <a:avLst/>
          </a:prstGeom>
          <a:solidFill>
            <a:srgbClr val="0D9488"/>
          </a:solidFill>
          <a:ln w="19050">
            <a:solidFill>
              <a:srgbClr val="FFFFFF"/>
            </a:solidFill>
            <a:prstDash val="solid"/>
          </a:ln>
        </p:spPr>
      </p:sp>
      <p:sp>
        <p:nvSpPr>
          <p:cNvPr id="30" name="Text 28"/>
          <p:cNvSpPr txBox="1"/>
          <p:nvPr/>
        </p:nvSpPr>
        <p:spPr>
          <a:xfrm>
            <a:off x="4442460" y="2265578"/>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55,72</a:t>
            </a:r>
            <a:endParaRPr lang="en-US" sz="1300" dirty="0"/>
          </a:p>
        </p:txBody>
      </p:sp>
      <p:sp>
        <p:nvSpPr>
          <p:cNvPr id="31" name="Text 29"/>
          <p:cNvSpPr txBox="1"/>
          <p:nvPr/>
        </p:nvSpPr>
        <p:spPr>
          <a:xfrm>
            <a:off x="4351020"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3</a:t>
            </a:r>
            <a:endParaRPr lang="en-US" sz="1200" dirty="0"/>
          </a:p>
        </p:txBody>
      </p:sp>
      <p:sp>
        <p:nvSpPr>
          <p:cNvPr id="32" name="Point Epoch 4"/>
          <p:cNvSpPr/>
          <p:nvPr/>
        </p:nvSpPr>
        <p:spPr>
          <a:xfrm>
            <a:off x="6003036" y="2661895"/>
            <a:ext cx="201168" cy="201168"/>
          </a:xfrm>
          <a:prstGeom prst="ellipse">
            <a:avLst/>
          </a:prstGeom>
          <a:solidFill>
            <a:srgbClr val="0D9488"/>
          </a:solidFill>
          <a:ln w="19050">
            <a:solidFill>
              <a:srgbClr val="FFFFFF"/>
            </a:solidFill>
            <a:prstDash val="solid"/>
          </a:ln>
        </p:spPr>
      </p:sp>
      <p:sp>
        <p:nvSpPr>
          <p:cNvPr id="33" name="Text 31"/>
          <p:cNvSpPr txBox="1"/>
          <p:nvPr/>
        </p:nvSpPr>
        <p:spPr>
          <a:xfrm>
            <a:off x="5554980" y="2341855"/>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55,33</a:t>
            </a:r>
            <a:endParaRPr lang="en-US" sz="1300" dirty="0"/>
          </a:p>
        </p:txBody>
      </p:sp>
      <p:sp>
        <p:nvSpPr>
          <p:cNvPr id="34" name="Text 32"/>
          <p:cNvSpPr txBox="1"/>
          <p:nvPr/>
        </p:nvSpPr>
        <p:spPr>
          <a:xfrm>
            <a:off x="5463540"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4</a:t>
            </a:r>
            <a:endParaRPr lang="en-US" sz="1200" dirty="0"/>
          </a:p>
        </p:txBody>
      </p:sp>
      <p:sp>
        <p:nvSpPr>
          <p:cNvPr id="35" name="Point Epoch 5"/>
          <p:cNvSpPr/>
          <p:nvPr/>
        </p:nvSpPr>
        <p:spPr>
          <a:xfrm>
            <a:off x="7115556" y="2724480"/>
            <a:ext cx="201168" cy="201168"/>
          </a:xfrm>
          <a:prstGeom prst="ellipse">
            <a:avLst/>
          </a:prstGeom>
          <a:solidFill>
            <a:srgbClr val="0D9488"/>
          </a:solidFill>
          <a:ln w="19050">
            <a:solidFill>
              <a:srgbClr val="FFFFFF"/>
            </a:solidFill>
            <a:prstDash val="solid"/>
          </a:ln>
        </p:spPr>
      </p:sp>
      <p:sp>
        <p:nvSpPr>
          <p:cNvPr id="36" name="Text 34"/>
          <p:cNvSpPr txBox="1"/>
          <p:nvPr/>
        </p:nvSpPr>
        <p:spPr>
          <a:xfrm>
            <a:off x="6667500" y="2404440"/>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55,01</a:t>
            </a:r>
            <a:endParaRPr lang="en-US" sz="1300" dirty="0"/>
          </a:p>
        </p:txBody>
      </p:sp>
      <p:sp>
        <p:nvSpPr>
          <p:cNvPr id="37" name="Text 35"/>
          <p:cNvSpPr txBox="1"/>
          <p:nvPr/>
        </p:nvSpPr>
        <p:spPr>
          <a:xfrm>
            <a:off x="6576060"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5</a:t>
            </a:r>
            <a:endParaRPr lang="en-US" sz="1200" dirty="0"/>
          </a:p>
        </p:txBody>
      </p:sp>
      <p:sp>
        <p:nvSpPr>
          <p:cNvPr id="38" name="Kartu angka"/>
          <p:cNvSpPr/>
          <p:nvPr/>
        </p:nvSpPr>
        <p:spPr>
          <a:xfrm>
            <a:off x="8138160" y="1463040"/>
            <a:ext cx="3502152" cy="1417320"/>
          </a:xfrm>
          <a:prstGeom prst="roundRect">
            <a:avLst>
              <a:gd name="adj" fmla="val 7742"/>
            </a:avLst>
          </a:prstGeom>
          <a:solidFill>
            <a:schemeClr val="bg2"/>
          </a:solidFill>
          <a:ln w="12700">
            <a:solidFill>
              <a:schemeClr val="bg2"/>
            </a:solidFill>
            <a:prstDash val="solid"/>
          </a:ln>
        </p:spPr>
      </p:sp>
      <p:sp>
        <p:nvSpPr>
          <p:cNvPr id="39" name="Text 37"/>
          <p:cNvSpPr txBox="1"/>
          <p:nvPr/>
        </p:nvSpPr>
        <p:spPr>
          <a:xfrm>
            <a:off x="8366760" y="1627632"/>
            <a:ext cx="3108960" cy="640080"/>
          </a:xfrm>
          <a:prstGeom prst="rect">
            <a:avLst/>
          </a:prstGeom>
          <a:noFill/>
          <a:ln/>
        </p:spPr>
        <p:txBody>
          <a:bodyPr wrap="square" lIns="0" tIns="0" rIns="0" bIns="0" rtlCol="0" anchor="t"/>
          <a:lstStyle/>
          <a:p>
            <a:pPr indent="0" marL="0">
              <a:buNone/>
            </a:pPr>
            <a:r>
              <a:rPr lang="en-US" sz="2600" b="1" dirty="0">
                <a:solidFill>
                  <a:schemeClr val="accent1"/>
                </a:solidFill>
                <a:latin typeface="Georgia" pitchFamily="34" charset="0"/>
                <a:ea typeface="Georgia" pitchFamily="34" charset="-122"/>
                <a:cs typeface="Georgia" pitchFamily="34" charset="-120"/>
              </a:rPr>
              <a:t>Epoch 3 dari 5</a:t>
            </a:r>
            <a:endParaRPr lang="en-US" sz="2600" dirty="0"/>
          </a:p>
        </p:txBody>
      </p:sp>
      <p:sp>
        <p:nvSpPr>
          <p:cNvPr id="40" name="Text 38"/>
          <p:cNvSpPr txBox="1"/>
          <p:nvPr/>
        </p:nvSpPr>
        <p:spPr>
          <a:xfrm>
            <a:off x="8366760" y="2267712"/>
            <a:ext cx="3108960" cy="548640"/>
          </a:xfrm>
          <a:prstGeom prst="rect">
            <a:avLst/>
          </a:prstGeom>
          <a:noFill/>
          <a:ln/>
        </p:spPr>
        <p:txBody>
          <a:bodyPr wrap="square" lIns="0" tIns="0" rIns="0" bIns="0" rtlCol="0" anchor="t"/>
          <a:lstStyle/>
          <a:p>
            <a:pPr indent="0" marL="0">
              <a:buNone/>
            </a:pPr>
            <a:r>
              <a:rPr lang="en-US" sz="1300" dirty="0">
                <a:solidFill>
                  <a:schemeClr val="accent5"/>
                </a:solidFill>
              </a:rPr>
              <a:t>dipilih; berhenti setelah 2 epoch tanpa kenaikan</a:t>
            </a:r>
            <a:endParaRPr lang="en-US" sz="1300" dirty="0"/>
          </a:p>
        </p:txBody>
      </p:sp>
      <p:sp>
        <p:nvSpPr>
          <p:cNvPr id="41" name="Kartu angka"/>
          <p:cNvSpPr/>
          <p:nvPr/>
        </p:nvSpPr>
        <p:spPr>
          <a:xfrm>
            <a:off x="8138160" y="3063240"/>
            <a:ext cx="3502152" cy="1417320"/>
          </a:xfrm>
          <a:prstGeom prst="roundRect">
            <a:avLst>
              <a:gd name="adj" fmla="val 7742"/>
            </a:avLst>
          </a:prstGeom>
          <a:solidFill>
            <a:schemeClr val="bg2"/>
          </a:solidFill>
          <a:ln w="12700">
            <a:solidFill>
              <a:schemeClr val="bg2"/>
            </a:solidFill>
            <a:prstDash val="solid"/>
          </a:ln>
        </p:spPr>
      </p:sp>
      <p:sp>
        <p:nvSpPr>
          <p:cNvPr id="42" name="Text 40"/>
          <p:cNvSpPr txBox="1"/>
          <p:nvPr/>
        </p:nvSpPr>
        <p:spPr>
          <a:xfrm>
            <a:off x="8366760" y="3227832"/>
            <a:ext cx="3108960" cy="640080"/>
          </a:xfrm>
          <a:prstGeom prst="rect">
            <a:avLst/>
          </a:prstGeom>
          <a:noFill/>
          <a:ln/>
        </p:spPr>
        <p:txBody>
          <a:bodyPr wrap="square" lIns="0" tIns="0" rIns="0" bIns="0" rtlCol="0" anchor="t"/>
          <a:lstStyle/>
          <a:p>
            <a:pPr indent="0" marL="0">
              <a:buNone/>
            </a:pPr>
            <a:r>
              <a:rPr lang="en-US" sz="2600" b="1" dirty="0">
                <a:solidFill>
                  <a:schemeClr val="accent1"/>
                </a:solidFill>
                <a:latin typeface="Georgia" pitchFamily="34" charset="0"/>
                <a:ea typeface="Georgia" pitchFamily="34" charset="-122"/>
                <a:cs typeface="Georgia" pitchFamily="34" charset="-120"/>
              </a:rPr>
              <a:t>3,39 → 2,31</a:t>
            </a:r>
            <a:endParaRPr lang="en-US" sz="2600" dirty="0"/>
          </a:p>
        </p:txBody>
      </p:sp>
      <p:sp>
        <p:nvSpPr>
          <p:cNvPr id="43" name="Text 41"/>
          <p:cNvSpPr txBox="1"/>
          <p:nvPr/>
        </p:nvSpPr>
        <p:spPr>
          <a:xfrm>
            <a:off x="8366760" y="3867912"/>
            <a:ext cx="3108960" cy="548640"/>
          </a:xfrm>
          <a:prstGeom prst="rect">
            <a:avLst/>
          </a:prstGeom>
          <a:noFill/>
          <a:ln/>
        </p:spPr>
        <p:txBody>
          <a:bodyPr wrap="square" lIns="0" tIns="0" rIns="0" bIns="0" rtlCol="0" anchor="t"/>
          <a:lstStyle/>
          <a:p>
            <a:pPr indent="0" marL="0">
              <a:buNone/>
            </a:pPr>
            <a:r>
              <a:rPr lang="en-US" sz="1300" dirty="0">
                <a:solidFill>
                  <a:schemeClr val="accent5"/>
                </a:solidFill>
              </a:rPr>
              <a:t>loss latih, epoch 1 sampai 5</a:t>
            </a:r>
            <a:endParaRPr lang="en-US" sz="1300" dirty="0"/>
          </a:p>
        </p:txBody>
      </p:sp>
      <p:sp>
        <p:nvSpPr>
          <p:cNvPr id="44" name="Kartu angka"/>
          <p:cNvSpPr/>
          <p:nvPr/>
        </p:nvSpPr>
        <p:spPr>
          <a:xfrm>
            <a:off x="8138160" y="4663440"/>
            <a:ext cx="3502152" cy="1417320"/>
          </a:xfrm>
          <a:prstGeom prst="roundRect">
            <a:avLst>
              <a:gd name="adj" fmla="val 7742"/>
            </a:avLst>
          </a:prstGeom>
          <a:solidFill>
            <a:schemeClr val="bg2"/>
          </a:solidFill>
          <a:ln w="12700">
            <a:solidFill>
              <a:schemeClr val="bg2"/>
            </a:solidFill>
            <a:prstDash val="solid"/>
          </a:ln>
        </p:spPr>
      </p:sp>
      <p:sp>
        <p:nvSpPr>
          <p:cNvPr id="45" name="Text 43"/>
          <p:cNvSpPr txBox="1"/>
          <p:nvPr/>
        </p:nvSpPr>
        <p:spPr>
          <a:xfrm>
            <a:off x="8366760" y="4828032"/>
            <a:ext cx="3108960" cy="640080"/>
          </a:xfrm>
          <a:prstGeom prst="rect">
            <a:avLst/>
          </a:prstGeom>
          <a:noFill/>
          <a:ln/>
        </p:spPr>
        <p:txBody>
          <a:bodyPr wrap="square" lIns="0" tIns="0" rIns="0" bIns="0" rtlCol="0" anchor="t"/>
          <a:lstStyle/>
          <a:p>
            <a:pPr indent="0" marL="0">
              <a:buNone/>
            </a:pPr>
            <a:r>
              <a:rPr lang="en-US" sz="2600" b="1" dirty="0">
                <a:solidFill>
                  <a:schemeClr val="accent1"/>
                </a:solidFill>
                <a:latin typeface="Georgia" pitchFamily="34" charset="0"/>
                <a:ea typeface="Georgia" pitchFamily="34" charset="-122"/>
                <a:cs typeface="Georgia" pitchFamily="34" charset="-120"/>
              </a:rPr>
              <a:t>GPU T4</a:t>
            </a:r>
            <a:endParaRPr lang="en-US" sz="2600" dirty="0"/>
          </a:p>
        </p:txBody>
      </p:sp>
      <p:sp>
        <p:nvSpPr>
          <p:cNvPr id="46" name="Text 44"/>
          <p:cNvSpPr txBox="1"/>
          <p:nvPr/>
        </p:nvSpPr>
        <p:spPr>
          <a:xfrm>
            <a:off x="8366760" y="5468112"/>
            <a:ext cx="3108960" cy="548640"/>
          </a:xfrm>
          <a:prstGeom prst="rect">
            <a:avLst/>
          </a:prstGeom>
          <a:noFill/>
          <a:ln/>
        </p:spPr>
        <p:txBody>
          <a:bodyPr wrap="square" lIns="0" tIns="0" rIns="0" bIns="0" rtlCol="0" anchor="t"/>
          <a:lstStyle/>
          <a:p>
            <a:pPr indent="0" marL="0">
              <a:buNone/>
            </a:pPr>
            <a:r>
              <a:rPr lang="en-US" sz="1300" dirty="0">
                <a:solidFill>
                  <a:schemeClr val="accent5"/>
                </a:solidFill>
              </a:rPr>
              <a:t>Google Colab, 17.547 pasangan</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HASIL</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Skor naik di semua set uji</a:t>
            </a:r>
            <a:endParaRPr lang="en-US" sz="3600" dirty="0"/>
          </a:p>
        </p:txBody>
      </p:sp>
      <p:sp>
        <p:nvSpPr>
          <p:cNvPr id="4" name="Text 2"/>
          <p:cNvSpPr txBox="1"/>
          <p:nvPr/>
        </p:nvSpPr>
        <p:spPr>
          <a:xfrm>
            <a:off x="548640" y="1371600"/>
            <a:ext cx="6035040" cy="365760"/>
          </a:xfrm>
          <a:prstGeom prst="rect">
            <a:avLst/>
          </a:prstGeom>
          <a:noFill/>
          <a:ln/>
        </p:spPr>
        <p:txBody>
          <a:bodyPr wrap="square" lIns="0" tIns="0" rIns="0" bIns="0" rtlCol="0" anchor="ctr"/>
          <a:lstStyle/>
          <a:p>
            <a:pPr indent="0" marL="0">
              <a:buNone/>
            </a:pPr>
            <a:r>
              <a:rPr lang="en-US" sz="1400" b="1" dirty="0">
                <a:solidFill>
                  <a:schemeClr val="tx1"/>
                </a:solidFill>
              </a:rPr>
              <a:t>chrF++ (makin tinggi makin baik)</a:t>
            </a:r>
            <a:endParaRPr lang="en-US" sz="1400" dirty="0"/>
          </a:p>
        </p:txBody>
      </p:sp>
      <p:sp>
        <p:nvSpPr>
          <p:cNvPr id="5" name="Gridline"/>
          <p:cNvSpPr/>
          <p:nvPr/>
        </p:nvSpPr>
        <p:spPr>
          <a:xfrm>
            <a:off x="1097280" y="5303520"/>
            <a:ext cx="5486400" cy="0"/>
          </a:xfrm>
          <a:prstGeom prst="line">
            <a:avLst/>
          </a:prstGeom>
          <a:noFill/>
          <a:ln w="9525">
            <a:solidFill>
              <a:srgbClr val="D5E3E3"/>
            </a:solidFill>
            <a:prstDash val="solid"/>
          </a:ln>
        </p:spPr>
      </p:sp>
      <p:sp>
        <p:nvSpPr>
          <p:cNvPr id="6" name="Text 4"/>
          <p:cNvSpPr txBox="1"/>
          <p:nvPr/>
        </p:nvSpPr>
        <p:spPr>
          <a:xfrm>
            <a:off x="548640" y="516636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0</a:t>
            </a:r>
            <a:endParaRPr lang="en-US" sz="1100" dirty="0"/>
          </a:p>
        </p:txBody>
      </p:sp>
      <p:sp>
        <p:nvSpPr>
          <p:cNvPr id="7" name="Gridline"/>
          <p:cNvSpPr/>
          <p:nvPr/>
        </p:nvSpPr>
        <p:spPr>
          <a:xfrm>
            <a:off x="1097280" y="4852851"/>
            <a:ext cx="5486400" cy="0"/>
          </a:xfrm>
          <a:prstGeom prst="line">
            <a:avLst/>
          </a:prstGeom>
          <a:noFill/>
          <a:ln w="9525">
            <a:solidFill>
              <a:srgbClr val="D5E3E3"/>
            </a:solidFill>
            <a:prstDash val="solid"/>
          </a:ln>
        </p:spPr>
      </p:sp>
      <p:sp>
        <p:nvSpPr>
          <p:cNvPr id="8" name="Text 6"/>
          <p:cNvSpPr txBox="1"/>
          <p:nvPr/>
        </p:nvSpPr>
        <p:spPr>
          <a:xfrm>
            <a:off x="548640" y="4715691"/>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10</a:t>
            </a:r>
            <a:endParaRPr lang="en-US" sz="1100" dirty="0"/>
          </a:p>
        </p:txBody>
      </p:sp>
      <p:sp>
        <p:nvSpPr>
          <p:cNvPr id="9" name="Gridline"/>
          <p:cNvSpPr/>
          <p:nvPr/>
        </p:nvSpPr>
        <p:spPr>
          <a:xfrm>
            <a:off x="1097280" y="4402183"/>
            <a:ext cx="5486400" cy="0"/>
          </a:xfrm>
          <a:prstGeom prst="line">
            <a:avLst/>
          </a:prstGeom>
          <a:noFill/>
          <a:ln w="9525">
            <a:solidFill>
              <a:srgbClr val="D5E3E3"/>
            </a:solidFill>
            <a:prstDash val="solid"/>
          </a:ln>
        </p:spPr>
      </p:sp>
      <p:sp>
        <p:nvSpPr>
          <p:cNvPr id="10" name="Text 8"/>
          <p:cNvSpPr txBox="1"/>
          <p:nvPr/>
        </p:nvSpPr>
        <p:spPr>
          <a:xfrm>
            <a:off x="548640" y="4265023"/>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20</a:t>
            </a:r>
            <a:endParaRPr lang="en-US" sz="1100" dirty="0"/>
          </a:p>
        </p:txBody>
      </p:sp>
      <p:sp>
        <p:nvSpPr>
          <p:cNvPr id="11" name="Gridline"/>
          <p:cNvSpPr/>
          <p:nvPr/>
        </p:nvSpPr>
        <p:spPr>
          <a:xfrm>
            <a:off x="1097280" y="3951514"/>
            <a:ext cx="5486400" cy="0"/>
          </a:xfrm>
          <a:prstGeom prst="line">
            <a:avLst/>
          </a:prstGeom>
          <a:noFill/>
          <a:ln w="9525">
            <a:solidFill>
              <a:srgbClr val="D5E3E3"/>
            </a:solidFill>
            <a:prstDash val="solid"/>
          </a:ln>
        </p:spPr>
      </p:sp>
      <p:sp>
        <p:nvSpPr>
          <p:cNvPr id="12" name="Text 10"/>
          <p:cNvSpPr txBox="1"/>
          <p:nvPr/>
        </p:nvSpPr>
        <p:spPr>
          <a:xfrm>
            <a:off x="548640" y="3814354"/>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30</a:t>
            </a:r>
            <a:endParaRPr lang="en-US" sz="1100" dirty="0"/>
          </a:p>
        </p:txBody>
      </p:sp>
      <p:sp>
        <p:nvSpPr>
          <p:cNvPr id="13" name="Gridline"/>
          <p:cNvSpPr/>
          <p:nvPr/>
        </p:nvSpPr>
        <p:spPr>
          <a:xfrm>
            <a:off x="1097280" y="3500846"/>
            <a:ext cx="5486400" cy="0"/>
          </a:xfrm>
          <a:prstGeom prst="line">
            <a:avLst/>
          </a:prstGeom>
          <a:noFill/>
          <a:ln w="9525">
            <a:solidFill>
              <a:srgbClr val="D5E3E3"/>
            </a:solidFill>
            <a:prstDash val="solid"/>
          </a:ln>
        </p:spPr>
      </p:sp>
      <p:sp>
        <p:nvSpPr>
          <p:cNvPr id="14" name="Text 12"/>
          <p:cNvSpPr txBox="1"/>
          <p:nvPr/>
        </p:nvSpPr>
        <p:spPr>
          <a:xfrm>
            <a:off x="548640" y="3363686"/>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40</a:t>
            </a:r>
            <a:endParaRPr lang="en-US" sz="1100" dirty="0"/>
          </a:p>
        </p:txBody>
      </p:sp>
      <p:sp>
        <p:nvSpPr>
          <p:cNvPr id="15" name="Gridline"/>
          <p:cNvSpPr/>
          <p:nvPr/>
        </p:nvSpPr>
        <p:spPr>
          <a:xfrm>
            <a:off x="1097280" y="3050177"/>
            <a:ext cx="5486400" cy="0"/>
          </a:xfrm>
          <a:prstGeom prst="line">
            <a:avLst/>
          </a:prstGeom>
          <a:noFill/>
          <a:ln w="9525">
            <a:solidFill>
              <a:srgbClr val="D5E3E3"/>
            </a:solidFill>
            <a:prstDash val="solid"/>
          </a:ln>
        </p:spPr>
      </p:sp>
      <p:sp>
        <p:nvSpPr>
          <p:cNvPr id="16" name="Text 14"/>
          <p:cNvSpPr txBox="1"/>
          <p:nvPr/>
        </p:nvSpPr>
        <p:spPr>
          <a:xfrm>
            <a:off x="548640" y="2913017"/>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50</a:t>
            </a:r>
            <a:endParaRPr lang="en-US" sz="1100" dirty="0"/>
          </a:p>
        </p:txBody>
      </p:sp>
      <p:sp>
        <p:nvSpPr>
          <p:cNvPr id="17" name="Gridline"/>
          <p:cNvSpPr/>
          <p:nvPr/>
        </p:nvSpPr>
        <p:spPr>
          <a:xfrm>
            <a:off x="1097280" y="2599509"/>
            <a:ext cx="5486400" cy="0"/>
          </a:xfrm>
          <a:prstGeom prst="line">
            <a:avLst/>
          </a:prstGeom>
          <a:noFill/>
          <a:ln w="9525">
            <a:solidFill>
              <a:srgbClr val="D5E3E3"/>
            </a:solidFill>
            <a:prstDash val="solid"/>
          </a:ln>
        </p:spPr>
      </p:sp>
      <p:sp>
        <p:nvSpPr>
          <p:cNvPr id="18" name="Text 16"/>
          <p:cNvSpPr txBox="1"/>
          <p:nvPr/>
        </p:nvSpPr>
        <p:spPr>
          <a:xfrm>
            <a:off x="548640" y="2462349"/>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60</a:t>
            </a:r>
            <a:endParaRPr lang="en-US" sz="1100" dirty="0"/>
          </a:p>
        </p:txBody>
      </p:sp>
      <p:sp>
        <p:nvSpPr>
          <p:cNvPr id="19" name="Gridline"/>
          <p:cNvSpPr/>
          <p:nvPr/>
        </p:nvSpPr>
        <p:spPr>
          <a:xfrm>
            <a:off x="1097280" y="2148840"/>
            <a:ext cx="5486400" cy="0"/>
          </a:xfrm>
          <a:prstGeom prst="line">
            <a:avLst/>
          </a:prstGeom>
          <a:noFill/>
          <a:ln w="9525">
            <a:solidFill>
              <a:srgbClr val="D5E3E3"/>
            </a:solidFill>
            <a:prstDash val="solid"/>
          </a:ln>
        </p:spPr>
      </p:sp>
      <p:sp>
        <p:nvSpPr>
          <p:cNvPr id="20" name="Text 18"/>
          <p:cNvSpPr txBox="1"/>
          <p:nvPr/>
        </p:nvSpPr>
        <p:spPr>
          <a:xfrm>
            <a:off x="548640" y="201168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70</a:t>
            </a:r>
            <a:endParaRPr lang="en-US" sz="1100" dirty="0"/>
          </a:p>
        </p:txBody>
      </p:sp>
      <p:sp>
        <p:nvSpPr>
          <p:cNvPr id="21" name="Column NusaX (400) Model dasar NLLB-200"/>
          <p:cNvSpPr/>
          <p:nvPr/>
        </p:nvSpPr>
        <p:spPr>
          <a:xfrm>
            <a:off x="1463040" y="3561235"/>
            <a:ext cx="548640" cy="1742285"/>
          </a:xfrm>
          <a:prstGeom prst="rect">
            <a:avLst/>
          </a:prstGeom>
          <a:solidFill>
            <a:srgbClr val="9DB4BB"/>
          </a:solidFill>
          <a:ln w="12700">
            <a:solidFill>
              <a:srgbClr val="9DB4BB"/>
            </a:solidFill>
            <a:prstDash val="solid"/>
          </a:ln>
        </p:spPr>
      </p:sp>
      <p:sp>
        <p:nvSpPr>
          <p:cNvPr id="22" name="Text 20"/>
          <p:cNvSpPr txBox="1"/>
          <p:nvPr/>
        </p:nvSpPr>
        <p:spPr>
          <a:xfrm>
            <a:off x="1280160" y="3250339"/>
            <a:ext cx="914400" cy="274320"/>
          </a:xfrm>
          <a:prstGeom prst="rect">
            <a:avLst/>
          </a:prstGeom>
          <a:noFill/>
          <a:ln/>
        </p:spPr>
        <p:txBody>
          <a:bodyPr wrap="square" lIns="0" tIns="0" rIns="0" bIns="0" rtlCol="0" anchor="ctr"/>
          <a:lstStyle/>
          <a:p>
            <a:pPr algn="ctr" indent="0" marL="0">
              <a:buNone/>
            </a:pPr>
            <a:r>
              <a:rPr lang="en-US" sz="1300" b="1" dirty="0">
                <a:solidFill>
                  <a:schemeClr val="tx1"/>
                </a:solidFill>
              </a:rPr>
              <a:t>38,66</a:t>
            </a:r>
            <a:endParaRPr lang="en-US" sz="1300" dirty="0"/>
          </a:p>
        </p:txBody>
      </p:sp>
      <p:sp>
        <p:nvSpPr>
          <p:cNvPr id="23" name="Column NusaX (400) Model kami (fine-tuned)"/>
          <p:cNvSpPr/>
          <p:nvPr/>
        </p:nvSpPr>
        <p:spPr>
          <a:xfrm>
            <a:off x="2011680" y="2727949"/>
            <a:ext cx="548640" cy="2575571"/>
          </a:xfrm>
          <a:prstGeom prst="rect">
            <a:avLst/>
          </a:prstGeom>
          <a:solidFill>
            <a:srgbClr val="0D9488"/>
          </a:solidFill>
          <a:ln w="12700">
            <a:solidFill>
              <a:srgbClr val="0D9488"/>
            </a:solidFill>
            <a:prstDash val="solid"/>
          </a:ln>
        </p:spPr>
      </p:sp>
      <p:sp>
        <p:nvSpPr>
          <p:cNvPr id="24" name="Text 22"/>
          <p:cNvSpPr txBox="1"/>
          <p:nvPr/>
        </p:nvSpPr>
        <p:spPr>
          <a:xfrm>
            <a:off x="1828800" y="2417053"/>
            <a:ext cx="914400" cy="274320"/>
          </a:xfrm>
          <a:prstGeom prst="rect">
            <a:avLst/>
          </a:prstGeom>
          <a:noFill/>
          <a:ln/>
        </p:spPr>
        <p:txBody>
          <a:bodyPr wrap="square" lIns="0" tIns="0" rIns="0" bIns="0" rtlCol="0" anchor="ctr"/>
          <a:lstStyle/>
          <a:p>
            <a:pPr algn="ctr" indent="0" marL="0">
              <a:buNone/>
            </a:pPr>
            <a:r>
              <a:rPr lang="en-US" sz="1300" b="1" dirty="0">
                <a:solidFill>
                  <a:schemeClr val="tx1"/>
                </a:solidFill>
              </a:rPr>
              <a:t>57,15</a:t>
            </a:r>
            <a:endParaRPr lang="en-US" sz="1300" dirty="0"/>
          </a:p>
        </p:txBody>
      </p:sp>
      <p:sp>
        <p:nvSpPr>
          <p:cNvPr id="25" name="Text 23"/>
          <p:cNvSpPr txBox="1"/>
          <p:nvPr/>
        </p:nvSpPr>
        <p:spPr>
          <a:xfrm>
            <a:off x="1097280" y="5376672"/>
            <a:ext cx="1828800" cy="365760"/>
          </a:xfrm>
          <a:prstGeom prst="rect">
            <a:avLst/>
          </a:prstGeom>
          <a:noFill/>
          <a:ln/>
        </p:spPr>
        <p:txBody>
          <a:bodyPr wrap="square" lIns="0" tIns="0" rIns="0" bIns="0" rtlCol="0" anchor="ctr"/>
          <a:lstStyle/>
          <a:p>
            <a:pPr algn="ctr" indent="0" marL="0">
              <a:buNone/>
            </a:pPr>
            <a:r>
              <a:rPr lang="en-US" sz="1300" dirty="0">
                <a:solidFill>
                  <a:schemeClr val="tx1"/>
                </a:solidFill>
              </a:rPr>
              <a:t>NusaX (400)</a:t>
            </a:r>
            <a:endParaRPr lang="en-US" sz="1300" dirty="0"/>
          </a:p>
        </p:txBody>
      </p:sp>
      <p:sp>
        <p:nvSpPr>
          <p:cNvPr id="26" name="Column FLORES (1.012) Model dasar NLLB-200"/>
          <p:cNvSpPr/>
          <p:nvPr/>
        </p:nvSpPr>
        <p:spPr>
          <a:xfrm>
            <a:off x="3291840" y="3218277"/>
            <a:ext cx="548640" cy="2085243"/>
          </a:xfrm>
          <a:prstGeom prst="rect">
            <a:avLst/>
          </a:prstGeom>
          <a:solidFill>
            <a:srgbClr val="9DB4BB"/>
          </a:solidFill>
          <a:ln w="12700">
            <a:solidFill>
              <a:srgbClr val="9DB4BB"/>
            </a:solidFill>
            <a:prstDash val="solid"/>
          </a:ln>
        </p:spPr>
      </p:sp>
      <p:sp>
        <p:nvSpPr>
          <p:cNvPr id="27" name="Text 25"/>
          <p:cNvSpPr txBox="1"/>
          <p:nvPr/>
        </p:nvSpPr>
        <p:spPr>
          <a:xfrm>
            <a:off x="3108960" y="2907381"/>
            <a:ext cx="914400" cy="274320"/>
          </a:xfrm>
          <a:prstGeom prst="rect">
            <a:avLst/>
          </a:prstGeom>
          <a:noFill/>
          <a:ln/>
        </p:spPr>
        <p:txBody>
          <a:bodyPr wrap="square" lIns="0" tIns="0" rIns="0" bIns="0" rtlCol="0" anchor="ctr"/>
          <a:lstStyle/>
          <a:p>
            <a:pPr algn="ctr" indent="0" marL="0">
              <a:buNone/>
            </a:pPr>
            <a:r>
              <a:rPr lang="en-US" sz="1300" b="1" dirty="0">
                <a:solidFill>
                  <a:schemeClr val="tx1"/>
                </a:solidFill>
              </a:rPr>
              <a:t>46,27</a:t>
            </a:r>
            <a:endParaRPr lang="en-US" sz="1300" dirty="0"/>
          </a:p>
        </p:txBody>
      </p:sp>
      <p:sp>
        <p:nvSpPr>
          <p:cNvPr id="28" name="Column FLORES (1.012) Model kami (fine-tuned)"/>
          <p:cNvSpPr/>
          <p:nvPr/>
        </p:nvSpPr>
        <p:spPr>
          <a:xfrm>
            <a:off x="3840480" y="2923539"/>
            <a:ext cx="548640" cy="2379981"/>
          </a:xfrm>
          <a:prstGeom prst="rect">
            <a:avLst/>
          </a:prstGeom>
          <a:solidFill>
            <a:srgbClr val="0D9488"/>
          </a:solidFill>
          <a:ln w="12700">
            <a:solidFill>
              <a:srgbClr val="0D9488"/>
            </a:solidFill>
            <a:prstDash val="solid"/>
          </a:ln>
        </p:spPr>
      </p:sp>
      <p:sp>
        <p:nvSpPr>
          <p:cNvPr id="29" name="Text 27"/>
          <p:cNvSpPr txBox="1"/>
          <p:nvPr/>
        </p:nvSpPr>
        <p:spPr>
          <a:xfrm>
            <a:off x="3657600" y="2612643"/>
            <a:ext cx="914400" cy="274320"/>
          </a:xfrm>
          <a:prstGeom prst="rect">
            <a:avLst/>
          </a:prstGeom>
          <a:noFill/>
          <a:ln/>
        </p:spPr>
        <p:txBody>
          <a:bodyPr wrap="square" lIns="0" tIns="0" rIns="0" bIns="0" rtlCol="0" anchor="ctr"/>
          <a:lstStyle/>
          <a:p>
            <a:pPr algn="ctr" indent="0" marL="0">
              <a:buNone/>
            </a:pPr>
            <a:r>
              <a:rPr lang="en-US" sz="1300" b="1" dirty="0">
                <a:solidFill>
                  <a:schemeClr val="tx1"/>
                </a:solidFill>
              </a:rPr>
              <a:t>52,81</a:t>
            </a:r>
            <a:endParaRPr lang="en-US" sz="1300" dirty="0"/>
          </a:p>
        </p:txBody>
      </p:sp>
      <p:sp>
        <p:nvSpPr>
          <p:cNvPr id="30" name="Text 28"/>
          <p:cNvSpPr txBox="1"/>
          <p:nvPr/>
        </p:nvSpPr>
        <p:spPr>
          <a:xfrm>
            <a:off x="2926080" y="5376672"/>
            <a:ext cx="1828800" cy="365760"/>
          </a:xfrm>
          <a:prstGeom prst="rect">
            <a:avLst/>
          </a:prstGeom>
          <a:noFill/>
          <a:ln/>
        </p:spPr>
        <p:txBody>
          <a:bodyPr wrap="square" lIns="0" tIns="0" rIns="0" bIns="0" rtlCol="0" anchor="ctr"/>
          <a:lstStyle/>
          <a:p>
            <a:pPr algn="ctr" indent="0" marL="0">
              <a:buNone/>
            </a:pPr>
            <a:r>
              <a:rPr lang="en-US" sz="1300" dirty="0">
                <a:solidFill>
                  <a:schemeClr val="tx1"/>
                </a:solidFill>
              </a:rPr>
              <a:t>FLORES (1.012)</a:t>
            </a:r>
            <a:endParaRPr lang="en-US" sz="1300" dirty="0"/>
          </a:p>
        </p:txBody>
      </p:sp>
      <p:sp>
        <p:nvSpPr>
          <p:cNvPr id="31" name="Column Hikayat (143) Model dasar NLLB-200"/>
          <p:cNvSpPr/>
          <p:nvPr/>
        </p:nvSpPr>
        <p:spPr>
          <a:xfrm>
            <a:off x="5120640" y="4222817"/>
            <a:ext cx="548640" cy="1080703"/>
          </a:xfrm>
          <a:prstGeom prst="rect">
            <a:avLst/>
          </a:prstGeom>
          <a:solidFill>
            <a:srgbClr val="9DB4BB"/>
          </a:solidFill>
          <a:ln w="12700">
            <a:solidFill>
              <a:srgbClr val="9DB4BB"/>
            </a:solidFill>
            <a:prstDash val="solid"/>
          </a:ln>
        </p:spPr>
      </p:sp>
      <p:sp>
        <p:nvSpPr>
          <p:cNvPr id="32" name="Text 30"/>
          <p:cNvSpPr txBox="1"/>
          <p:nvPr/>
        </p:nvSpPr>
        <p:spPr>
          <a:xfrm>
            <a:off x="4937760" y="3911921"/>
            <a:ext cx="914400" cy="274320"/>
          </a:xfrm>
          <a:prstGeom prst="rect">
            <a:avLst/>
          </a:prstGeom>
          <a:noFill/>
          <a:ln/>
        </p:spPr>
        <p:txBody>
          <a:bodyPr wrap="square" lIns="0" tIns="0" rIns="0" bIns="0" rtlCol="0" anchor="ctr"/>
          <a:lstStyle/>
          <a:p>
            <a:pPr algn="ctr" indent="0" marL="0">
              <a:buNone/>
            </a:pPr>
            <a:r>
              <a:rPr lang="en-US" sz="1300" b="1" dirty="0">
                <a:solidFill>
                  <a:schemeClr val="tx1"/>
                </a:solidFill>
              </a:rPr>
              <a:t>23,98</a:t>
            </a:r>
            <a:endParaRPr lang="en-US" sz="1300" dirty="0"/>
          </a:p>
        </p:txBody>
      </p:sp>
      <p:sp>
        <p:nvSpPr>
          <p:cNvPr id="33" name="Column Hikayat (143) Model kami (fine-tuned)"/>
          <p:cNvSpPr/>
          <p:nvPr/>
        </p:nvSpPr>
        <p:spPr>
          <a:xfrm>
            <a:off x="5669280" y="2558047"/>
            <a:ext cx="548640" cy="2745473"/>
          </a:xfrm>
          <a:prstGeom prst="rect">
            <a:avLst/>
          </a:prstGeom>
          <a:solidFill>
            <a:srgbClr val="0D9488"/>
          </a:solidFill>
          <a:ln w="12700">
            <a:solidFill>
              <a:srgbClr val="0D9488"/>
            </a:solidFill>
            <a:prstDash val="solid"/>
          </a:ln>
        </p:spPr>
      </p:sp>
      <p:sp>
        <p:nvSpPr>
          <p:cNvPr id="34" name="Text 32"/>
          <p:cNvSpPr txBox="1"/>
          <p:nvPr/>
        </p:nvSpPr>
        <p:spPr>
          <a:xfrm>
            <a:off x="5486400" y="2247151"/>
            <a:ext cx="914400" cy="274320"/>
          </a:xfrm>
          <a:prstGeom prst="rect">
            <a:avLst/>
          </a:prstGeom>
          <a:noFill/>
          <a:ln/>
        </p:spPr>
        <p:txBody>
          <a:bodyPr wrap="square" lIns="0" tIns="0" rIns="0" bIns="0" rtlCol="0" anchor="ctr"/>
          <a:lstStyle/>
          <a:p>
            <a:pPr algn="ctr" indent="0" marL="0">
              <a:buNone/>
            </a:pPr>
            <a:r>
              <a:rPr lang="en-US" sz="1300" b="1" dirty="0">
                <a:solidFill>
                  <a:schemeClr val="tx1"/>
                </a:solidFill>
              </a:rPr>
              <a:t>60,92</a:t>
            </a:r>
            <a:endParaRPr lang="en-US" sz="1300" dirty="0"/>
          </a:p>
        </p:txBody>
      </p:sp>
      <p:sp>
        <p:nvSpPr>
          <p:cNvPr id="35" name="Text 33"/>
          <p:cNvSpPr txBox="1"/>
          <p:nvPr/>
        </p:nvSpPr>
        <p:spPr>
          <a:xfrm>
            <a:off x="4754880" y="5376672"/>
            <a:ext cx="1828800" cy="365760"/>
          </a:xfrm>
          <a:prstGeom prst="rect">
            <a:avLst/>
          </a:prstGeom>
          <a:noFill/>
          <a:ln/>
        </p:spPr>
        <p:txBody>
          <a:bodyPr wrap="square" lIns="0" tIns="0" rIns="0" bIns="0" rtlCol="0" anchor="ctr"/>
          <a:lstStyle/>
          <a:p>
            <a:pPr algn="ctr" indent="0" marL="0">
              <a:buNone/>
            </a:pPr>
            <a:r>
              <a:rPr lang="en-US" sz="1300" dirty="0">
                <a:solidFill>
                  <a:schemeClr val="tx1"/>
                </a:solidFill>
              </a:rPr>
              <a:t>Hikayat (143)</a:t>
            </a:r>
            <a:endParaRPr lang="en-US" sz="1300" dirty="0"/>
          </a:p>
        </p:txBody>
      </p:sp>
      <p:sp>
        <p:nvSpPr>
          <p:cNvPr id="36" name="Legend swatch"/>
          <p:cNvSpPr/>
          <p:nvPr/>
        </p:nvSpPr>
        <p:spPr>
          <a:xfrm>
            <a:off x="1463040" y="5916168"/>
            <a:ext cx="201168" cy="201168"/>
          </a:xfrm>
          <a:prstGeom prst="rect">
            <a:avLst/>
          </a:prstGeom>
          <a:solidFill>
            <a:srgbClr val="9DB4BB"/>
          </a:solidFill>
          <a:ln w="12700">
            <a:solidFill>
              <a:srgbClr val="9DB4BB"/>
            </a:solidFill>
            <a:prstDash val="solid"/>
          </a:ln>
        </p:spPr>
      </p:sp>
      <p:sp>
        <p:nvSpPr>
          <p:cNvPr id="37" name="Text 35"/>
          <p:cNvSpPr txBox="1"/>
          <p:nvPr/>
        </p:nvSpPr>
        <p:spPr>
          <a:xfrm>
            <a:off x="1755648" y="5852160"/>
            <a:ext cx="2468880" cy="329184"/>
          </a:xfrm>
          <a:prstGeom prst="rect">
            <a:avLst/>
          </a:prstGeom>
          <a:noFill/>
          <a:ln/>
        </p:spPr>
        <p:txBody>
          <a:bodyPr wrap="square" lIns="0" tIns="0" rIns="0" bIns="0" rtlCol="0" anchor="ctr"/>
          <a:lstStyle/>
          <a:p>
            <a:pPr indent="0" marL="0">
              <a:buNone/>
            </a:pPr>
            <a:r>
              <a:rPr lang="en-US" sz="1300" dirty="0">
                <a:solidFill>
                  <a:schemeClr val="tx1"/>
                </a:solidFill>
              </a:rPr>
              <a:t>Model dasar NLLB-200</a:t>
            </a:r>
            <a:endParaRPr lang="en-US" sz="1300" dirty="0"/>
          </a:p>
        </p:txBody>
      </p:sp>
      <p:sp>
        <p:nvSpPr>
          <p:cNvPr id="38" name="Legend swatch"/>
          <p:cNvSpPr/>
          <p:nvPr/>
        </p:nvSpPr>
        <p:spPr>
          <a:xfrm>
            <a:off x="4297680" y="5916168"/>
            <a:ext cx="201168" cy="201168"/>
          </a:xfrm>
          <a:prstGeom prst="rect">
            <a:avLst/>
          </a:prstGeom>
          <a:solidFill>
            <a:srgbClr val="0D9488"/>
          </a:solidFill>
          <a:ln w="12700">
            <a:solidFill>
              <a:srgbClr val="0D9488"/>
            </a:solidFill>
            <a:prstDash val="solid"/>
          </a:ln>
        </p:spPr>
      </p:sp>
      <p:sp>
        <p:nvSpPr>
          <p:cNvPr id="39" name="Text 37"/>
          <p:cNvSpPr txBox="1"/>
          <p:nvPr/>
        </p:nvSpPr>
        <p:spPr>
          <a:xfrm>
            <a:off x="4590288" y="5852160"/>
            <a:ext cx="2468880" cy="329184"/>
          </a:xfrm>
          <a:prstGeom prst="rect">
            <a:avLst/>
          </a:prstGeom>
          <a:noFill/>
          <a:ln/>
        </p:spPr>
        <p:txBody>
          <a:bodyPr wrap="square" lIns="0" tIns="0" rIns="0" bIns="0" rtlCol="0" anchor="ctr"/>
          <a:lstStyle/>
          <a:p>
            <a:pPr indent="0" marL="0">
              <a:buNone/>
            </a:pPr>
            <a:r>
              <a:rPr lang="en-US" sz="1300" dirty="0">
                <a:solidFill>
                  <a:schemeClr val="tx1"/>
                </a:solidFill>
              </a:rPr>
              <a:t>Model kami (fine-tuned)</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766560" y="1554480"/>
          <a:ext cx="4873752" cy="914400"/>
        </p:xfrm>
        <a:graphic>
          <a:graphicData uri="http://schemas.openxmlformats.org/drawingml/2006/table">
            <a:tbl>
              <a:tblPr/>
              <a:tblGrid>
                <a:gridCol w="868680"/>
                <a:gridCol w="1335024"/>
                <a:gridCol w="1335024"/>
                <a:gridCol w="1335024"/>
              </a:tblGrid>
              <a:tr h="457200">
                <a:tc>
                  <a:txBody>
                    <a:bodyPr/>
                    <a:lstStyle/>
                    <a:p>
                      <a:pPr algn="l" indent="0" marL="0">
                        <a:buNone/>
                      </a:pPr>
                      <a:r>
                        <a:rPr lang="en-US" sz="1100" b="1" dirty="0">
                          <a:solidFill>
                            <a:srgbClr val="FFFFFF"/>
                          </a:solidFill>
                        </a:rPr>
                        <a:t>Set uji</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ctr" indent="0" marL="0">
                        <a:buNone/>
                      </a:pPr>
                      <a:r>
                        <a:rPr lang="en-US" sz="1100" b="1" dirty="0">
                          <a:solidFill>
                            <a:srgbClr val="FFFFFF"/>
                          </a:solidFill>
                        </a:rPr>
                        <a:t>BLEU</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ctr" indent="0" marL="0">
                        <a:buNone/>
                      </a:pPr>
                      <a:r>
                        <a:rPr lang="en-US" sz="1100" b="1" dirty="0">
                          <a:solidFill>
                            <a:srgbClr val="FFFFFF"/>
                          </a:solidFill>
                        </a:rPr>
                        <a:t>chrF</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ctr" indent="0" marL="0">
                        <a:buNone/>
                      </a:pPr>
                      <a:r>
                        <a:rPr lang="en-US" sz="1100" b="1" dirty="0">
                          <a:solidFill>
                            <a:srgbClr val="FFFFFF"/>
                          </a:solidFill>
                        </a:rPr>
                        <a:t>chrF++</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457200">
                <a:tc>
                  <a:txBody>
                    <a:bodyPr/>
                    <a:lstStyle/>
                    <a:p>
                      <a:pPr indent="0" marL="0">
                        <a:buNone/>
                      </a:pPr>
                      <a:r>
                        <a:rPr lang="en-US" sz="1200" b="1" dirty="0">
                          <a:solidFill>
                            <a:srgbClr val="12303A"/>
                          </a:solidFill>
                        </a:rPr>
                        <a:t>NusaX</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13,53 → 30,79</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41,58 → 59,64</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38,66 → 57,15</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2303A"/>
                          </a:solidFill>
                        </a:rPr>
                        <a:t>FLORES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21,31 → 27,32</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48,74 → 55,05</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46,27 → 52,81</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2303A"/>
                          </a:solidFill>
                        </a:rPr>
                        <a:t>Hikayat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2,68 → 35,94</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26,84 → 63,02</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303A"/>
                          </a:solidFill>
                        </a:rPr>
                        <a:t>23,98 → 60,92</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41" name="Kartu catatan"/>
          <p:cNvSpPr/>
          <p:nvPr/>
        </p:nvSpPr>
        <p:spPr>
          <a:xfrm>
            <a:off x="6766560" y="3657600"/>
            <a:ext cx="4873752" cy="2560320"/>
          </a:xfrm>
          <a:prstGeom prst="roundRect">
            <a:avLst>
              <a:gd name="adj" fmla="val 4286"/>
            </a:avLst>
          </a:prstGeom>
          <a:solidFill>
            <a:schemeClr val="bg2"/>
          </a:solidFill>
          <a:ln w="12700">
            <a:solidFill>
              <a:schemeClr val="bg2"/>
            </a:solidFill>
            <a:prstDash val="solid"/>
          </a:ln>
        </p:spPr>
      </p:sp>
      <p:sp>
        <p:nvSpPr>
          <p:cNvPr id="42" name="Text 39"/>
          <p:cNvSpPr txBox="1"/>
          <p:nvPr/>
        </p:nvSpPr>
        <p:spPr>
          <a:xfrm>
            <a:off x="6995160" y="3794760"/>
            <a:ext cx="4389120" cy="365760"/>
          </a:xfrm>
          <a:prstGeom prst="rect">
            <a:avLst/>
          </a:prstGeom>
          <a:noFill/>
          <a:ln/>
        </p:spPr>
        <p:txBody>
          <a:bodyPr wrap="square" lIns="0" tIns="0" rIns="0" bIns="0" rtlCol="0" anchor="t"/>
          <a:lstStyle/>
          <a:p>
            <a:pPr indent="0" marL="0">
              <a:buNone/>
            </a:pPr>
            <a:r>
              <a:rPr lang="en-US" sz="1600" b="1" dirty="0">
                <a:solidFill>
                  <a:schemeClr val="tx1"/>
                </a:solidFill>
              </a:rPr>
              <a:t>Cara membaca</a:t>
            </a:r>
            <a:endParaRPr lang="en-US" sz="1600" dirty="0"/>
          </a:p>
        </p:txBody>
      </p:sp>
      <p:sp>
        <p:nvSpPr>
          <p:cNvPr id="43" name="Text 40"/>
          <p:cNvSpPr txBox="1"/>
          <p:nvPr/>
        </p:nvSpPr>
        <p:spPr>
          <a:xfrm>
            <a:off x="6995160" y="4206240"/>
            <a:ext cx="4434840" cy="1965960"/>
          </a:xfrm>
          <a:prstGeom prst="rect">
            <a:avLst/>
          </a:prstGeom>
          <a:noFill/>
          <a:ln/>
        </p:spPr>
        <p:txBody>
          <a:bodyPr wrap="square" lIns="0" tIns="0" rIns="0" bIns="0" rtlCol="0" anchor="t"/>
          <a:lstStyle/>
          <a:p>
            <a:pPr indent="0" marL="0">
              <a:buNone/>
            </a:pPr>
            <a:r>
              <a:rPr lang="en-US" sz="1400" dirty="0">
                <a:solidFill>
                  <a:schemeClr val="accent5"/>
                </a:solidFill>
              </a:rPr>
              <a:t>Tabel: model dasar → model kami. Kalimat uji tidak pernah dilatih dan tidak dipakai memilih model. Hikayat paling dekat dengan data syair kami; NusaX dan FLORES menunjukkan pemakaian sehari-hari.</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HASIL</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Pendekatan klasik dan neural</a:t>
            </a:r>
            <a:endParaRPr lang="en-US" sz="3600" dirty="0"/>
          </a:p>
        </p:txBody>
      </p:sp>
      <p:sp>
        <p:nvSpPr>
          <p:cNvPr id="4" name="Text 2"/>
          <p:cNvSpPr txBox="1"/>
          <p:nvPr/>
        </p:nvSpPr>
        <p:spPr>
          <a:xfrm>
            <a:off x="548640" y="1371600"/>
            <a:ext cx="7223760" cy="365760"/>
          </a:xfrm>
          <a:prstGeom prst="rect">
            <a:avLst/>
          </a:prstGeom>
          <a:noFill/>
          <a:ln/>
        </p:spPr>
        <p:txBody>
          <a:bodyPr wrap="square" lIns="0" tIns="0" rIns="0" bIns="0" rtlCol="0" anchor="ctr"/>
          <a:lstStyle/>
          <a:p>
            <a:pPr indent="0" marL="0">
              <a:buNone/>
            </a:pPr>
            <a:r>
              <a:rPr lang="en-US" sz="1400" b="1" dirty="0">
                <a:solidFill>
                  <a:schemeClr val="tx1"/>
                </a:solidFill>
              </a:rPr>
              <a:t>chrF++ pada 400 kalimat uji NusaX</a:t>
            </a:r>
            <a:endParaRPr lang="en-US" sz="1400" dirty="0"/>
          </a:p>
        </p:txBody>
      </p:sp>
      <p:sp>
        <p:nvSpPr>
          <p:cNvPr id="5" name="Text 3"/>
          <p:cNvSpPr txBox="1"/>
          <p:nvPr/>
        </p:nvSpPr>
        <p:spPr>
          <a:xfrm>
            <a:off x="548640" y="1995587"/>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Salin sumber (tanpa terjemah)</a:t>
            </a:r>
            <a:endParaRPr lang="en-US" sz="1400" dirty="0"/>
          </a:p>
        </p:txBody>
      </p:sp>
      <p:sp>
        <p:nvSpPr>
          <p:cNvPr id="6" name="Bar Salin sumber (tanpa terjemah)"/>
          <p:cNvSpPr/>
          <p:nvPr/>
        </p:nvSpPr>
        <p:spPr>
          <a:xfrm>
            <a:off x="3429000" y="1995587"/>
            <a:ext cx="1710631" cy="544251"/>
          </a:xfrm>
          <a:prstGeom prst="rect">
            <a:avLst/>
          </a:prstGeom>
          <a:solidFill>
            <a:srgbClr val="9DB4BB"/>
          </a:solidFill>
          <a:ln w="12700">
            <a:solidFill>
              <a:srgbClr val="9DB4BB"/>
            </a:solidFill>
            <a:prstDash val="solid"/>
          </a:ln>
        </p:spPr>
      </p:sp>
      <p:sp>
        <p:nvSpPr>
          <p:cNvPr id="7" name="Text 5"/>
          <p:cNvSpPr txBox="1"/>
          <p:nvPr/>
        </p:nvSpPr>
        <p:spPr>
          <a:xfrm>
            <a:off x="5231071" y="1995587"/>
            <a:ext cx="777240" cy="544251"/>
          </a:xfrm>
          <a:prstGeom prst="rect">
            <a:avLst/>
          </a:prstGeom>
          <a:noFill/>
          <a:ln/>
        </p:spPr>
        <p:txBody>
          <a:bodyPr wrap="square" lIns="0" tIns="0" rIns="0" bIns="0" rtlCol="0" anchor="ctr"/>
          <a:lstStyle/>
          <a:p>
            <a:pPr indent="0" marL="0">
              <a:buNone/>
            </a:pPr>
            <a:r>
              <a:rPr lang="en-US" sz="1400" b="1" dirty="0">
                <a:solidFill>
                  <a:schemeClr val="tx1"/>
                </a:solidFill>
              </a:rPr>
              <a:t>32,0</a:t>
            </a:r>
            <a:endParaRPr lang="en-US" sz="1400" dirty="0"/>
          </a:p>
        </p:txBody>
      </p:sp>
      <p:sp>
        <p:nvSpPr>
          <p:cNvPr id="8" name="Text 6"/>
          <p:cNvSpPr txBox="1"/>
          <p:nvPr/>
        </p:nvSpPr>
        <p:spPr>
          <a:xfrm>
            <a:off x="548640" y="2873411"/>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Direct (kamus)</a:t>
            </a:r>
            <a:endParaRPr lang="en-US" sz="1400" dirty="0"/>
          </a:p>
        </p:txBody>
      </p:sp>
      <p:sp>
        <p:nvSpPr>
          <p:cNvPr id="9" name="Bar Direct (kamus)"/>
          <p:cNvSpPr/>
          <p:nvPr/>
        </p:nvSpPr>
        <p:spPr>
          <a:xfrm>
            <a:off x="3429000" y="2873411"/>
            <a:ext cx="1897732" cy="544251"/>
          </a:xfrm>
          <a:prstGeom prst="rect">
            <a:avLst/>
          </a:prstGeom>
          <a:solidFill>
            <a:srgbClr val="4F6F7A"/>
          </a:solidFill>
          <a:ln w="12700">
            <a:solidFill>
              <a:srgbClr val="4F6F7A"/>
            </a:solidFill>
            <a:prstDash val="solid"/>
          </a:ln>
        </p:spPr>
      </p:sp>
      <p:sp>
        <p:nvSpPr>
          <p:cNvPr id="10" name="Text 8"/>
          <p:cNvSpPr txBox="1"/>
          <p:nvPr/>
        </p:nvSpPr>
        <p:spPr>
          <a:xfrm>
            <a:off x="5418172" y="2873411"/>
            <a:ext cx="777240" cy="544251"/>
          </a:xfrm>
          <a:prstGeom prst="rect">
            <a:avLst/>
          </a:prstGeom>
          <a:noFill/>
          <a:ln/>
        </p:spPr>
        <p:txBody>
          <a:bodyPr wrap="square" lIns="0" tIns="0" rIns="0" bIns="0" rtlCol="0" anchor="ctr"/>
          <a:lstStyle/>
          <a:p>
            <a:pPr indent="0" marL="0">
              <a:buNone/>
            </a:pPr>
            <a:r>
              <a:rPr lang="en-US" sz="1400" b="1" dirty="0">
                <a:solidFill>
                  <a:schemeClr val="tx1"/>
                </a:solidFill>
              </a:rPr>
              <a:t>35,5</a:t>
            </a:r>
            <a:endParaRPr lang="en-US" sz="1400" dirty="0"/>
          </a:p>
        </p:txBody>
      </p:sp>
      <p:sp>
        <p:nvSpPr>
          <p:cNvPr id="11" name="Text 9"/>
          <p:cNvSpPr txBox="1"/>
          <p:nvPr/>
        </p:nvSpPr>
        <p:spPr>
          <a:xfrm>
            <a:off x="548640" y="3751235"/>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Transfer (aturan)</a:t>
            </a:r>
            <a:endParaRPr lang="en-US" sz="1400" dirty="0"/>
          </a:p>
        </p:txBody>
      </p:sp>
      <p:sp>
        <p:nvSpPr>
          <p:cNvPr id="12" name="Bar Transfer (aturan)"/>
          <p:cNvSpPr/>
          <p:nvPr/>
        </p:nvSpPr>
        <p:spPr>
          <a:xfrm>
            <a:off x="3429000" y="3751235"/>
            <a:ext cx="2095523" cy="544251"/>
          </a:xfrm>
          <a:prstGeom prst="rect">
            <a:avLst/>
          </a:prstGeom>
          <a:solidFill>
            <a:srgbClr val="4F6F7A"/>
          </a:solidFill>
          <a:ln w="12700">
            <a:solidFill>
              <a:srgbClr val="4F6F7A"/>
            </a:solidFill>
            <a:prstDash val="solid"/>
          </a:ln>
        </p:spPr>
      </p:sp>
      <p:sp>
        <p:nvSpPr>
          <p:cNvPr id="13" name="Text 11"/>
          <p:cNvSpPr txBox="1"/>
          <p:nvPr/>
        </p:nvSpPr>
        <p:spPr>
          <a:xfrm>
            <a:off x="5615963" y="3751235"/>
            <a:ext cx="777240" cy="544251"/>
          </a:xfrm>
          <a:prstGeom prst="rect">
            <a:avLst/>
          </a:prstGeom>
          <a:noFill/>
          <a:ln/>
        </p:spPr>
        <p:txBody>
          <a:bodyPr wrap="square" lIns="0" tIns="0" rIns="0" bIns="0" rtlCol="0" anchor="ctr"/>
          <a:lstStyle/>
          <a:p>
            <a:pPr indent="0" marL="0">
              <a:buNone/>
            </a:pPr>
            <a:r>
              <a:rPr lang="en-US" sz="1400" b="1" dirty="0">
                <a:solidFill>
                  <a:schemeClr val="tx1"/>
                </a:solidFill>
              </a:rPr>
              <a:t>39,2</a:t>
            </a:r>
            <a:endParaRPr lang="en-US" sz="1400" dirty="0"/>
          </a:p>
        </p:txBody>
      </p:sp>
      <p:sp>
        <p:nvSpPr>
          <p:cNvPr id="14" name="Text 12"/>
          <p:cNvSpPr txBox="1"/>
          <p:nvPr/>
        </p:nvSpPr>
        <p:spPr>
          <a:xfrm>
            <a:off x="548640" y="4629059"/>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NLLB dasar</a:t>
            </a:r>
            <a:endParaRPr lang="en-US" sz="1400" dirty="0"/>
          </a:p>
        </p:txBody>
      </p:sp>
      <p:sp>
        <p:nvSpPr>
          <p:cNvPr id="15" name="Bar NLLB dasar"/>
          <p:cNvSpPr/>
          <p:nvPr/>
        </p:nvSpPr>
        <p:spPr>
          <a:xfrm>
            <a:off x="3429000" y="4629059"/>
            <a:ext cx="2068795" cy="544251"/>
          </a:xfrm>
          <a:prstGeom prst="rect">
            <a:avLst/>
          </a:prstGeom>
          <a:solidFill>
            <a:srgbClr val="9DB4BB"/>
          </a:solidFill>
          <a:ln w="12700">
            <a:solidFill>
              <a:srgbClr val="9DB4BB"/>
            </a:solidFill>
            <a:prstDash val="solid"/>
          </a:ln>
        </p:spPr>
      </p:sp>
      <p:sp>
        <p:nvSpPr>
          <p:cNvPr id="16" name="Text 14"/>
          <p:cNvSpPr txBox="1"/>
          <p:nvPr/>
        </p:nvSpPr>
        <p:spPr>
          <a:xfrm>
            <a:off x="5589235" y="4629059"/>
            <a:ext cx="777240" cy="544251"/>
          </a:xfrm>
          <a:prstGeom prst="rect">
            <a:avLst/>
          </a:prstGeom>
          <a:noFill/>
          <a:ln/>
        </p:spPr>
        <p:txBody>
          <a:bodyPr wrap="square" lIns="0" tIns="0" rIns="0" bIns="0" rtlCol="0" anchor="ctr"/>
          <a:lstStyle/>
          <a:p>
            <a:pPr indent="0" marL="0">
              <a:buNone/>
            </a:pPr>
            <a:r>
              <a:rPr lang="en-US" sz="1400" b="1" dirty="0">
                <a:solidFill>
                  <a:schemeClr val="tx1"/>
                </a:solidFill>
              </a:rPr>
              <a:t>38,7</a:t>
            </a:r>
            <a:endParaRPr lang="en-US" sz="1400" dirty="0"/>
          </a:p>
        </p:txBody>
      </p:sp>
      <p:sp>
        <p:nvSpPr>
          <p:cNvPr id="17" name="Text 15"/>
          <p:cNvSpPr txBox="1"/>
          <p:nvPr/>
        </p:nvSpPr>
        <p:spPr>
          <a:xfrm>
            <a:off x="548640" y="5506883"/>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NLLB fine-tuned</a:t>
            </a:r>
            <a:endParaRPr lang="en-US" sz="1400" dirty="0"/>
          </a:p>
        </p:txBody>
      </p:sp>
      <p:sp>
        <p:nvSpPr>
          <p:cNvPr id="18" name="Bar NLLB fine-tuned"/>
          <p:cNvSpPr/>
          <p:nvPr/>
        </p:nvSpPr>
        <p:spPr>
          <a:xfrm>
            <a:off x="3429000" y="5506883"/>
            <a:ext cx="3052408" cy="544251"/>
          </a:xfrm>
          <a:prstGeom prst="rect">
            <a:avLst/>
          </a:prstGeom>
          <a:solidFill>
            <a:srgbClr val="0D9488"/>
          </a:solidFill>
          <a:ln w="12700">
            <a:solidFill>
              <a:srgbClr val="0D9488"/>
            </a:solidFill>
            <a:prstDash val="solid"/>
          </a:ln>
        </p:spPr>
      </p:sp>
      <p:sp>
        <p:nvSpPr>
          <p:cNvPr id="19" name="Text 17"/>
          <p:cNvSpPr txBox="1"/>
          <p:nvPr/>
        </p:nvSpPr>
        <p:spPr>
          <a:xfrm>
            <a:off x="6572848" y="5506883"/>
            <a:ext cx="777240" cy="544251"/>
          </a:xfrm>
          <a:prstGeom prst="rect">
            <a:avLst/>
          </a:prstGeom>
          <a:noFill/>
          <a:ln/>
        </p:spPr>
        <p:txBody>
          <a:bodyPr wrap="square" lIns="0" tIns="0" rIns="0" bIns="0" rtlCol="0" anchor="ctr"/>
          <a:lstStyle/>
          <a:p>
            <a:pPr indent="0" marL="0">
              <a:buNone/>
            </a:pPr>
            <a:r>
              <a:rPr lang="en-US" sz="1400" b="1" dirty="0">
                <a:solidFill>
                  <a:schemeClr val="tx1"/>
                </a:solidFill>
              </a:rPr>
              <a:t>57,1</a:t>
            </a:r>
            <a:endParaRPr lang="en-US" sz="1400" dirty="0"/>
          </a:p>
        </p:txBody>
      </p:sp>
      <p:sp>
        <p:nvSpPr>
          <p:cNvPr id="20" name="Kartu angka"/>
          <p:cNvSpPr/>
          <p:nvPr/>
        </p:nvSpPr>
        <p:spPr>
          <a:xfrm>
            <a:off x="8138160" y="1463040"/>
            <a:ext cx="3502152" cy="1417320"/>
          </a:xfrm>
          <a:prstGeom prst="roundRect">
            <a:avLst>
              <a:gd name="adj" fmla="val 7742"/>
            </a:avLst>
          </a:prstGeom>
          <a:solidFill>
            <a:schemeClr val="bg2"/>
          </a:solidFill>
          <a:ln w="12700">
            <a:solidFill>
              <a:schemeClr val="bg2"/>
            </a:solidFill>
            <a:prstDash val="solid"/>
          </a:ln>
        </p:spPr>
      </p:sp>
      <p:sp>
        <p:nvSpPr>
          <p:cNvPr id="21" name="Text 19"/>
          <p:cNvSpPr txBox="1"/>
          <p:nvPr/>
        </p:nvSpPr>
        <p:spPr>
          <a:xfrm>
            <a:off x="8366760" y="1645920"/>
            <a:ext cx="3108960" cy="640080"/>
          </a:xfrm>
          <a:prstGeom prst="rect">
            <a:avLst/>
          </a:prstGeom>
          <a:noFill/>
          <a:ln/>
        </p:spPr>
        <p:txBody>
          <a:bodyPr wrap="square" lIns="0" tIns="0" rIns="0" bIns="0" rtlCol="0" anchor="t"/>
          <a:lstStyle/>
          <a:p>
            <a:pPr indent="0" marL="0">
              <a:buNone/>
            </a:pPr>
            <a:r>
              <a:rPr lang="en-US" sz="3600" b="1" dirty="0">
                <a:solidFill>
                  <a:schemeClr val="accent1"/>
                </a:solidFill>
                <a:latin typeface="Georgia" pitchFamily="34" charset="0"/>
                <a:ea typeface="Georgia" pitchFamily="34" charset="-122"/>
                <a:cs typeface="Georgia" pitchFamily="34" charset="-120"/>
              </a:rPr>
              <a:t>+3,5</a:t>
            </a:r>
            <a:endParaRPr lang="en-US" sz="3600" dirty="0"/>
          </a:p>
        </p:txBody>
      </p:sp>
      <p:sp>
        <p:nvSpPr>
          <p:cNvPr id="22" name="Text 20"/>
          <p:cNvSpPr txBox="1"/>
          <p:nvPr/>
        </p:nvSpPr>
        <p:spPr>
          <a:xfrm>
            <a:off x="8366760" y="2331720"/>
            <a:ext cx="3108960" cy="457200"/>
          </a:xfrm>
          <a:prstGeom prst="rect">
            <a:avLst/>
          </a:prstGeom>
          <a:noFill/>
          <a:ln/>
        </p:spPr>
        <p:txBody>
          <a:bodyPr wrap="square" lIns="0" tIns="0" rIns="0" bIns="0" rtlCol="0" anchor="t"/>
          <a:lstStyle/>
          <a:p>
            <a:pPr indent="0" marL="0">
              <a:buNone/>
            </a:pPr>
            <a:r>
              <a:rPr lang="en-US" sz="1300" dirty="0">
                <a:solidFill>
                  <a:schemeClr val="accent5"/>
                </a:solidFill>
              </a:rPr>
              <a:t>Direct dibanding menyalin sumber</a:t>
            </a:r>
            <a:endParaRPr lang="en-US" sz="1300" dirty="0"/>
          </a:p>
        </p:txBody>
      </p:sp>
      <p:sp>
        <p:nvSpPr>
          <p:cNvPr id="23" name="Kartu angka"/>
          <p:cNvSpPr/>
          <p:nvPr/>
        </p:nvSpPr>
        <p:spPr>
          <a:xfrm>
            <a:off x="8138160" y="3063240"/>
            <a:ext cx="3502152" cy="1417320"/>
          </a:xfrm>
          <a:prstGeom prst="roundRect">
            <a:avLst>
              <a:gd name="adj" fmla="val 7742"/>
            </a:avLst>
          </a:prstGeom>
          <a:solidFill>
            <a:schemeClr val="bg2"/>
          </a:solidFill>
          <a:ln w="12700">
            <a:solidFill>
              <a:schemeClr val="bg2"/>
            </a:solidFill>
            <a:prstDash val="solid"/>
          </a:ln>
        </p:spPr>
      </p:sp>
      <p:sp>
        <p:nvSpPr>
          <p:cNvPr id="24" name="Text 22"/>
          <p:cNvSpPr txBox="1"/>
          <p:nvPr/>
        </p:nvSpPr>
        <p:spPr>
          <a:xfrm>
            <a:off x="8366760" y="3246120"/>
            <a:ext cx="3108960" cy="640080"/>
          </a:xfrm>
          <a:prstGeom prst="rect">
            <a:avLst/>
          </a:prstGeom>
          <a:noFill/>
          <a:ln/>
        </p:spPr>
        <p:txBody>
          <a:bodyPr wrap="square" lIns="0" tIns="0" rIns="0" bIns="0" rtlCol="0" anchor="t"/>
          <a:lstStyle/>
          <a:p>
            <a:pPr indent="0" marL="0">
              <a:buNone/>
            </a:pPr>
            <a:r>
              <a:rPr lang="en-US" sz="3600" b="1" dirty="0">
                <a:solidFill>
                  <a:schemeClr val="accent1"/>
                </a:solidFill>
                <a:latin typeface="Georgia" pitchFamily="34" charset="0"/>
                <a:ea typeface="Georgia" pitchFamily="34" charset="-122"/>
                <a:cs typeface="Georgia" pitchFamily="34" charset="-120"/>
              </a:rPr>
              <a:t>+3,7</a:t>
            </a:r>
            <a:endParaRPr lang="en-US" sz="3600" dirty="0"/>
          </a:p>
        </p:txBody>
      </p:sp>
      <p:sp>
        <p:nvSpPr>
          <p:cNvPr id="25" name="Text 23"/>
          <p:cNvSpPr txBox="1"/>
          <p:nvPr/>
        </p:nvSpPr>
        <p:spPr>
          <a:xfrm>
            <a:off x="8366760" y="3931920"/>
            <a:ext cx="3108960" cy="457200"/>
          </a:xfrm>
          <a:prstGeom prst="rect">
            <a:avLst/>
          </a:prstGeom>
          <a:noFill/>
          <a:ln/>
        </p:spPr>
        <p:txBody>
          <a:bodyPr wrap="square" lIns="0" tIns="0" rIns="0" bIns="0" rtlCol="0" anchor="t"/>
          <a:lstStyle/>
          <a:p>
            <a:pPr indent="0" marL="0">
              <a:buNone/>
            </a:pPr>
            <a:r>
              <a:rPr lang="en-US" sz="1300" dirty="0">
                <a:solidFill>
                  <a:schemeClr val="accent5"/>
                </a:solidFill>
              </a:rPr>
              <a:t>Transfer dibanding direct</a:t>
            </a:r>
            <a:endParaRPr lang="en-US" sz="1300" dirty="0"/>
          </a:p>
        </p:txBody>
      </p:sp>
      <p:sp>
        <p:nvSpPr>
          <p:cNvPr id="26" name="Kartu angka"/>
          <p:cNvSpPr/>
          <p:nvPr/>
        </p:nvSpPr>
        <p:spPr>
          <a:xfrm>
            <a:off x="8138160" y="4663440"/>
            <a:ext cx="3502152" cy="1417320"/>
          </a:xfrm>
          <a:prstGeom prst="roundRect">
            <a:avLst>
              <a:gd name="adj" fmla="val 7742"/>
            </a:avLst>
          </a:prstGeom>
          <a:solidFill>
            <a:schemeClr val="bg2"/>
          </a:solidFill>
          <a:ln w="12700">
            <a:solidFill>
              <a:schemeClr val="bg2"/>
            </a:solidFill>
            <a:prstDash val="solid"/>
          </a:ln>
        </p:spPr>
      </p:sp>
      <p:sp>
        <p:nvSpPr>
          <p:cNvPr id="27" name="Text 25"/>
          <p:cNvSpPr txBox="1"/>
          <p:nvPr/>
        </p:nvSpPr>
        <p:spPr>
          <a:xfrm>
            <a:off x="8366760" y="4846320"/>
            <a:ext cx="3108960" cy="640080"/>
          </a:xfrm>
          <a:prstGeom prst="rect">
            <a:avLst/>
          </a:prstGeom>
          <a:noFill/>
          <a:ln/>
        </p:spPr>
        <p:txBody>
          <a:bodyPr wrap="square" lIns="0" tIns="0" rIns="0" bIns="0" rtlCol="0" anchor="t"/>
          <a:lstStyle/>
          <a:p>
            <a:pPr indent="0" marL="0">
              <a:buNone/>
            </a:pPr>
            <a:r>
              <a:rPr lang="en-US" sz="3600" b="1" dirty="0">
                <a:solidFill>
                  <a:schemeClr val="accent1"/>
                </a:solidFill>
                <a:latin typeface="Georgia" pitchFamily="34" charset="0"/>
                <a:ea typeface="Georgia" pitchFamily="34" charset="-122"/>
                <a:cs typeface="Georgia" pitchFamily="34" charset="-120"/>
              </a:rPr>
              <a:t>+17,9</a:t>
            </a:r>
            <a:endParaRPr lang="en-US" sz="3600" dirty="0"/>
          </a:p>
        </p:txBody>
      </p:sp>
      <p:sp>
        <p:nvSpPr>
          <p:cNvPr id="28" name="Text 26"/>
          <p:cNvSpPr txBox="1"/>
          <p:nvPr/>
        </p:nvSpPr>
        <p:spPr>
          <a:xfrm>
            <a:off x="8366760" y="5532120"/>
            <a:ext cx="3108960" cy="457200"/>
          </a:xfrm>
          <a:prstGeom prst="rect">
            <a:avLst/>
          </a:prstGeom>
          <a:noFill/>
          <a:ln/>
        </p:spPr>
        <p:txBody>
          <a:bodyPr wrap="square" lIns="0" tIns="0" rIns="0" bIns="0" rtlCol="0" anchor="t"/>
          <a:lstStyle/>
          <a:p>
            <a:pPr indent="0" marL="0">
              <a:buNone/>
            </a:pPr>
            <a:r>
              <a:rPr lang="en-US" sz="1300" dirty="0">
                <a:solidFill>
                  <a:schemeClr val="accent5"/>
                </a:solidFill>
              </a:rPr>
              <a:t>Neural fine-tuned dibanding transfer</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TEKNIK</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Direct dan transfer lebih dekat</a:t>
            </a:r>
            <a:endParaRPr lang="en-US" sz="3600" dirty="0"/>
          </a:p>
        </p:txBody>
      </p:sp>
      <p:sp>
        <p:nvSpPr>
          <p:cNvPr id="4" name="Kartu direct"/>
          <p:cNvSpPr/>
          <p:nvPr/>
        </p:nvSpPr>
        <p:spPr>
          <a:xfrm>
            <a:off x="548640" y="1417320"/>
            <a:ext cx="5440680" cy="2834640"/>
          </a:xfrm>
          <a:prstGeom prst="roundRect">
            <a:avLst>
              <a:gd name="adj" fmla="val 3871"/>
            </a:avLst>
          </a:prstGeom>
          <a:solidFill>
            <a:schemeClr val="bg2"/>
          </a:solidFill>
          <a:ln w="12700">
            <a:solidFill>
              <a:schemeClr val="bg2"/>
            </a:solidFill>
            <a:prstDash val="solid"/>
          </a:ln>
        </p:spPr>
      </p:sp>
      <p:sp>
        <p:nvSpPr>
          <p:cNvPr id="5" name="Text 3"/>
          <p:cNvSpPr txBox="1"/>
          <p:nvPr/>
        </p:nvSpPr>
        <p:spPr>
          <a:xfrm>
            <a:off x="822960" y="1554480"/>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Pendekatan direct</a:t>
            </a:r>
            <a:endParaRPr lang="en-US" sz="1800" dirty="0"/>
          </a:p>
        </p:txBody>
      </p:sp>
      <p:sp>
        <p:nvSpPr>
          <p:cNvPr id="6" name="Text 4"/>
          <p:cNvSpPr txBox="1"/>
          <p:nvPr/>
        </p:nvSpPr>
        <p:spPr>
          <a:xfrm>
            <a:off x="822960" y="2011680"/>
            <a:ext cx="493776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Cari tiap kata di daftar kamus 1985</a:t>
            </a:r>
            <a:endParaRPr lang="en-US" sz="1600" dirty="0"/>
          </a:p>
          <a:p>
            <a:pPr marL="342900" indent="-342900">
              <a:spcAft>
                <a:spcPts val="800"/>
              </a:spcAft>
              <a:buSzPct val="100000"/>
              <a:buChar char="•"/>
            </a:pPr>
            <a:r>
              <a:rPr lang="en-US" sz="1600" dirty="0">
                <a:solidFill>
                  <a:schemeClr val="tx1"/>
                </a:solidFill>
              </a:rPr>
              <a:t>Ambil arti pendek pertama</a:t>
            </a:r>
            <a:endParaRPr lang="en-US" sz="1600" dirty="0"/>
          </a:p>
          <a:p>
            <a:pPr marL="342900" indent="-342900">
              <a:spcAft>
                <a:spcPts val="800"/>
              </a:spcAft>
              <a:buSzPct val="100000"/>
              <a:buChar char="•"/>
            </a:pPr>
            <a:r>
              <a:rPr lang="en-US" sz="1600" dirty="0">
                <a:solidFill>
                  <a:schemeClr val="tx1"/>
                </a:solidFill>
              </a:rPr>
              <a:t>Urutan kata Aceh tetap</a:t>
            </a:r>
            <a:endParaRPr lang="en-US" sz="1600" dirty="0"/>
          </a:p>
          <a:p>
            <a:pPr marL="342900" indent="-342900">
              <a:spcAft>
                <a:spcPts val="800"/>
              </a:spcAft>
              <a:buSzPct val="100000"/>
              <a:buChar char="•"/>
            </a:pPr>
            <a:r>
              <a:rPr lang="en-US" sz="1600" dirty="0">
                <a:solidFill>
                  <a:schemeClr val="tx1"/>
                </a:solidFill>
              </a:rPr>
              <a:t>Kata yang tidak ada dibiarkan</a:t>
            </a:r>
            <a:endParaRPr lang="en-US" sz="1600" dirty="0"/>
          </a:p>
        </p:txBody>
      </p:sp>
      <p:sp>
        <p:nvSpPr>
          <p:cNvPr id="7" name="Kartu transfer"/>
          <p:cNvSpPr/>
          <p:nvPr/>
        </p:nvSpPr>
        <p:spPr>
          <a:xfrm>
            <a:off x="6199632" y="1417320"/>
            <a:ext cx="5440680" cy="2834640"/>
          </a:xfrm>
          <a:prstGeom prst="roundRect">
            <a:avLst>
              <a:gd name="adj" fmla="val 3871"/>
            </a:avLst>
          </a:prstGeom>
          <a:solidFill>
            <a:schemeClr val="bg2"/>
          </a:solidFill>
          <a:ln w="12700">
            <a:solidFill>
              <a:schemeClr val="bg2"/>
            </a:solidFill>
            <a:prstDash val="solid"/>
          </a:ln>
        </p:spPr>
      </p:sp>
      <p:sp>
        <p:nvSpPr>
          <p:cNvPr id="8" name="Text 6"/>
          <p:cNvSpPr txBox="1"/>
          <p:nvPr/>
        </p:nvSpPr>
        <p:spPr>
          <a:xfrm>
            <a:off x="6473952" y="1554480"/>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Pendekatan transfer</a:t>
            </a:r>
            <a:endParaRPr lang="en-US" sz="1800" dirty="0"/>
          </a:p>
        </p:txBody>
      </p:sp>
      <p:sp>
        <p:nvSpPr>
          <p:cNvPr id="9" name="Text 7"/>
          <p:cNvSpPr txBox="1"/>
          <p:nvPr/>
        </p:nvSpPr>
        <p:spPr>
          <a:xfrm>
            <a:off x="6473952" y="2011680"/>
            <a:ext cx="49377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Analisis: pecah awalan ji-, geu-, neu-, ta- dan akhiran -jih</a:t>
            </a:r>
            <a:endParaRPr lang="en-US" sz="1400" dirty="0"/>
          </a:p>
          <a:p>
            <a:pPr marL="342900" indent="-342900">
              <a:spcAft>
                <a:spcPts val="600"/>
              </a:spcAft>
              <a:buSzPct val="100000"/>
              <a:buChar char="•"/>
            </a:pPr>
            <a:r>
              <a:rPr lang="en-US" sz="1400" dirty="0">
                <a:solidFill>
                  <a:schemeClr val="tx1"/>
                </a:solidFill>
              </a:rPr>
              <a:t>Transfer: 15 kata fungsi, mis. hana → tidak, nyang → yang, lon → saya</a:t>
            </a:r>
            <a:endParaRPr lang="en-US" sz="1400" dirty="0"/>
          </a:p>
          <a:p>
            <a:pPr marL="342900" indent="-342900">
              <a:spcAft>
                <a:spcPts val="600"/>
              </a:spcAft>
              <a:buSzPct val="100000"/>
              <a:buChar char="•"/>
            </a:pPr>
            <a:r>
              <a:rPr lang="en-US" sz="1400" dirty="0">
                <a:solidFill>
                  <a:schemeClr val="tx1"/>
                </a:solidFill>
              </a:rPr>
              <a:t>Hasil: susun dan beri huruf kapital</a:t>
            </a:r>
            <a:endParaRPr lang="en-US" sz="1400" dirty="0"/>
          </a:p>
          <a:p>
            <a:pPr marL="342900" indent="-342900">
              <a:spcAft>
                <a:spcPts val="600"/>
              </a:spcAft>
              <a:buSzPct val="100000"/>
              <a:buChar char="•"/>
            </a:pPr>
            <a:r>
              <a:rPr lang="en-US" sz="1400" dirty="0">
                <a:solidFill>
                  <a:schemeClr val="tx1"/>
                </a:solidFill>
              </a:rPr>
              <a:t>Tiap kata dipakai hanya jika NusaX mendukung (50%+ dari 20+ kalimat)</a:t>
            </a:r>
            <a:endParaRPr lang="en-US" sz="1400" dirty="0"/>
          </a:p>
        </p:txBody>
      </p:sp>
      <p:sp>
        <p:nvSpPr>
          <p:cNvPr id="10" name="Kartu contoh"/>
          <p:cNvSpPr/>
          <p:nvPr/>
        </p:nvSpPr>
        <p:spPr>
          <a:xfrm>
            <a:off x="548640" y="4480560"/>
            <a:ext cx="11091672" cy="1783080"/>
          </a:xfrm>
          <a:prstGeom prst="roundRect">
            <a:avLst>
              <a:gd name="adj" fmla="val 6154"/>
            </a:avLst>
          </a:prstGeom>
          <a:solidFill>
            <a:schemeClr val="tx2"/>
          </a:solidFill>
          <a:ln w="12700">
            <a:solidFill>
              <a:schemeClr val="tx2"/>
            </a:solidFill>
            <a:prstDash val="solid"/>
          </a:ln>
        </p:spPr>
      </p:sp>
      <p:sp>
        <p:nvSpPr>
          <p:cNvPr id="11" name="Text 9"/>
          <p:cNvSpPr txBox="1"/>
          <p:nvPr/>
        </p:nvSpPr>
        <p:spPr>
          <a:xfrm>
            <a:off x="822960" y="4572000"/>
            <a:ext cx="5486400" cy="320040"/>
          </a:xfrm>
          <a:prstGeom prst="rect">
            <a:avLst/>
          </a:prstGeom>
          <a:noFill/>
          <a:ln/>
        </p:spPr>
        <p:txBody>
          <a:bodyPr wrap="square" lIns="0" tIns="0" rIns="0" bIns="0" rtlCol="0" anchor="t"/>
          <a:lstStyle/>
          <a:p>
            <a:pPr indent="0" marL="0">
              <a:buNone/>
            </a:pPr>
            <a:r>
              <a:rPr lang="en-US" sz="1400" b="1" dirty="0">
                <a:solidFill>
                  <a:schemeClr val="accent2"/>
                </a:solidFill>
              </a:rPr>
              <a:t>Contoh nyata dari set uji NusaX</a:t>
            </a:r>
            <a:endParaRPr lang="en-US" sz="1400" dirty="0"/>
          </a:p>
        </p:txBody>
      </p:sp>
      <p:sp>
        <p:nvSpPr>
          <p:cNvPr id="12" name="Text 10"/>
          <p:cNvSpPr txBox="1"/>
          <p:nvPr/>
        </p:nvSpPr>
        <p:spPr>
          <a:xfrm>
            <a:off x="822960" y="4937760"/>
            <a:ext cx="1097280" cy="457200"/>
          </a:xfrm>
          <a:prstGeom prst="rect">
            <a:avLst/>
          </a:prstGeom>
          <a:noFill/>
          <a:ln/>
        </p:spPr>
        <p:txBody>
          <a:bodyPr wrap="square" lIns="0" tIns="0" rIns="0" bIns="0" rtlCol="0" anchor="ctr"/>
          <a:lstStyle/>
          <a:p>
            <a:pPr indent="0" marL="0">
              <a:buNone/>
            </a:pPr>
            <a:r>
              <a:rPr lang="en-US" sz="1300" b="1" dirty="0">
                <a:solidFill>
                  <a:schemeClr val="accent6"/>
                </a:solidFill>
              </a:rPr>
              <a:t>Aceh</a:t>
            </a:r>
            <a:endParaRPr lang="en-US" sz="1300" dirty="0"/>
          </a:p>
        </p:txBody>
      </p:sp>
      <p:sp>
        <p:nvSpPr>
          <p:cNvPr id="13" name="Text 11"/>
          <p:cNvSpPr txBox="1"/>
          <p:nvPr/>
        </p:nvSpPr>
        <p:spPr>
          <a:xfrm>
            <a:off x="1965960" y="4937760"/>
            <a:ext cx="4206240" cy="457200"/>
          </a:xfrm>
          <a:prstGeom prst="rect">
            <a:avLst/>
          </a:prstGeom>
          <a:noFill/>
          <a:ln/>
        </p:spPr>
        <p:txBody>
          <a:bodyPr wrap="square" lIns="0" tIns="0" rIns="0" bIns="0" rtlCol="0" anchor="ctr"/>
          <a:lstStyle/>
          <a:p>
            <a:pPr indent="0" marL="0">
              <a:buNone/>
            </a:pPr>
            <a:r>
              <a:rPr lang="en-US" sz="1400" dirty="0">
                <a:solidFill>
                  <a:schemeClr val="bg1"/>
                </a:solidFill>
              </a:rPr>
              <a:t>Toe ngon hotel lon dom</a:t>
            </a:r>
            <a:endParaRPr lang="en-US" sz="1400" dirty="0"/>
          </a:p>
        </p:txBody>
      </p:sp>
      <p:sp>
        <p:nvSpPr>
          <p:cNvPr id="14" name="Text 12"/>
          <p:cNvSpPr txBox="1"/>
          <p:nvPr/>
        </p:nvSpPr>
        <p:spPr>
          <a:xfrm>
            <a:off x="6309360" y="4937760"/>
            <a:ext cx="1097280" cy="457200"/>
          </a:xfrm>
          <a:prstGeom prst="rect">
            <a:avLst/>
          </a:prstGeom>
          <a:noFill/>
          <a:ln/>
        </p:spPr>
        <p:txBody>
          <a:bodyPr wrap="square" lIns="0" tIns="0" rIns="0" bIns="0" rtlCol="0" anchor="ctr"/>
          <a:lstStyle/>
          <a:p>
            <a:pPr indent="0" marL="0">
              <a:buNone/>
            </a:pPr>
            <a:r>
              <a:rPr lang="en-US" sz="1300" b="1" dirty="0">
                <a:solidFill>
                  <a:schemeClr val="accent6"/>
                </a:solidFill>
              </a:rPr>
              <a:t>Direct</a:t>
            </a:r>
            <a:endParaRPr lang="en-US" sz="1300" dirty="0"/>
          </a:p>
        </p:txBody>
      </p:sp>
      <p:sp>
        <p:nvSpPr>
          <p:cNvPr id="15" name="Text 13"/>
          <p:cNvSpPr txBox="1"/>
          <p:nvPr/>
        </p:nvSpPr>
        <p:spPr>
          <a:xfrm>
            <a:off x="7452360" y="4937760"/>
            <a:ext cx="4206240" cy="457200"/>
          </a:xfrm>
          <a:prstGeom prst="rect">
            <a:avLst/>
          </a:prstGeom>
          <a:noFill/>
          <a:ln/>
        </p:spPr>
        <p:txBody>
          <a:bodyPr wrap="square" lIns="0" tIns="0" rIns="0" bIns="0" rtlCol="0" anchor="ctr"/>
          <a:lstStyle/>
          <a:p>
            <a:pPr indent="0" marL="0">
              <a:buNone/>
            </a:pPr>
            <a:r>
              <a:rPr lang="en-US" sz="1400" dirty="0">
                <a:solidFill>
                  <a:schemeClr val="bg1"/>
                </a:solidFill>
              </a:rPr>
              <a:t>Toe meuteumee hotel padam bermalam</a:t>
            </a:r>
            <a:endParaRPr lang="en-US" sz="1400" dirty="0"/>
          </a:p>
        </p:txBody>
      </p:sp>
      <p:sp>
        <p:nvSpPr>
          <p:cNvPr id="16" name="Text 14"/>
          <p:cNvSpPr txBox="1"/>
          <p:nvPr/>
        </p:nvSpPr>
        <p:spPr>
          <a:xfrm>
            <a:off x="822960" y="5504688"/>
            <a:ext cx="1097280" cy="457200"/>
          </a:xfrm>
          <a:prstGeom prst="rect">
            <a:avLst/>
          </a:prstGeom>
          <a:noFill/>
          <a:ln/>
        </p:spPr>
        <p:txBody>
          <a:bodyPr wrap="square" lIns="0" tIns="0" rIns="0" bIns="0" rtlCol="0" anchor="ctr"/>
          <a:lstStyle/>
          <a:p>
            <a:pPr indent="0" marL="0">
              <a:buNone/>
            </a:pPr>
            <a:r>
              <a:rPr lang="en-US" sz="1300" b="1" dirty="0">
                <a:solidFill>
                  <a:schemeClr val="accent6"/>
                </a:solidFill>
              </a:rPr>
              <a:t>Transfer</a:t>
            </a:r>
            <a:endParaRPr lang="en-US" sz="1300" dirty="0"/>
          </a:p>
        </p:txBody>
      </p:sp>
      <p:sp>
        <p:nvSpPr>
          <p:cNvPr id="17" name="Text 15"/>
          <p:cNvSpPr txBox="1"/>
          <p:nvPr/>
        </p:nvSpPr>
        <p:spPr>
          <a:xfrm>
            <a:off x="1965960" y="5504688"/>
            <a:ext cx="4206240" cy="457200"/>
          </a:xfrm>
          <a:prstGeom prst="rect">
            <a:avLst/>
          </a:prstGeom>
          <a:noFill/>
          <a:ln/>
        </p:spPr>
        <p:txBody>
          <a:bodyPr wrap="square" lIns="0" tIns="0" rIns="0" bIns="0" rtlCol="0" anchor="ctr"/>
          <a:lstStyle/>
          <a:p>
            <a:pPr indent="0" marL="0">
              <a:buNone/>
            </a:pPr>
            <a:r>
              <a:rPr lang="en-US" sz="1400" dirty="0">
                <a:solidFill>
                  <a:schemeClr val="bg1"/>
                </a:solidFill>
              </a:rPr>
              <a:t>Toe dengan hotel saya bermalam</a:t>
            </a:r>
            <a:endParaRPr lang="en-US" sz="1400" dirty="0"/>
          </a:p>
        </p:txBody>
      </p:sp>
      <p:sp>
        <p:nvSpPr>
          <p:cNvPr id="18" name="Text 16"/>
          <p:cNvSpPr txBox="1"/>
          <p:nvPr/>
        </p:nvSpPr>
        <p:spPr>
          <a:xfrm>
            <a:off x="6309360" y="5504688"/>
            <a:ext cx="1097280" cy="457200"/>
          </a:xfrm>
          <a:prstGeom prst="rect">
            <a:avLst/>
          </a:prstGeom>
          <a:noFill/>
          <a:ln/>
        </p:spPr>
        <p:txBody>
          <a:bodyPr wrap="square" lIns="0" tIns="0" rIns="0" bIns="0" rtlCol="0" anchor="ctr"/>
          <a:lstStyle/>
          <a:p>
            <a:pPr indent="0" marL="0">
              <a:buNone/>
            </a:pPr>
            <a:r>
              <a:rPr lang="en-US" sz="1300" b="1" dirty="0">
                <a:solidFill>
                  <a:schemeClr val="accent6"/>
                </a:solidFill>
              </a:rPr>
              <a:t>Acuan</a:t>
            </a:r>
            <a:endParaRPr lang="en-US" sz="1300" dirty="0"/>
          </a:p>
        </p:txBody>
      </p:sp>
      <p:sp>
        <p:nvSpPr>
          <p:cNvPr id="19" name="Text 17"/>
          <p:cNvSpPr txBox="1"/>
          <p:nvPr/>
        </p:nvSpPr>
        <p:spPr>
          <a:xfrm>
            <a:off x="7452360" y="5504688"/>
            <a:ext cx="4206240" cy="457200"/>
          </a:xfrm>
          <a:prstGeom prst="rect">
            <a:avLst/>
          </a:prstGeom>
          <a:noFill/>
          <a:ln/>
        </p:spPr>
        <p:txBody>
          <a:bodyPr wrap="square" lIns="0" tIns="0" rIns="0" bIns="0" rtlCol="0" anchor="ctr"/>
          <a:lstStyle/>
          <a:p>
            <a:pPr indent="0" marL="0">
              <a:buNone/>
            </a:pPr>
            <a:r>
              <a:rPr lang="en-US" sz="1400" dirty="0">
                <a:solidFill>
                  <a:schemeClr val="bg1"/>
                </a:solidFill>
              </a:rPr>
              <a:t>Dekat dengan hotel saya menginap</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TEKNIK</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Pandangan antarlingua: ruang bersama</a:t>
            </a:r>
            <a:endParaRPr lang="en-US" sz="3600" dirty="0"/>
          </a:p>
        </p:txBody>
      </p:sp>
      <p:sp>
        <p:nvSpPr>
          <p:cNvPr id="4" name="Kotak alur"/>
          <p:cNvSpPr/>
          <p:nvPr/>
        </p:nvSpPr>
        <p:spPr>
          <a:xfrm>
            <a:off x="548640" y="1554480"/>
            <a:ext cx="2011680" cy="2377440"/>
          </a:xfrm>
          <a:prstGeom prst="roundRect">
            <a:avLst>
              <a:gd name="adj" fmla="val 5455"/>
            </a:avLst>
          </a:prstGeom>
          <a:solidFill>
            <a:srgbClr val="4F6F7A"/>
          </a:solidFill>
          <a:ln w="12700">
            <a:solidFill>
              <a:srgbClr val="4F6F7A"/>
            </a:solidFill>
            <a:prstDash val="solid"/>
          </a:ln>
        </p:spPr>
      </p:sp>
      <p:sp>
        <p:nvSpPr>
          <p:cNvPr id="5" name="Text 3"/>
          <p:cNvSpPr txBox="1"/>
          <p:nvPr/>
        </p:nvSpPr>
        <p:spPr>
          <a:xfrm>
            <a:off x="685800" y="1691640"/>
            <a:ext cx="1737360" cy="548640"/>
          </a:xfrm>
          <a:prstGeom prst="rect">
            <a:avLst/>
          </a:prstGeom>
          <a:noFill/>
          <a:ln/>
        </p:spPr>
        <p:txBody>
          <a:bodyPr wrap="square" lIns="0" tIns="0" rIns="0" bIns="0" rtlCol="0" anchor="ctr"/>
          <a:lstStyle/>
          <a:p>
            <a:pPr indent="0" marL="0">
              <a:buNone/>
            </a:pPr>
            <a:r>
              <a:rPr lang="en-US" sz="1500" b="1" dirty="0">
                <a:solidFill>
                  <a:srgbClr val="FFFFFF"/>
                </a:solidFill>
              </a:rPr>
              <a:t>Teks Aceh</a:t>
            </a:r>
            <a:endParaRPr lang="en-US" sz="1500" dirty="0"/>
          </a:p>
        </p:txBody>
      </p:sp>
      <p:sp>
        <p:nvSpPr>
          <p:cNvPr id="6" name="Text 4"/>
          <p:cNvSpPr txBox="1"/>
          <p:nvPr/>
        </p:nvSpPr>
        <p:spPr>
          <a:xfrm>
            <a:off x="685800" y="2286000"/>
            <a:ext cx="1737360" cy="1554480"/>
          </a:xfrm>
          <a:prstGeom prst="rect">
            <a:avLst/>
          </a:prstGeom>
          <a:noFill/>
          <a:ln/>
        </p:spPr>
        <p:txBody>
          <a:bodyPr wrap="square" lIns="0" tIns="0" rIns="0" bIns="0" rtlCol="0" anchor="t"/>
          <a:lstStyle/>
          <a:p>
            <a:pPr indent="0" marL="0">
              <a:buNone/>
            </a:pPr>
            <a:r>
              <a:rPr lang="en-US" sz="1300" dirty="0">
                <a:solidFill>
                  <a:srgbClr val="FFFFFF"/>
                </a:solidFill>
              </a:rPr>
              <a:t>Tag ace_Latn menandai bahasa sumber</a:t>
            </a:r>
            <a:endParaRPr lang="en-US" sz="1300" dirty="0"/>
          </a:p>
        </p:txBody>
      </p:sp>
      <p:sp>
        <p:nvSpPr>
          <p:cNvPr id="7" name="Flow arrow"/>
          <p:cNvSpPr/>
          <p:nvPr/>
        </p:nvSpPr>
        <p:spPr>
          <a:xfrm>
            <a:off x="2569464" y="2606040"/>
            <a:ext cx="201168" cy="256032"/>
          </a:xfrm>
          <a:prstGeom prst="rightArrow">
            <a:avLst/>
          </a:prstGeom>
          <a:solidFill>
            <a:schemeClr val="accent1"/>
          </a:solidFill>
          <a:ln w="12700">
            <a:solidFill>
              <a:schemeClr val="accent1"/>
            </a:solidFill>
            <a:prstDash val="solid"/>
          </a:ln>
        </p:spPr>
      </p:sp>
      <p:sp>
        <p:nvSpPr>
          <p:cNvPr id="8" name="Kotak alur"/>
          <p:cNvSpPr/>
          <p:nvPr/>
        </p:nvSpPr>
        <p:spPr>
          <a:xfrm>
            <a:off x="2788920" y="1554480"/>
            <a:ext cx="2011680" cy="2377440"/>
          </a:xfrm>
          <a:prstGeom prst="roundRect">
            <a:avLst>
              <a:gd name="adj" fmla="val 5455"/>
            </a:avLst>
          </a:prstGeom>
          <a:solidFill>
            <a:srgbClr val="0D9488"/>
          </a:solidFill>
          <a:ln w="12700">
            <a:solidFill>
              <a:srgbClr val="0D9488"/>
            </a:solidFill>
            <a:prstDash val="solid"/>
          </a:ln>
        </p:spPr>
      </p:sp>
      <p:sp>
        <p:nvSpPr>
          <p:cNvPr id="9" name="Text 7"/>
          <p:cNvSpPr txBox="1"/>
          <p:nvPr/>
        </p:nvSpPr>
        <p:spPr>
          <a:xfrm>
            <a:off x="2926080" y="1691640"/>
            <a:ext cx="1737360" cy="548640"/>
          </a:xfrm>
          <a:prstGeom prst="rect">
            <a:avLst/>
          </a:prstGeom>
          <a:noFill/>
          <a:ln/>
        </p:spPr>
        <p:txBody>
          <a:bodyPr wrap="square" lIns="0" tIns="0" rIns="0" bIns="0" rtlCol="0" anchor="ctr"/>
          <a:lstStyle/>
          <a:p>
            <a:pPr indent="0" marL="0">
              <a:buNone/>
            </a:pPr>
            <a:r>
              <a:rPr lang="en-US" sz="1500" b="1" dirty="0">
                <a:solidFill>
                  <a:srgbClr val="FFFFFF"/>
                </a:solidFill>
              </a:rPr>
              <a:t>Encoder</a:t>
            </a:r>
            <a:endParaRPr lang="en-US" sz="1500" dirty="0"/>
          </a:p>
        </p:txBody>
      </p:sp>
      <p:sp>
        <p:nvSpPr>
          <p:cNvPr id="10" name="Text 8"/>
          <p:cNvSpPr txBox="1"/>
          <p:nvPr/>
        </p:nvSpPr>
        <p:spPr>
          <a:xfrm>
            <a:off x="2926080" y="2286000"/>
            <a:ext cx="1737360" cy="1554480"/>
          </a:xfrm>
          <a:prstGeom prst="rect">
            <a:avLst/>
          </a:prstGeom>
          <a:noFill/>
          <a:ln/>
        </p:spPr>
        <p:txBody>
          <a:bodyPr wrap="square" lIns="0" tIns="0" rIns="0" bIns="0" rtlCol="0" anchor="t"/>
          <a:lstStyle/>
          <a:p>
            <a:pPr indent="0" marL="0">
              <a:buNone/>
            </a:pPr>
            <a:r>
              <a:rPr lang="en-US" sz="1300" dirty="0">
                <a:solidFill>
                  <a:srgbClr val="FFFFFF"/>
                </a:solidFill>
              </a:rPr>
              <a:t>Membaca potongan kata dan membuat vektor makna</a:t>
            </a:r>
            <a:endParaRPr lang="en-US" sz="1300" dirty="0"/>
          </a:p>
        </p:txBody>
      </p:sp>
      <p:sp>
        <p:nvSpPr>
          <p:cNvPr id="11" name="Flow arrow"/>
          <p:cNvSpPr/>
          <p:nvPr/>
        </p:nvSpPr>
        <p:spPr>
          <a:xfrm>
            <a:off x="4809744" y="2606040"/>
            <a:ext cx="201168" cy="256032"/>
          </a:xfrm>
          <a:prstGeom prst="rightArrow">
            <a:avLst/>
          </a:prstGeom>
          <a:solidFill>
            <a:schemeClr val="accent1"/>
          </a:solidFill>
          <a:ln w="12700">
            <a:solidFill>
              <a:schemeClr val="accent1"/>
            </a:solidFill>
            <a:prstDash val="solid"/>
          </a:ln>
        </p:spPr>
      </p:sp>
      <p:sp>
        <p:nvSpPr>
          <p:cNvPr id="12" name="Kotak alur"/>
          <p:cNvSpPr/>
          <p:nvPr/>
        </p:nvSpPr>
        <p:spPr>
          <a:xfrm>
            <a:off x="5029200" y="1554480"/>
            <a:ext cx="2011680" cy="2377440"/>
          </a:xfrm>
          <a:prstGeom prst="roundRect">
            <a:avLst>
              <a:gd name="adj" fmla="val 5455"/>
            </a:avLst>
          </a:prstGeom>
          <a:solidFill>
            <a:srgbClr val="E9A23B"/>
          </a:solidFill>
          <a:ln w="12700">
            <a:solidFill>
              <a:srgbClr val="E9A23B"/>
            </a:solidFill>
            <a:prstDash val="solid"/>
          </a:ln>
        </p:spPr>
      </p:sp>
      <p:sp>
        <p:nvSpPr>
          <p:cNvPr id="13" name="Text 11"/>
          <p:cNvSpPr txBox="1"/>
          <p:nvPr/>
        </p:nvSpPr>
        <p:spPr>
          <a:xfrm>
            <a:off x="5166360" y="1691640"/>
            <a:ext cx="1737360" cy="548640"/>
          </a:xfrm>
          <a:prstGeom prst="rect">
            <a:avLst/>
          </a:prstGeom>
          <a:noFill/>
          <a:ln/>
        </p:spPr>
        <p:txBody>
          <a:bodyPr wrap="square" lIns="0" tIns="0" rIns="0" bIns="0" rtlCol="0" anchor="ctr"/>
          <a:lstStyle/>
          <a:p>
            <a:pPr indent="0" marL="0">
              <a:buNone/>
            </a:pPr>
            <a:r>
              <a:rPr lang="en-US" sz="1500" b="1" dirty="0">
                <a:solidFill>
                  <a:srgbClr val="12303A"/>
                </a:solidFill>
              </a:rPr>
              <a:t>Ruang bersama</a:t>
            </a:r>
            <a:endParaRPr lang="en-US" sz="1500" dirty="0"/>
          </a:p>
        </p:txBody>
      </p:sp>
      <p:sp>
        <p:nvSpPr>
          <p:cNvPr id="14" name="Text 12"/>
          <p:cNvSpPr txBox="1"/>
          <p:nvPr/>
        </p:nvSpPr>
        <p:spPr>
          <a:xfrm>
            <a:off x="5166360" y="2286000"/>
            <a:ext cx="1737360" cy="1554480"/>
          </a:xfrm>
          <a:prstGeom prst="rect">
            <a:avLst/>
          </a:prstGeom>
          <a:noFill/>
          <a:ln/>
        </p:spPr>
        <p:txBody>
          <a:bodyPr wrap="square" lIns="0" tIns="0" rIns="0" bIns="0" rtlCol="0" anchor="t"/>
          <a:lstStyle/>
          <a:p>
            <a:pPr indent="0" marL="0">
              <a:buNone/>
            </a:pPr>
            <a:r>
              <a:rPr lang="en-US" sz="1300" dirty="0">
                <a:solidFill>
                  <a:srgbClr val="12303A"/>
                </a:solidFill>
              </a:rPr>
              <a:t>Satu representasi untuk sekitar 200 bahasa</a:t>
            </a:r>
            <a:endParaRPr lang="en-US" sz="1300" dirty="0"/>
          </a:p>
        </p:txBody>
      </p:sp>
      <p:sp>
        <p:nvSpPr>
          <p:cNvPr id="15" name="Flow arrow"/>
          <p:cNvSpPr/>
          <p:nvPr/>
        </p:nvSpPr>
        <p:spPr>
          <a:xfrm>
            <a:off x="7050024" y="2606040"/>
            <a:ext cx="201168" cy="256032"/>
          </a:xfrm>
          <a:prstGeom prst="rightArrow">
            <a:avLst/>
          </a:prstGeom>
          <a:solidFill>
            <a:schemeClr val="accent1"/>
          </a:solidFill>
          <a:ln w="12700">
            <a:solidFill>
              <a:schemeClr val="accent1"/>
            </a:solidFill>
            <a:prstDash val="solid"/>
          </a:ln>
        </p:spPr>
      </p:sp>
      <p:sp>
        <p:nvSpPr>
          <p:cNvPr id="16" name="Kotak alur"/>
          <p:cNvSpPr/>
          <p:nvPr/>
        </p:nvSpPr>
        <p:spPr>
          <a:xfrm>
            <a:off x="7269480" y="1554480"/>
            <a:ext cx="2011680" cy="2377440"/>
          </a:xfrm>
          <a:prstGeom prst="roundRect">
            <a:avLst>
              <a:gd name="adj" fmla="val 5455"/>
            </a:avLst>
          </a:prstGeom>
          <a:solidFill>
            <a:srgbClr val="0D9488"/>
          </a:solidFill>
          <a:ln w="12700">
            <a:solidFill>
              <a:srgbClr val="0D9488"/>
            </a:solidFill>
            <a:prstDash val="solid"/>
          </a:ln>
        </p:spPr>
      </p:sp>
      <p:sp>
        <p:nvSpPr>
          <p:cNvPr id="17" name="Text 15"/>
          <p:cNvSpPr txBox="1"/>
          <p:nvPr/>
        </p:nvSpPr>
        <p:spPr>
          <a:xfrm>
            <a:off x="7406640" y="1691640"/>
            <a:ext cx="1737360" cy="548640"/>
          </a:xfrm>
          <a:prstGeom prst="rect">
            <a:avLst/>
          </a:prstGeom>
          <a:noFill/>
          <a:ln/>
        </p:spPr>
        <p:txBody>
          <a:bodyPr wrap="square" lIns="0" tIns="0" rIns="0" bIns="0" rtlCol="0" anchor="ctr"/>
          <a:lstStyle/>
          <a:p>
            <a:pPr indent="0" marL="0">
              <a:buNone/>
            </a:pPr>
            <a:r>
              <a:rPr lang="en-US" sz="1500" b="1" dirty="0">
                <a:solidFill>
                  <a:srgbClr val="FFFFFF"/>
                </a:solidFill>
              </a:rPr>
              <a:t>Decoder</a:t>
            </a:r>
            <a:endParaRPr lang="en-US" sz="1500" dirty="0"/>
          </a:p>
        </p:txBody>
      </p:sp>
      <p:sp>
        <p:nvSpPr>
          <p:cNvPr id="18" name="Text 16"/>
          <p:cNvSpPr txBox="1"/>
          <p:nvPr/>
        </p:nvSpPr>
        <p:spPr>
          <a:xfrm>
            <a:off x="7406640" y="2286000"/>
            <a:ext cx="1737360" cy="1554480"/>
          </a:xfrm>
          <a:prstGeom prst="rect">
            <a:avLst/>
          </a:prstGeom>
          <a:noFill/>
          <a:ln/>
        </p:spPr>
        <p:txBody>
          <a:bodyPr wrap="square" lIns="0" tIns="0" rIns="0" bIns="0" rtlCol="0" anchor="t"/>
          <a:lstStyle/>
          <a:p>
            <a:pPr indent="0" marL="0">
              <a:buNone/>
            </a:pPr>
            <a:r>
              <a:rPr lang="en-US" sz="1300" dirty="0">
                <a:solidFill>
                  <a:srgbClr val="FFFFFF"/>
                </a:solidFill>
              </a:rPr>
              <a:t>Menulis token satu per satu; tag ind_Latn memilih bahasa Indonesia</a:t>
            </a:r>
            <a:endParaRPr lang="en-US" sz="1300" dirty="0"/>
          </a:p>
        </p:txBody>
      </p:sp>
      <p:sp>
        <p:nvSpPr>
          <p:cNvPr id="19" name="Flow arrow"/>
          <p:cNvSpPr/>
          <p:nvPr/>
        </p:nvSpPr>
        <p:spPr>
          <a:xfrm>
            <a:off x="9290304" y="2606040"/>
            <a:ext cx="201168" cy="256032"/>
          </a:xfrm>
          <a:prstGeom prst="rightArrow">
            <a:avLst/>
          </a:prstGeom>
          <a:solidFill>
            <a:schemeClr val="accent1"/>
          </a:solidFill>
          <a:ln w="12700">
            <a:solidFill>
              <a:schemeClr val="accent1"/>
            </a:solidFill>
            <a:prstDash val="solid"/>
          </a:ln>
        </p:spPr>
      </p:sp>
      <p:sp>
        <p:nvSpPr>
          <p:cNvPr id="20" name="Kotak alur"/>
          <p:cNvSpPr/>
          <p:nvPr/>
        </p:nvSpPr>
        <p:spPr>
          <a:xfrm>
            <a:off x="9509760" y="1554480"/>
            <a:ext cx="2011680" cy="2377440"/>
          </a:xfrm>
          <a:prstGeom prst="roundRect">
            <a:avLst>
              <a:gd name="adj" fmla="val 5455"/>
            </a:avLst>
          </a:prstGeom>
          <a:solidFill>
            <a:srgbClr val="4F6F7A"/>
          </a:solidFill>
          <a:ln w="12700">
            <a:solidFill>
              <a:srgbClr val="4F6F7A"/>
            </a:solidFill>
            <a:prstDash val="solid"/>
          </a:ln>
        </p:spPr>
      </p:sp>
      <p:sp>
        <p:nvSpPr>
          <p:cNvPr id="21" name="Text 19"/>
          <p:cNvSpPr txBox="1"/>
          <p:nvPr/>
        </p:nvSpPr>
        <p:spPr>
          <a:xfrm>
            <a:off x="9646920" y="1691640"/>
            <a:ext cx="1737360" cy="548640"/>
          </a:xfrm>
          <a:prstGeom prst="rect">
            <a:avLst/>
          </a:prstGeom>
          <a:noFill/>
          <a:ln/>
        </p:spPr>
        <p:txBody>
          <a:bodyPr wrap="square" lIns="0" tIns="0" rIns="0" bIns="0" rtlCol="0" anchor="ctr"/>
          <a:lstStyle/>
          <a:p>
            <a:pPr indent="0" marL="0">
              <a:buNone/>
            </a:pPr>
            <a:r>
              <a:rPr lang="en-US" sz="1500" b="1" dirty="0">
                <a:solidFill>
                  <a:srgbClr val="FFFFFF"/>
                </a:solidFill>
              </a:rPr>
              <a:t>Teks Indonesia</a:t>
            </a:r>
            <a:endParaRPr lang="en-US" sz="1500" dirty="0"/>
          </a:p>
        </p:txBody>
      </p:sp>
      <p:sp>
        <p:nvSpPr>
          <p:cNvPr id="22" name="Text 20"/>
          <p:cNvSpPr txBox="1"/>
          <p:nvPr/>
        </p:nvSpPr>
        <p:spPr>
          <a:xfrm>
            <a:off x="9646920" y="2286000"/>
            <a:ext cx="1737360" cy="1554480"/>
          </a:xfrm>
          <a:prstGeom prst="rect">
            <a:avLst/>
          </a:prstGeom>
          <a:noFill/>
          <a:ln/>
        </p:spPr>
        <p:txBody>
          <a:bodyPr wrap="square" lIns="0" tIns="0" rIns="0" bIns="0" rtlCol="0" anchor="t"/>
          <a:lstStyle/>
          <a:p>
            <a:pPr indent="0" marL="0">
              <a:buNone/>
            </a:pPr>
            <a:r>
              <a:rPr lang="en-US" sz="1300" dirty="0">
                <a:solidFill>
                  <a:srgbClr val="FFFFFF"/>
                </a:solidFill>
              </a:rPr>
              <a:t>Token digabung menjadi kalimat</a:t>
            </a:r>
            <a:endParaRPr lang="en-US" sz="1300" dirty="0"/>
          </a:p>
        </p:txBody>
      </p:sp>
      <p:sp>
        <p:nvSpPr>
          <p:cNvPr id="23" name="Icon circle"/>
          <p:cNvSpPr/>
          <p:nvPr/>
        </p:nvSpPr>
        <p:spPr>
          <a:xfrm>
            <a:off x="548640" y="4343400"/>
            <a:ext cx="640080" cy="640080"/>
          </a:xfrm>
          <a:prstGeom prst="ellipse">
            <a:avLst/>
          </a:prstGeom>
          <a:solidFill>
            <a:schemeClr val="accent1"/>
          </a:solidFill>
          <a:ln w="12700">
            <a:solidFill>
              <a:schemeClr val="accent1"/>
            </a:solidFill>
            <a:prstDash val="solid"/>
          </a:ln>
        </p:spPr>
      </p:sp>
      <p:pic>
        <p:nvPicPr>
          <p:cNvPr id="24" name="Image 0" descr="Globe icon">    </p:cNvPr>
          <p:cNvPicPr>
            <a:picLocks noChangeAspect="1"/>
          </p:cNvPicPr>
          <p:nvPr/>
        </p:nvPicPr>
        <p:blipFill>
          <a:blip r:embed="rId1"/>
          <a:stretch>
            <a:fillRect/>
          </a:stretch>
        </p:blipFill>
        <p:spPr>
          <a:xfrm>
            <a:off x="721462" y="4516222"/>
            <a:ext cx="294437" cy="294437"/>
          </a:xfrm>
          <a:prstGeom prst="rect">
            <a:avLst/>
          </a:prstGeom>
        </p:spPr>
      </p:pic>
      <p:sp>
        <p:nvSpPr>
          <p:cNvPr id="25" name="Text 22"/>
          <p:cNvSpPr txBox="1"/>
          <p:nvPr/>
        </p:nvSpPr>
        <p:spPr>
          <a:xfrm>
            <a:off x="1371600" y="4315968"/>
            <a:ext cx="2743200" cy="365760"/>
          </a:xfrm>
          <a:prstGeom prst="rect">
            <a:avLst/>
          </a:prstGeom>
          <a:noFill/>
          <a:ln/>
        </p:spPr>
        <p:txBody>
          <a:bodyPr wrap="square" lIns="0" tIns="0" rIns="0" bIns="0" rtlCol="0" anchor="t"/>
          <a:lstStyle/>
          <a:p>
            <a:pPr indent="0" marL="0">
              <a:buNone/>
            </a:pPr>
            <a:r>
              <a:rPr lang="en-US" sz="1500" b="1" dirty="0">
                <a:solidFill>
                  <a:schemeClr val="tx1"/>
                </a:solidFill>
              </a:rPr>
              <a:t>Satu model bersama</a:t>
            </a:r>
            <a:endParaRPr lang="en-US" sz="1500" dirty="0"/>
          </a:p>
        </p:txBody>
      </p:sp>
      <p:sp>
        <p:nvSpPr>
          <p:cNvPr id="26" name="Text 23"/>
          <p:cNvSpPr txBox="1"/>
          <p:nvPr/>
        </p:nvSpPr>
        <p:spPr>
          <a:xfrm>
            <a:off x="1371600" y="4709160"/>
            <a:ext cx="2743200" cy="1554480"/>
          </a:xfrm>
          <a:prstGeom prst="rect">
            <a:avLst/>
          </a:prstGeom>
          <a:noFill/>
          <a:ln/>
        </p:spPr>
        <p:txBody>
          <a:bodyPr wrap="square" lIns="0" tIns="0" rIns="0" bIns="0" rtlCol="0" anchor="t"/>
          <a:lstStyle/>
          <a:p>
            <a:pPr indent="0" marL="0">
              <a:buNone/>
            </a:pPr>
            <a:r>
              <a:rPr lang="en-US" sz="1300" dirty="0">
                <a:solidFill>
                  <a:schemeClr val="accent5"/>
                </a:solidFill>
              </a:rPr>
              <a:t>Semua bahasa melewati representasi yang sama. Ini versi yang dipelajari dari antarlingua buatan tangan.</a:t>
            </a:r>
            <a:endParaRPr lang="en-US" sz="1300" dirty="0"/>
          </a:p>
        </p:txBody>
      </p:sp>
      <p:sp>
        <p:nvSpPr>
          <p:cNvPr id="27" name="Icon circle"/>
          <p:cNvSpPr/>
          <p:nvPr/>
        </p:nvSpPr>
        <p:spPr>
          <a:xfrm>
            <a:off x="4297680" y="4343400"/>
            <a:ext cx="640080" cy="640080"/>
          </a:xfrm>
          <a:prstGeom prst="ellipse">
            <a:avLst/>
          </a:prstGeom>
          <a:solidFill>
            <a:schemeClr val="accent1"/>
          </a:solidFill>
          <a:ln w="12700">
            <a:solidFill>
              <a:schemeClr val="accent1"/>
            </a:solidFill>
            <a:prstDash val="solid"/>
          </a:ln>
        </p:spPr>
      </p:sp>
      <p:pic>
        <p:nvPicPr>
          <p:cNvPr id="28" name="Image 1" descr="Eye icon">    </p:cNvPr>
          <p:cNvPicPr>
            <a:picLocks noChangeAspect="1"/>
          </p:cNvPicPr>
          <p:nvPr/>
        </p:nvPicPr>
        <p:blipFill>
          <a:blip r:embed="rId2"/>
          <a:stretch>
            <a:fillRect/>
          </a:stretch>
        </p:blipFill>
        <p:spPr>
          <a:xfrm>
            <a:off x="4470502" y="4516222"/>
            <a:ext cx="294437" cy="294437"/>
          </a:xfrm>
          <a:prstGeom prst="rect">
            <a:avLst/>
          </a:prstGeom>
        </p:spPr>
      </p:pic>
      <p:sp>
        <p:nvSpPr>
          <p:cNvPr id="29" name="Text 25"/>
          <p:cNvSpPr txBox="1"/>
          <p:nvPr/>
        </p:nvSpPr>
        <p:spPr>
          <a:xfrm>
            <a:off x="5120640" y="4315968"/>
            <a:ext cx="2743200" cy="365760"/>
          </a:xfrm>
          <a:prstGeom prst="rect">
            <a:avLst/>
          </a:prstGeom>
          <a:noFill/>
          <a:ln/>
        </p:spPr>
        <p:txBody>
          <a:bodyPr wrap="square" lIns="0" tIns="0" rIns="0" bIns="0" rtlCol="0" anchor="t"/>
          <a:lstStyle/>
          <a:p>
            <a:pPr indent="0" marL="0">
              <a:buNone/>
            </a:pPr>
            <a:r>
              <a:rPr lang="en-US" sz="1500" b="1" dirty="0">
                <a:solidFill>
                  <a:schemeClr val="tx1"/>
                </a:solidFill>
              </a:rPr>
              <a:t>Terlihat di aplikasi</a:t>
            </a:r>
            <a:endParaRPr lang="en-US" sz="1500" dirty="0"/>
          </a:p>
        </p:txBody>
      </p:sp>
      <p:sp>
        <p:nvSpPr>
          <p:cNvPr id="30" name="Text 26"/>
          <p:cNvSpPr txBox="1"/>
          <p:nvPr/>
        </p:nvSpPr>
        <p:spPr>
          <a:xfrm>
            <a:off x="5120640" y="4709160"/>
            <a:ext cx="2743200" cy="1554480"/>
          </a:xfrm>
          <a:prstGeom prst="rect">
            <a:avLst/>
          </a:prstGeom>
          <a:noFill/>
          <a:ln/>
        </p:spPr>
        <p:txBody>
          <a:bodyPr wrap="square" lIns="0" tIns="0" rIns="0" bIns="0" rtlCol="0" anchor="t"/>
          <a:lstStyle/>
          <a:p>
            <a:pPr indent="0" marL="0">
              <a:buNone/>
            </a:pPr>
            <a:r>
              <a:rPr lang="en-US" sz="1300" dirty="0">
                <a:solidFill>
                  <a:schemeClr val="accent5"/>
                </a:solidFill>
              </a:rPr>
              <a:t>Panel 'Cara kerja model' menampilkan token encoder dan decoder yang sebenarnya.</a:t>
            </a:r>
            <a:endParaRPr lang="en-US" sz="1300" dirty="0"/>
          </a:p>
        </p:txBody>
      </p:sp>
      <p:sp>
        <p:nvSpPr>
          <p:cNvPr id="31" name="Icon circle"/>
          <p:cNvSpPr/>
          <p:nvPr/>
        </p:nvSpPr>
        <p:spPr>
          <a:xfrm>
            <a:off x="8046720" y="4343400"/>
            <a:ext cx="640080" cy="640080"/>
          </a:xfrm>
          <a:prstGeom prst="ellipse">
            <a:avLst/>
          </a:prstGeom>
          <a:solidFill>
            <a:schemeClr val="accent1"/>
          </a:solidFill>
          <a:ln w="12700">
            <a:solidFill>
              <a:schemeClr val="accent1"/>
            </a:solidFill>
            <a:prstDash val="solid"/>
          </a:ln>
        </p:spPr>
      </p:sp>
      <p:pic>
        <p:nvPicPr>
          <p:cNvPr id="32" name="Image 2" descr="ExchangeAlt icon">    </p:cNvPr>
          <p:cNvPicPr>
            <a:picLocks noChangeAspect="1"/>
          </p:cNvPicPr>
          <p:nvPr/>
        </p:nvPicPr>
        <p:blipFill>
          <a:blip r:embed="rId3"/>
          <a:stretch>
            <a:fillRect/>
          </a:stretch>
        </p:blipFill>
        <p:spPr>
          <a:xfrm>
            <a:off x="8219542" y="4516222"/>
            <a:ext cx="294437" cy="294437"/>
          </a:xfrm>
          <a:prstGeom prst="rect">
            <a:avLst/>
          </a:prstGeom>
        </p:spPr>
      </p:pic>
      <p:sp>
        <p:nvSpPr>
          <p:cNvPr id="33" name="Text 28"/>
          <p:cNvSpPr txBox="1"/>
          <p:nvPr/>
        </p:nvSpPr>
        <p:spPr>
          <a:xfrm>
            <a:off x="8869680" y="4315968"/>
            <a:ext cx="2743200" cy="365760"/>
          </a:xfrm>
          <a:prstGeom prst="rect">
            <a:avLst/>
          </a:prstGeom>
          <a:noFill/>
          <a:ln/>
        </p:spPr>
        <p:txBody>
          <a:bodyPr wrap="square" lIns="0" tIns="0" rIns="0" bIns="0" rtlCol="0" anchor="t"/>
          <a:lstStyle/>
          <a:p>
            <a:pPr indent="0" marL="0">
              <a:buNone/>
            </a:pPr>
            <a:r>
              <a:rPr lang="en-US" sz="1500" b="1" dirty="0">
                <a:solidFill>
                  <a:schemeClr val="tx1"/>
                </a:solidFill>
              </a:rPr>
              <a:t>Dipilih lewat tag</a:t>
            </a:r>
            <a:endParaRPr lang="en-US" sz="1500" dirty="0"/>
          </a:p>
        </p:txBody>
      </p:sp>
      <p:sp>
        <p:nvSpPr>
          <p:cNvPr id="34" name="Text 29"/>
          <p:cNvSpPr txBox="1"/>
          <p:nvPr/>
        </p:nvSpPr>
        <p:spPr>
          <a:xfrm>
            <a:off x="8869680" y="4709160"/>
            <a:ext cx="2743200" cy="1554480"/>
          </a:xfrm>
          <a:prstGeom prst="rect">
            <a:avLst/>
          </a:prstGeom>
          <a:noFill/>
          <a:ln/>
        </p:spPr>
        <p:txBody>
          <a:bodyPr wrap="square" lIns="0" tIns="0" rIns="0" bIns="0" rtlCol="0" anchor="t"/>
          <a:lstStyle/>
          <a:p>
            <a:pPr indent="0" marL="0">
              <a:buNone/>
            </a:pPr>
            <a:r>
              <a:rPr lang="en-US" sz="1300" dirty="0">
                <a:solidFill>
                  <a:schemeClr val="accent5"/>
                </a:solidFill>
              </a:rPr>
              <a:t>Tag bahasa memilih sumber dan tujuan, jadi model yang sama bisa menerjemahkan ke dua arah.</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TEKNIK</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Disambiguasi berbasis kamus</a:t>
            </a:r>
            <a:endParaRPr lang="en-US" sz="3600" dirty="0"/>
          </a:p>
        </p:txBody>
      </p:sp>
      <p:sp>
        <p:nvSpPr>
          <p:cNvPr id="4" name="Nomor langkah"/>
          <p:cNvSpPr/>
          <p:nvPr/>
        </p:nvSpPr>
        <p:spPr>
          <a:xfrm>
            <a:off x="548640" y="146304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325880" y="1371600"/>
            <a:ext cx="5029200" cy="914400"/>
          </a:xfrm>
          <a:prstGeom prst="rect">
            <a:avLst/>
          </a:prstGeom>
          <a:noFill/>
          <a:ln/>
        </p:spPr>
        <p:txBody>
          <a:bodyPr wrap="square" lIns="0" tIns="0" rIns="0" bIns="0" rtlCol="0" anchor="ctr"/>
          <a:lstStyle/>
          <a:p>
            <a:pPr indent="0" marL="0">
              <a:buNone/>
            </a:pPr>
            <a:r>
              <a:rPr lang="en-US" sz="1400" dirty="0">
                <a:solidFill>
                  <a:schemeClr val="tx1"/>
                </a:solidFill>
              </a:rPr>
              <a:t>Cari tiap kata Aceh di antara 5.260 kata dalam Kamus Aceh-Indonesia (1985)</a:t>
            </a:r>
            <a:endParaRPr lang="en-US" sz="1400" dirty="0"/>
          </a:p>
        </p:txBody>
      </p:sp>
      <p:sp>
        <p:nvSpPr>
          <p:cNvPr id="7" name="Nomor langkah"/>
          <p:cNvSpPr/>
          <p:nvPr/>
        </p:nvSpPr>
        <p:spPr>
          <a:xfrm>
            <a:off x="548640" y="2560320"/>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325880" y="2468880"/>
            <a:ext cx="5029200" cy="914400"/>
          </a:xfrm>
          <a:prstGeom prst="rect">
            <a:avLst/>
          </a:prstGeom>
          <a:noFill/>
          <a:ln/>
        </p:spPr>
        <p:txBody>
          <a:bodyPr wrap="square" lIns="0" tIns="0" rIns="0" bIns="0" rtlCol="0" anchor="ctr"/>
          <a:lstStyle/>
          <a:p>
            <a:pPr indent="0" marL="0">
              <a:buNone/>
            </a:pPr>
            <a:r>
              <a:rPr lang="en-US" sz="1400" dirty="0">
                <a:solidFill>
                  <a:schemeClr val="tx1"/>
                </a:solidFill>
              </a:rPr>
              <a:t>Kumpulkan semua arti kata itu</a:t>
            </a:r>
            <a:endParaRPr lang="en-US" sz="1400" dirty="0"/>
          </a:p>
        </p:txBody>
      </p:sp>
      <p:sp>
        <p:nvSpPr>
          <p:cNvPr id="10" name="Nomor langkah"/>
          <p:cNvSpPr/>
          <p:nvPr/>
        </p:nvSpPr>
        <p:spPr>
          <a:xfrm>
            <a:off x="548640" y="365760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54864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10"/>
          <p:cNvSpPr txBox="1"/>
          <p:nvPr/>
        </p:nvSpPr>
        <p:spPr>
          <a:xfrm>
            <a:off x="1325880" y="3566160"/>
            <a:ext cx="5029200" cy="914400"/>
          </a:xfrm>
          <a:prstGeom prst="rect">
            <a:avLst/>
          </a:prstGeom>
          <a:noFill/>
          <a:ln/>
        </p:spPr>
        <p:txBody>
          <a:bodyPr wrap="square" lIns="0" tIns="0" rIns="0" bIns="0" rtlCol="0" anchor="ctr"/>
          <a:lstStyle/>
          <a:p>
            <a:pPr indent="0" marL="0">
              <a:buNone/>
            </a:pPr>
            <a:r>
              <a:rPr lang="en-US" sz="1400" dirty="0">
                <a:solidFill>
                  <a:schemeClr val="tx1"/>
                </a:solidFill>
              </a:rPr>
              <a:t>Beri skor tiap arti menurut kata yang sama dengan terjemahan model, tanpa kata hubung umum</a:t>
            </a:r>
            <a:endParaRPr lang="en-US" sz="1400" dirty="0"/>
          </a:p>
        </p:txBody>
      </p:sp>
      <p:sp>
        <p:nvSpPr>
          <p:cNvPr id="13" name="Nomor langkah"/>
          <p:cNvSpPr/>
          <p:nvPr/>
        </p:nvSpPr>
        <p:spPr>
          <a:xfrm>
            <a:off x="548640" y="4754880"/>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548640" y="4754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 13"/>
          <p:cNvSpPr txBox="1"/>
          <p:nvPr/>
        </p:nvSpPr>
        <p:spPr>
          <a:xfrm>
            <a:off x="1325880" y="4663440"/>
            <a:ext cx="5029200" cy="914400"/>
          </a:xfrm>
          <a:prstGeom prst="rect">
            <a:avLst/>
          </a:prstGeom>
          <a:noFill/>
          <a:ln/>
        </p:spPr>
        <p:txBody>
          <a:bodyPr wrap="square" lIns="0" tIns="0" rIns="0" bIns="0" rtlCol="0" anchor="ctr"/>
          <a:lstStyle/>
          <a:p>
            <a:pPr indent="0" marL="0">
              <a:buNone/>
            </a:pPr>
            <a:r>
              <a:rPr lang="en-US" sz="1400" dirty="0">
                <a:solidFill>
                  <a:schemeClr val="tx1"/>
                </a:solidFill>
              </a:rPr>
              <a:t>Beri tanda centang pada arti terbaik jika jelas unggul</a:t>
            </a:r>
            <a:endParaRPr lang="en-US" sz="1400" dirty="0"/>
          </a:p>
        </p:txBody>
      </p:sp>
      <p:sp>
        <p:nvSpPr>
          <p:cNvPr id="16" name="Kartu contoh"/>
          <p:cNvSpPr/>
          <p:nvPr/>
        </p:nvSpPr>
        <p:spPr>
          <a:xfrm>
            <a:off x="6766560" y="1417320"/>
            <a:ext cx="4873752" cy="3108960"/>
          </a:xfrm>
          <a:prstGeom prst="roundRect">
            <a:avLst>
              <a:gd name="adj" fmla="val 3529"/>
            </a:avLst>
          </a:prstGeom>
          <a:solidFill>
            <a:schemeClr val="tx2"/>
          </a:solidFill>
          <a:ln w="12700">
            <a:solidFill>
              <a:schemeClr val="tx2"/>
            </a:solidFill>
            <a:prstDash val="solid"/>
          </a:ln>
        </p:spPr>
      </p:sp>
      <p:sp>
        <p:nvSpPr>
          <p:cNvPr id="17" name="Text 15"/>
          <p:cNvSpPr txBox="1"/>
          <p:nvPr/>
        </p:nvSpPr>
        <p:spPr>
          <a:xfrm>
            <a:off x="7040880" y="155448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Contoh</a:t>
            </a:r>
            <a:endParaRPr lang="en-US" sz="1400" dirty="0"/>
          </a:p>
        </p:txBody>
      </p:sp>
      <p:sp>
        <p:nvSpPr>
          <p:cNvPr id="18" name="Text 16"/>
          <p:cNvSpPr txBox="1"/>
          <p:nvPr/>
        </p:nvSpPr>
        <p:spPr>
          <a:xfrm>
            <a:off x="7040880" y="1920240"/>
            <a:ext cx="4389120" cy="365760"/>
          </a:xfrm>
          <a:prstGeom prst="rect">
            <a:avLst/>
          </a:prstGeom>
          <a:noFill/>
          <a:ln/>
        </p:spPr>
        <p:txBody>
          <a:bodyPr wrap="square" lIns="0" tIns="0" rIns="0" bIns="0" rtlCol="0" anchor="t"/>
          <a:lstStyle/>
          <a:p>
            <a:pPr indent="0" marL="0">
              <a:buNone/>
            </a:pPr>
            <a:r>
              <a:rPr lang="en-US" sz="1700" b="1" dirty="0">
                <a:solidFill>
                  <a:schemeClr val="bg1"/>
                </a:solidFill>
              </a:rPr>
              <a:t>Gobnyan jak u keude</a:t>
            </a:r>
            <a:endParaRPr lang="en-US" sz="1700" dirty="0"/>
          </a:p>
        </p:txBody>
      </p:sp>
      <p:sp>
        <p:nvSpPr>
          <p:cNvPr id="19" name="Text 17"/>
          <p:cNvSpPr txBox="1"/>
          <p:nvPr/>
        </p:nvSpPr>
        <p:spPr>
          <a:xfrm>
            <a:off x="7040880" y="2331720"/>
            <a:ext cx="4389120" cy="365760"/>
          </a:xfrm>
          <a:prstGeom prst="rect">
            <a:avLst/>
          </a:prstGeom>
          <a:noFill/>
          <a:ln/>
        </p:spPr>
        <p:txBody>
          <a:bodyPr wrap="square" lIns="0" tIns="0" rIns="0" bIns="0" rtlCol="0" anchor="t"/>
          <a:lstStyle/>
          <a:p>
            <a:pPr indent="0" marL="0">
              <a:buNone/>
            </a:pPr>
            <a:r>
              <a:rPr lang="en-US" sz="1400" dirty="0">
                <a:solidFill>
                  <a:schemeClr val="bg2"/>
                </a:solidFill>
              </a:rPr>
              <a:t>Terjemahan: Dia pergi ke toko</a:t>
            </a:r>
            <a:endParaRPr lang="en-US" sz="1400" dirty="0"/>
          </a:p>
        </p:txBody>
      </p:sp>
      <p:sp>
        <p:nvSpPr>
          <p:cNvPr id="20" name="Arti terbaik"/>
          <p:cNvSpPr/>
          <p:nvPr/>
        </p:nvSpPr>
        <p:spPr>
          <a:xfrm>
            <a:off x="7040880" y="2880360"/>
            <a:ext cx="4343400" cy="685800"/>
          </a:xfrm>
          <a:prstGeom prst="roundRect">
            <a:avLst>
              <a:gd name="adj" fmla="val 13333"/>
            </a:avLst>
          </a:prstGeom>
          <a:solidFill>
            <a:srgbClr val="0D9488"/>
          </a:solidFill>
          <a:ln w="12700">
            <a:solidFill>
              <a:srgbClr val="0D9488"/>
            </a:solidFill>
            <a:prstDash val="solid"/>
          </a:ln>
        </p:spPr>
      </p:sp>
      <p:pic>
        <p:nvPicPr>
          <p:cNvPr id="21" name="Image 0" descr="Tanda centang">    </p:cNvPr>
          <p:cNvPicPr>
            <a:picLocks noChangeAspect="1"/>
          </p:cNvPicPr>
          <p:nvPr/>
        </p:nvPicPr>
        <p:blipFill>
          <a:blip r:embed="rId1"/>
          <a:stretch>
            <a:fillRect/>
          </a:stretch>
        </p:blipFill>
        <p:spPr>
          <a:xfrm>
            <a:off x="7223760" y="3090672"/>
            <a:ext cx="274320" cy="274320"/>
          </a:xfrm>
          <a:prstGeom prst="rect">
            <a:avLst/>
          </a:prstGeom>
        </p:spPr>
      </p:pic>
      <p:sp>
        <p:nvSpPr>
          <p:cNvPr id="22" name="Text 19"/>
          <p:cNvSpPr txBox="1"/>
          <p:nvPr/>
        </p:nvSpPr>
        <p:spPr>
          <a:xfrm>
            <a:off x="7635240" y="2880360"/>
            <a:ext cx="3657600" cy="685800"/>
          </a:xfrm>
          <a:prstGeom prst="rect">
            <a:avLst/>
          </a:prstGeom>
          <a:noFill/>
          <a:ln/>
        </p:spPr>
        <p:txBody>
          <a:bodyPr wrap="square" lIns="0" tIns="0" rIns="0" bIns="0" rtlCol="0" anchor="ctr"/>
          <a:lstStyle/>
          <a:p>
            <a:pPr indent="0" marL="0">
              <a:buNone/>
            </a:pPr>
            <a:r>
              <a:rPr lang="en-US" sz="1400" b="1" dirty="0">
                <a:solidFill>
                  <a:schemeClr val="bg1"/>
                </a:solidFill>
              </a:rPr>
              <a:t>keude: kedai, toko …</a:t>
            </a:r>
            <a:endParaRPr lang="en-US" sz="1400" dirty="0"/>
          </a:p>
        </p:txBody>
      </p:sp>
      <p:sp>
        <p:nvSpPr>
          <p:cNvPr id="23" name="Arti lain"/>
          <p:cNvSpPr/>
          <p:nvPr/>
        </p:nvSpPr>
        <p:spPr>
          <a:xfrm>
            <a:off x="7040880" y="3703320"/>
            <a:ext cx="4343400" cy="640080"/>
          </a:xfrm>
          <a:prstGeom prst="roundRect">
            <a:avLst>
              <a:gd name="adj" fmla="val 14286"/>
            </a:avLst>
          </a:prstGeom>
          <a:solidFill>
            <a:schemeClr val="tx1"/>
          </a:solidFill>
          <a:ln w="12700">
            <a:solidFill>
              <a:schemeClr val="tx1"/>
            </a:solidFill>
            <a:prstDash val="solid"/>
          </a:ln>
        </p:spPr>
      </p:sp>
      <p:sp>
        <p:nvSpPr>
          <p:cNvPr id="24" name="Text 21"/>
          <p:cNvSpPr txBox="1"/>
          <p:nvPr/>
        </p:nvSpPr>
        <p:spPr>
          <a:xfrm>
            <a:off x="7178040" y="3703320"/>
            <a:ext cx="4114800" cy="640080"/>
          </a:xfrm>
          <a:prstGeom prst="rect">
            <a:avLst/>
          </a:prstGeom>
          <a:noFill/>
          <a:ln/>
        </p:spPr>
        <p:txBody>
          <a:bodyPr wrap="square" lIns="0" tIns="0" rIns="0" bIns="0" rtlCol="0" anchor="ctr"/>
          <a:lstStyle/>
          <a:p>
            <a:pPr indent="0" marL="0">
              <a:buNone/>
            </a:pPr>
            <a:r>
              <a:rPr lang="en-US" sz="1400" dirty="0">
                <a:solidFill>
                  <a:schemeClr val="bg2"/>
                </a:solidFill>
              </a:rPr>
              <a:t>keude: endapan sisa masakan berkuah</a:t>
            </a:r>
            <a:endParaRPr lang="en-US" sz="1400" dirty="0"/>
          </a:p>
        </p:txBody>
      </p:sp>
      <p:sp>
        <p:nvSpPr>
          <p:cNvPr id="25" name="Kartu angka"/>
          <p:cNvSpPr/>
          <p:nvPr/>
        </p:nvSpPr>
        <p:spPr>
          <a:xfrm>
            <a:off x="6766560" y="4754880"/>
            <a:ext cx="2359152" cy="1463040"/>
          </a:xfrm>
          <a:prstGeom prst="roundRect">
            <a:avLst>
              <a:gd name="adj" fmla="val 7500"/>
            </a:avLst>
          </a:prstGeom>
          <a:solidFill>
            <a:schemeClr val="bg2"/>
          </a:solidFill>
          <a:ln w="12700">
            <a:solidFill>
              <a:schemeClr val="bg2"/>
            </a:solidFill>
            <a:prstDash val="solid"/>
          </a:ln>
        </p:spPr>
      </p:sp>
      <p:sp>
        <p:nvSpPr>
          <p:cNvPr id="26" name="Text 23"/>
          <p:cNvSpPr txBox="1"/>
          <p:nvPr/>
        </p:nvSpPr>
        <p:spPr>
          <a:xfrm>
            <a:off x="6949440" y="4846320"/>
            <a:ext cx="2011680" cy="640080"/>
          </a:xfrm>
          <a:prstGeom prst="rect">
            <a:avLst/>
          </a:prstGeom>
          <a:noFill/>
          <a:ln/>
        </p:spPr>
        <p:txBody>
          <a:bodyPr wrap="square" lIns="0" tIns="0" rIns="0" bIns="0" rtlCol="0" anchor="t"/>
          <a:lstStyle/>
          <a:p>
            <a:pPr indent="0" marL="0">
              <a:buNone/>
            </a:pPr>
            <a:r>
              <a:rPr lang="en-US" sz="3200" b="1" dirty="0">
                <a:solidFill>
                  <a:schemeClr val="accent1"/>
                </a:solidFill>
                <a:latin typeface="Georgia" pitchFamily="34" charset="0"/>
                <a:ea typeface="Georgia" pitchFamily="34" charset="-122"/>
                <a:cs typeface="Georgia" pitchFamily="34" charset="-120"/>
              </a:rPr>
              <a:t>5.260</a:t>
            </a:r>
            <a:endParaRPr lang="en-US" sz="3200" dirty="0"/>
          </a:p>
        </p:txBody>
      </p:sp>
      <p:sp>
        <p:nvSpPr>
          <p:cNvPr id="27" name="Text 24"/>
          <p:cNvSpPr txBox="1"/>
          <p:nvPr/>
        </p:nvSpPr>
        <p:spPr>
          <a:xfrm>
            <a:off x="6949440" y="5486400"/>
            <a:ext cx="2011680" cy="548640"/>
          </a:xfrm>
          <a:prstGeom prst="rect">
            <a:avLst/>
          </a:prstGeom>
          <a:noFill/>
          <a:ln/>
        </p:spPr>
        <p:txBody>
          <a:bodyPr wrap="square" lIns="0" tIns="0" rIns="0" bIns="0" rtlCol="0" anchor="t"/>
          <a:lstStyle/>
          <a:p>
            <a:pPr indent="0" marL="0">
              <a:buNone/>
            </a:pPr>
            <a:r>
              <a:rPr lang="en-US" sz="1300" dirty="0">
                <a:solidFill>
                  <a:schemeClr val="accent5"/>
                </a:solidFill>
              </a:rPr>
              <a:t>kata di kamus</a:t>
            </a:r>
            <a:endParaRPr lang="en-US" sz="1300" dirty="0"/>
          </a:p>
        </p:txBody>
      </p:sp>
      <p:sp>
        <p:nvSpPr>
          <p:cNvPr id="28" name="Kartu angka"/>
          <p:cNvSpPr/>
          <p:nvPr/>
        </p:nvSpPr>
        <p:spPr>
          <a:xfrm>
            <a:off x="9281160" y="4754880"/>
            <a:ext cx="2359152" cy="1463040"/>
          </a:xfrm>
          <a:prstGeom prst="roundRect">
            <a:avLst>
              <a:gd name="adj" fmla="val 7500"/>
            </a:avLst>
          </a:prstGeom>
          <a:solidFill>
            <a:schemeClr val="bg2"/>
          </a:solidFill>
          <a:ln w="12700">
            <a:solidFill>
              <a:schemeClr val="bg2"/>
            </a:solidFill>
            <a:prstDash val="solid"/>
          </a:ln>
        </p:spPr>
      </p:sp>
      <p:sp>
        <p:nvSpPr>
          <p:cNvPr id="29" name="Text 26"/>
          <p:cNvSpPr txBox="1"/>
          <p:nvPr/>
        </p:nvSpPr>
        <p:spPr>
          <a:xfrm>
            <a:off x="9464040" y="4846320"/>
            <a:ext cx="2011680" cy="640080"/>
          </a:xfrm>
          <a:prstGeom prst="rect">
            <a:avLst/>
          </a:prstGeom>
          <a:noFill/>
          <a:ln/>
        </p:spPr>
        <p:txBody>
          <a:bodyPr wrap="square" lIns="0" tIns="0" rIns="0" bIns="0" rtlCol="0" anchor="t"/>
          <a:lstStyle/>
          <a:p>
            <a:pPr indent="0" marL="0">
              <a:buNone/>
            </a:pPr>
            <a:r>
              <a:rPr lang="en-US" sz="3200" b="1" dirty="0">
                <a:solidFill>
                  <a:schemeClr val="accent1"/>
                </a:solidFill>
                <a:latin typeface="Georgia" pitchFamily="34" charset="0"/>
                <a:ea typeface="Georgia" pitchFamily="34" charset="-122"/>
                <a:cs typeface="Georgia" pitchFamily="34" charset="-120"/>
              </a:rPr>
              <a:t>266</a:t>
            </a:r>
            <a:endParaRPr lang="en-US" sz="3200" dirty="0"/>
          </a:p>
        </p:txBody>
      </p:sp>
      <p:sp>
        <p:nvSpPr>
          <p:cNvPr id="30" name="Text 27"/>
          <p:cNvSpPr txBox="1"/>
          <p:nvPr/>
        </p:nvSpPr>
        <p:spPr>
          <a:xfrm>
            <a:off x="9464040" y="5486400"/>
            <a:ext cx="2011680" cy="548640"/>
          </a:xfrm>
          <a:prstGeom prst="rect">
            <a:avLst/>
          </a:prstGeom>
          <a:noFill/>
          <a:ln/>
        </p:spPr>
        <p:txBody>
          <a:bodyPr wrap="square" lIns="0" tIns="0" rIns="0" bIns="0" rtlCol="0" anchor="t"/>
          <a:lstStyle/>
          <a:p>
            <a:pPr indent="0" marL="0">
              <a:buNone/>
            </a:pPr>
            <a:r>
              <a:rPr lang="en-US" sz="1300" dirty="0">
                <a:solidFill>
                  <a:schemeClr val="accent5"/>
                </a:solidFill>
              </a:rPr>
              <a:t>kata punya banyak arti</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HASIL</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Contoh terjemahan dari model</a:t>
            </a:r>
            <a:endParaRPr lang="en-US" sz="3600" dirty="0"/>
          </a:p>
        </p:txBody>
      </p:sp>
      <p:sp>
        <p:nvSpPr>
          <p:cNvPr id="4" name="Kartu contoh"/>
          <p:cNvSpPr/>
          <p:nvPr/>
        </p:nvSpPr>
        <p:spPr>
          <a:xfrm>
            <a:off x="548640" y="1417320"/>
            <a:ext cx="11091672" cy="1234440"/>
          </a:xfrm>
          <a:prstGeom prst="roundRect">
            <a:avLst>
              <a:gd name="adj" fmla="val 8889"/>
            </a:avLst>
          </a:prstGeom>
          <a:solidFill>
            <a:schemeClr val="bg2"/>
          </a:solidFill>
          <a:ln w="12700">
            <a:solidFill>
              <a:schemeClr val="bg2"/>
            </a:solidFill>
            <a:prstDash val="solid"/>
          </a:ln>
        </p:spPr>
      </p:sp>
      <p:sp>
        <p:nvSpPr>
          <p:cNvPr id="5" name="Text 3"/>
          <p:cNvSpPr txBox="1"/>
          <p:nvPr/>
        </p:nvSpPr>
        <p:spPr>
          <a:xfrm>
            <a:off x="822960" y="1581912"/>
            <a:ext cx="1188720" cy="365760"/>
          </a:xfrm>
          <a:prstGeom prst="rect">
            <a:avLst/>
          </a:prstGeom>
          <a:noFill/>
          <a:ln/>
        </p:spPr>
        <p:txBody>
          <a:bodyPr wrap="square" lIns="0" tIns="0" rIns="0" bIns="0" rtlCol="0" anchor="ctr"/>
          <a:lstStyle/>
          <a:p>
            <a:pPr indent="0" marL="0">
              <a:buNone/>
            </a:pPr>
            <a:r>
              <a:rPr lang="en-US" sz="1200" b="1" dirty="0">
                <a:solidFill>
                  <a:schemeClr val="accent5"/>
                </a:solidFill>
              </a:rPr>
              <a:t>Aceh</a:t>
            </a:r>
            <a:endParaRPr lang="en-US" sz="1200" dirty="0"/>
          </a:p>
        </p:txBody>
      </p:sp>
      <p:sp>
        <p:nvSpPr>
          <p:cNvPr id="6" name="Text 4"/>
          <p:cNvSpPr txBox="1"/>
          <p:nvPr/>
        </p:nvSpPr>
        <p:spPr>
          <a:xfrm>
            <a:off x="2011680" y="1554480"/>
            <a:ext cx="9418320" cy="411480"/>
          </a:xfrm>
          <a:prstGeom prst="rect">
            <a:avLst/>
          </a:prstGeom>
          <a:noFill/>
          <a:ln/>
        </p:spPr>
        <p:txBody>
          <a:bodyPr wrap="square" lIns="0" tIns="0" rIns="0" bIns="0" rtlCol="0" anchor="ctr"/>
          <a:lstStyle/>
          <a:p>
            <a:pPr indent="0" marL="0">
              <a:buNone/>
            </a:pPr>
            <a:r>
              <a:rPr lang="en-US" sz="1800" b="1" dirty="0">
                <a:solidFill>
                  <a:schemeClr val="tx1"/>
                </a:solidFill>
              </a:rPr>
              <a:t>Lon jak u peukan uroe nyoe.</a:t>
            </a:r>
            <a:endParaRPr lang="en-US" sz="1800" dirty="0"/>
          </a:p>
        </p:txBody>
      </p:sp>
      <p:sp>
        <p:nvSpPr>
          <p:cNvPr id="7" name="Text 5"/>
          <p:cNvSpPr txBox="1"/>
          <p:nvPr/>
        </p:nvSpPr>
        <p:spPr>
          <a:xfrm>
            <a:off x="822960" y="2075688"/>
            <a:ext cx="1188720" cy="365760"/>
          </a:xfrm>
          <a:prstGeom prst="rect">
            <a:avLst/>
          </a:prstGeom>
          <a:noFill/>
          <a:ln/>
        </p:spPr>
        <p:txBody>
          <a:bodyPr wrap="square" lIns="0" tIns="0" rIns="0" bIns="0" rtlCol="0" anchor="ctr"/>
          <a:lstStyle/>
          <a:p>
            <a:pPr indent="0" marL="0">
              <a:buNone/>
            </a:pPr>
            <a:r>
              <a:rPr lang="en-US" sz="1200" b="1" dirty="0">
                <a:solidFill>
                  <a:schemeClr val="accent1"/>
                </a:solidFill>
              </a:rPr>
              <a:t>Model kami</a:t>
            </a:r>
            <a:endParaRPr lang="en-US" sz="1200" dirty="0"/>
          </a:p>
        </p:txBody>
      </p:sp>
      <p:sp>
        <p:nvSpPr>
          <p:cNvPr id="8" name="Text 6"/>
          <p:cNvSpPr txBox="1"/>
          <p:nvPr/>
        </p:nvSpPr>
        <p:spPr>
          <a:xfrm>
            <a:off x="2011680" y="2057400"/>
            <a:ext cx="9418320" cy="411480"/>
          </a:xfrm>
          <a:prstGeom prst="rect">
            <a:avLst/>
          </a:prstGeom>
          <a:noFill/>
          <a:ln/>
        </p:spPr>
        <p:txBody>
          <a:bodyPr wrap="square" lIns="0" tIns="0" rIns="0" bIns="0" rtlCol="0" anchor="ctr"/>
          <a:lstStyle/>
          <a:p>
            <a:pPr indent="0" marL="0">
              <a:buNone/>
            </a:pPr>
            <a:r>
              <a:rPr lang="en-US" sz="1800" b="1" dirty="0">
                <a:solidFill>
                  <a:schemeClr val="accent1"/>
                </a:solidFill>
              </a:rPr>
              <a:t>Saya pergi ke pasar hari ini.</a:t>
            </a:r>
            <a:endParaRPr lang="en-US" sz="1800" dirty="0"/>
          </a:p>
        </p:txBody>
      </p:sp>
      <p:sp>
        <p:nvSpPr>
          <p:cNvPr id="9" name="Kartu contoh"/>
          <p:cNvSpPr/>
          <p:nvPr/>
        </p:nvSpPr>
        <p:spPr>
          <a:xfrm>
            <a:off x="548640" y="2834640"/>
            <a:ext cx="11091672" cy="1234440"/>
          </a:xfrm>
          <a:prstGeom prst="roundRect">
            <a:avLst>
              <a:gd name="adj" fmla="val 8889"/>
            </a:avLst>
          </a:prstGeom>
          <a:solidFill>
            <a:schemeClr val="bg2"/>
          </a:solidFill>
          <a:ln w="12700">
            <a:solidFill>
              <a:schemeClr val="bg2"/>
            </a:solidFill>
            <a:prstDash val="solid"/>
          </a:ln>
        </p:spPr>
      </p:sp>
      <p:sp>
        <p:nvSpPr>
          <p:cNvPr id="10" name="Text 8"/>
          <p:cNvSpPr txBox="1"/>
          <p:nvPr/>
        </p:nvSpPr>
        <p:spPr>
          <a:xfrm>
            <a:off x="822960" y="2999232"/>
            <a:ext cx="1188720" cy="365760"/>
          </a:xfrm>
          <a:prstGeom prst="rect">
            <a:avLst/>
          </a:prstGeom>
          <a:noFill/>
          <a:ln/>
        </p:spPr>
        <p:txBody>
          <a:bodyPr wrap="square" lIns="0" tIns="0" rIns="0" bIns="0" rtlCol="0" anchor="ctr"/>
          <a:lstStyle/>
          <a:p>
            <a:pPr indent="0" marL="0">
              <a:buNone/>
            </a:pPr>
            <a:r>
              <a:rPr lang="en-US" sz="1200" b="1" dirty="0">
                <a:solidFill>
                  <a:schemeClr val="accent5"/>
                </a:solidFill>
              </a:rPr>
              <a:t>Aceh</a:t>
            </a:r>
            <a:endParaRPr lang="en-US" sz="1200" dirty="0"/>
          </a:p>
        </p:txBody>
      </p:sp>
      <p:sp>
        <p:nvSpPr>
          <p:cNvPr id="11" name="Text 9"/>
          <p:cNvSpPr txBox="1"/>
          <p:nvPr/>
        </p:nvSpPr>
        <p:spPr>
          <a:xfrm>
            <a:off x="2011680" y="2971800"/>
            <a:ext cx="9418320" cy="411480"/>
          </a:xfrm>
          <a:prstGeom prst="rect">
            <a:avLst/>
          </a:prstGeom>
          <a:noFill/>
          <a:ln/>
        </p:spPr>
        <p:txBody>
          <a:bodyPr wrap="square" lIns="0" tIns="0" rIns="0" bIns="0" rtlCol="0" anchor="ctr"/>
          <a:lstStyle/>
          <a:p>
            <a:pPr indent="0" marL="0">
              <a:buNone/>
            </a:pPr>
            <a:r>
              <a:rPr lang="en-US" sz="1800" b="1" dirty="0">
                <a:solidFill>
                  <a:schemeClr val="tx1"/>
                </a:solidFill>
              </a:rPr>
              <a:t>Teuma troih le Abu Sammah, budak indah paraih rupa</a:t>
            </a:r>
            <a:endParaRPr lang="en-US" sz="1800" dirty="0"/>
          </a:p>
        </p:txBody>
      </p:sp>
      <p:sp>
        <p:nvSpPr>
          <p:cNvPr id="12" name="Text 10"/>
          <p:cNvSpPr txBox="1"/>
          <p:nvPr/>
        </p:nvSpPr>
        <p:spPr>
          <a:xfrm>
            <a:off x="822960" y="3493008"/>
            <a:ext cx="1188720" cy="365760"/>
          </a:xfrm>
          <a:prstGeom prst="rect">
            <a:avLst/>
          </a:prstGeom>
          <a:noFill/>
          <a:ln/>
        </p:spPr>
        <p:txBody>
          <a:bodyPr wrap="square" lIns="0" tIns="0" rIns="0" bIns="0" rtlCol="0" anchor="ctr"/>
          <a:lstStyle/>
          <a:p>
            <a:pPr indent="0" marL="0">
              <a:buNone/>
            </a:pPr>
            <a:r>
              <a:rPr lang="en-US" sz="1200" b="1" dirty="0">
                <a:solidFill>
                  <a:schemeClr val="accent1"/>
                </a:solidFill>
              </a:rPr>
              <a:t>Model kami</a:t>
            </a:r>
            <a:endParaRPr lang="en-US" sz="1200" dirty="0"/>
          </a:p>
        </p:txBody>
      </p:sp>
      <p:sp>
        <p:nvSpPr>
          <p:cNvPr id="13" name="Text 11"/>
          <p:cNvSpPr txBox="1"/>
          <p:nvPr/>
        </p:nvSpPr>
        <p:spPr>
          <a:xfrm>
            <a:off x="2011680" y="3474720"/>
            <a:ext cx="9418320" cy="411480"/>
          </a:xfrm>
          <a:prstGeom prst="rect">
            <a:avLst/>
          </a:prstGeom>
          <a:noFill/>
          <a:ln/>
        </p:spPr>
        <p:txBody>
          <a:bodyPr wrap="square" lIns="0" tIns="0" rIns="0" bIns="0" rtlCol="0" anchor="ctr"/>
          <a:lstStyle/>
          <a:p>
            <a:pPr indent="0" marL="0">
              <a:buNone/>
            </a:pPr>
            <a:r>
              <a:rPr lang="en-US" sz="1800" b="1" dirty="0">
                <a:solidFill>
                  <a:schemeClr val="accent1"/>
                </a:solidFill>
              </a:rPr>
              <a:t>Lalu sampailah Abu Sammah, budak indah paras rupa</a:t>
            </a:r>
            <a:endParaRPr lang="en-US" sz="1800" dirty="0"/>
          </a:p>
        </p:txBody>
      </p:sp>
      <p:sp>
        <p:nvSpPr>
          <p:cNvPr id="14" name="Kartu contoh"/>
          <p:cNvSpPr/>
          <p:nvPr/>
        </p:nvSpPr>
        <p:spPr>
          <a:xfrm>
            <a:off x="548640" y="4251960"/>
            <a:ext cx="11091672" cy="1783080"/>
          </a:xfrm>
          <a:prstGeom prst="roundRect">
            <a:avLst>
              <a:gd name="adj" fmla="val 6154"/>
            </a:avLst>
          </a:prstGeom>
          <a:solidFill>
            <a:schemeClr val="bg2"/>
          </a:solidFill>
          <a:ln w="12700">
            <a:solidFill>
              <a:schemeClr val="bg2"/>
            </a:solidFill>
            <a:prstDash val="solid"/>
          </a:ln>
        </p:spPr>
      </p:sp>
      <p:sp>
        <p:nvSpPr>
          <p:cNvPr id="15" name="Text 13"/>
          <p:cNvSpPr txBox="1"/>
          <p:nvPr/>
        </p:nvSpPr>
        <p:spPr>
          <a:xfrm>
            <a:off x="822960" y="4416552"/>
            <a:ext cx="1188720" cy="365760"/>
          </a:xfrm>
          <a:prstGeom prst="rect">
            <a:avLst/>
          </a:prstGeom>
          <a:noFill/>
          <a:ln/>
        </p:spPr>
        <p:txBody>
          <a:bodyPr wrap="square" lIns="0" tIns="0" rIns="0" bIns="0" rtlCol="0" anchor="ctr"/>
          <a:lstStyle/>
          <a:p>
            <a:pPr indent="0" marL="0">
              <a:buNone/>
            </a:pPr>
            <a:r>
              <a:rPr lang="en-US" sz="1200" b="1" dirty="0">
                <a:solidFill>
                  <a:schemeClr val="accent5"/>
                </a:solidFill>
              </a:rPr>
              <a:t>Aceh</a:t>
            </a:r>
            <a:endParaRPr lang="en-US" sz="1200" dirty="0"/>
          </a:p>
        </p:txBody>
      </p:sp>
      <p:sp>
        <p:nvSpPr>
          <p:cNvPr id="16" name="Text 14"/>
          <p:cNvSpPr txBox="1"/>
          <p:nvPr/>
        </p:nvSpPr>
        <p:spPr>
          <a:xfrm>
            <a:off x="2011680" y="4389120"/>
            <a:ext cx="9418320" cy="411480"/>
          </a:xfrm>
          <a:prstGeom prst="rect">
            <a:avLst/>
          </a:prstGeom>
          <a:noFill/>
          <a:ln/>
        </p:spPr>
        <p:txBody>
          <a:bodyPr wrap="square" lIns="0" tIns="0" rIns="0" bIns="0" rtlCol="0" anchor="ctr"/>
          <a:lstStyle/>
          <a:p>
            <a:pPr indent="0" marL="0">
              <a:buNone/>
            </a:pPr>
            <a:r>
              <a:rPr lang="en-US" sz="1800" b="1" dirty="0">
                <a:solidFill>
                  <a:schemeClr val="tx1"/>
                </a:solidFill>
              </a:rPr>
              <a:t>Nyo beutoi, jih teungoh jaga warong.</a:t>
            </a:r>
            <a:endParaRPr lang="en-US" sz="1800" dirty="0"/>
          </a:p>
        </p:txBody>
      </p:sp>
      <p:sp>
        <p:nvSpPr>
          <p:cNvPr id="17" name="Text 15"/>
          <p:cNvSpPr txBox="1"/>
          <p:nvPr/>
        </p:nvSpPr>
        <p:spPr>
          <a:xfrm>
            <a:off x="822960" y="4910328"/>
            <a:ext cx="1188720" cy="365760"/>
          </a:xfrm>
          <a:prstGeom prst="rect">
            <a:avLst/>
          </a:prstGeom>
          <a:noFill/>
          <a:ln/>
        </p:spPr>
        <p:txBody>
          <a:bodyPr wrap="square" lIns="0" tIns="0" rIns="0" bIns="0" rtlCol="0" anchor="ctr"/>
          <a:lstStyle/>
          <a:p>
            <a:pPr indent="0" marL="0">
              <a:buNone/>
            </a:pPr>
            <a:r>
              <a:rPr lang="en-US" sz="1200" b="1" dirty="0">
                <a:solidFill>
                  <a:schemeClr val="accent1"/>
                </a:solidFill>
              </a:rPr>
              <a:t>Model kami</a:t>
            </a:r>
            <a:endParaRPr lang="en-US" sz="1200" dirty="0"/>
          </a:p>
        </p:txBody>
      </p:sp>
      <p:sp>
        <p:nvSpPr>
          <p:cNvPr id="18" name="Text 16"/>
          <p:cNvSpPr txBox="1"/>
          <p:nvPr/>
        </p:nvSpPr>
        <p:spPr>
          <a:xfrm>
            <a:off x="2011680" y="4892040"/>
            <a:ext cx="9418320" cy="411480"/>
          </a:xfrm>
          <a:prstGeom prst="rect">
            <a:avLst/>
          </a:prstGeom>
          <a:noFill/>
          <a:ln/>
        </p:spPr>
        <p:txBody>
          <a:bodyPr wrap="square" lIns="0" tIns="0" rIns="0" bIns="0" rtlCol="0" anchor="ctr"/>
          <a:lstStyle/>
          <a:p>
            <a:pPr indent="0" marL="0">
              <a:buNone/>
            </a:pPr>
            <a:r>
              <a:rPr lang="en-US" sz="1800" b="1" dirty="0">
                <a:solidFill>
                  <a:schemeClr val="accent1"/>
                </a:solidFill>
              </a:rPr>
              <a:t>Ini benar, dia sedang menjaga warung.</a:t>
            </a:r>
            <a:endParaRPr lang="en-US" sz="1800" dirty="0"/>
          </a:p>
        </p:txBody>
      </p:sp>
      <p:sp>
        <p:nvSpPr>
          <p:cNvPr id="19" name="Text 17"/>
          <p:cNvSpPr txBox="1"/>
          <p:nvPr/>
        </p:nvSpPr>
        <p:spPr>
          <a:xfrm>
            <a:off x="822960" y="5440680"/>
            <a:ext cx="1188720" cy="365760"/>
          </a:xfrm>
          <a:prstGeom prst="rect">
            <a:avLst/>
          </a:prstGeom>
          <a:noFill/>
          <a:ln/>
        </p:spPr>
        <p:txBody>
          <a:bodyPr wrap="square" lIns="0" tIns="0" rIns="0" bIns="0" rtlCol="0" anchor="ctr"/>
          <a:lstStyle/>
          <a:p>
            <a:pPr indent="0" marL="0">
              <a:buNone/>
            </a:pPr>
            <a:r>
              <a:rPr lang="en-US" sz="1200" b="1" dirty="0">
                <a:solidFill>
                  <a:schemeClr val="accent5"/>
                </a:solidFill>
              </a:rPr>
              <a:t>NLLB dasar</a:t>
            </a:r>
            <a:endParaRPr lang="en-US" sz="1200" dirty="0"/>
          </a:p>
        </p:txBody>
      </p:sp>
      <p:sp>
        <p:nvSpPr>
          <p:cNvPr id="20" name="Text 18"/>
          <p:cNvSpPr txBox="1"/>
          <p:nvPr/>
        </p:nvSpPr>
        <p:spPr>
          <a:xfrm>
            <a:off x="2011680" y="5422392"/>
            <a:ext cx="4480560" cy="411480"/>
          </a:xfrm>
          <a:prstGeom prst="rect">
            <a:avLst/>
          </a:prstGeom>
          <a:noFill/>
          <a:ln/>
        </p:spPr>
        <p:txBody>
          <a:bodyPr wrap="square" lIns="0" tIns="0" rIns="0" bIns="0" rtlCol="0" anchor="ctr"/>
          <a:lstStyle/>
          <a:p>
            <a:pPr indent="0" marL="0">
              <a:buNone/>
            </a:pPr>
            <a:r>
              <a:rPr lang="en-US" sz="1400" dirty="0">
                <a:solidFill>
                  <a:schemeClr val="accent5"/>
                </a:solidFill>
              </a:rPr>
              <a:t>Ini benar, karena dia sedang menjaga warganya.</a:t>
            </a:r>
            <a:endParaRPr lang="en-US" sz="1400" dirty="0"/>
          </a:p>
        </p:txBody>
      </p:sp>
      <p:sp>
        <p:nvSpPr>
          <p:cNvPr id="21" name="Text 19"/>
          <p:cNvSpPr txBox="1"/>
          <p:nvPr/>
        </p:nvSpPr>
        <p:spPr>
          <a:xfrm>
            <a:off x="6675120" y="5440680"/>
            <a:ext cx="1097280" cy="365760"/>
          </a:xfrm>
          <a:prstGeom prst="rect">
            <a:avLst/>
          </a:prstGeom>
          <a:noFill/>
          <a:ln/>
        </p:spPr>
        <p:txBody>
          <a:bodyPr wrap="square" lIns="0" tIns="0" rIns="0" bIns="0" rtlCol="0" anchor="ctr"/>
          <a:lstStyle/>
          <a:p>
            <a:pPr indent="0" marL="0">
              <a:buNone/>
            </a:pPr>
            <a:r>
              <a:rPr lang="en-US" sz="1200" b="1" dirty="0">
                <a:solidFill>
                  <a:schemeClr val="accent5"/>
                </a:solidFill>
              </a:rPr>
              <a:t>Acuan</a:t>
            </a:r>
            <a:endParaRPr lang="en-US" sz="1200" dirty="0"/>
          </a:p>
        </p:txBody>
      </p:sp>
      <p:sp>
        <p:nvSpPr>
          <p:cNvPr id="22" name="Text 20"/>
          <p:cNvSpPr txBox="1"/>
          <p:nvPr/>
        </p:nvSpPr>
        <p:spPr>
          <a:xfrm>
            <a:off x="7772400" y="5422392"/>
            <a:ext cx="3749040" cy="411480"/>
          </a:xfrm>
          <a:prstGeom prst="rect">
            <a:avLst/>
          </a:prstGeom>
          <a:noFill/>
          <a:ln/>
        </p:spPr>
        <p:txBody>
          <a:bodyPr wrap="square" lIns="0" tIns="0" rIns="0" bIns="0" rtlCol="0" anchor="ctr"/>
          <a:lstStyle/>
          <a:p>
            <a:pPr indent="0" marL="0">
              <a:buNone/>
            </a:pPr>
            <a:r>
              <a:rPr lang="en-US" sz="1400" dirty="0">
                <a:solidFill>
                  <a:schemeClr val="accent5"/>
                </a:solidFill>
              </a:rPr>
              <a:t>Iya benar, dia sedang jaga warung.</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HASIL</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Contoh: yang membaik dan yang dijaga</a:t>
            </a:r>
            <a:endParaRPr lang="en-US" sz="3600" dirty="0"/>
          </a:p>
        </p:txBody>
      </p:sp>
      <p:sp>
        <p:nvSpPr>
          <p:cNvPr id="4" name="Kartu analisis"/>
          <p:cNvSpPr/>
          <p:nvPr/>
        </p:nvSpPr>
        <p:spPr>
          <a:xfrm>
            <a:off x="548640" y="1463040"/>
            <a:ext cx="3593592" cy="3200400"/>
          </a:xfrm>
          <a:prstGeom prst="roundRect">
            <a:avLst>
              <a:gd name="adj" fmla="val 3429"/>
            </a:avLst>
          </a:prstGeom>
          <a:solidFill>
            <a:schemeClr val="bg2"/>
          </a:solidFill>
          <a:ln w="12700">
            <a:solidFill>
              <a:schemeClr val="bg2"/>
            </a:solidFill>
            <a:prstDash val="solid"/>
          </a:ln>
        </p:spPr>
      </p:sp>
      <p:sp>
        <p:nvSpPr>
          <p:cNvPr id="5" name="Icon circle"/>
          <p:cNvSpPr/>
          <p:nvPr/>
        </p:nvSpPr>
        <p:spPr>
          <a:xfrm>
            <a:off x="822960" y="1691640"/>
            <a:ext cx="685800" cy="685800"/>
          </a:xfrm>
          <a:prstGeom prst="ellipse">
            <a:avLst/>
          </a:prstGeom>
          <a:solidFill>
            <a:srgbClr val="0D9488"/>
          </a:solidFill>
          <a:ln w="12700">
            <a:solidFill>
              <a:srgbClr val="0D9488"/>
            </a:solidFill>
            <a:prstDash val="solid"/>
          </a:ln>
        </p:spPr>
      </p:sp>
      <p:pic>
        <p:nvPicPr>
          <p:cNvPr id="6" name="Image 0" descr="CheckCircle icon">    </p:cNvPr>
          <p:cNvPicPr>
            <a:picLocks noChangeAspect="1"/>
          </p:cNvPicPr>
          <p:nvPr/>
        </p:nvPicPr>
        <p:blipFill>
          <a:blip r:embed="rId1"/>
          <a:stretch>
            <a:fillRect/>
          </a:stretch>
        </p:blipFill>
        <p:spPr>
          <a:xfrm>
            <a:off x="1008126" y="1876806"/>
            <a:ext cx="315468" cy="315468"/>
          </a:xfrm>
          <a:prstGeom prst="rect">
            <a:avLst/>
          </a:prstGeom>
        </p:spPr>
      </p:pic>
      <p:sp>
        <p:nvSpPr>
          <p:cNvPr id="7" name="Text 4"/>
          <p:cNvSpPr txBox="1"/>
          <p:nvPr/>
        </p:nvSpPr>
        <p:spPr>
          <a:xfrm>
            <a:off x="1737360" y="1691640"/>
            <a:ext cx="2286000" cy="685800"/>
          </a:xfrm>
          <a:prstGeom prst="rect">
            <a:avLst/>
          </a:prstGeom>
          <a:noFill/>
          <a:ln/>
        </p:spPr>
        <p:txBody>
          <a:bodyPr wrap="square" lIns="0" tIns="0" rIns="0" bIns="0" rtlCol="0" anchor="ctr"/>
          <a:lstStyle/>
          <a:p>
            <a:pPr indent="0" marL="0">
              <a:buNone/>
            </a:pPr>
            <a:r>
              <a:rPr lang="en-US" sz="1600" b="1" dirty="0">
                <a:solidFill>
                  <a:schemeClr val="tx1"/>
                </a:solidFill>
              </a:rPr>
              <a:t>Membaik: arti kata</a:t>
            </a:r>
            <a:endParaRPr lang="en-US" sz="1600" dirty="0"/>
          </a:p>
        </p:txBody>
      </p:sp>
      <p:sp>
        <p:nvSpPr>
          <p:cNvPr id="8" name="Text 5"/>
          <p:cNvSpPr txBox="1"/>
          <p:nvPr/>
        </p:nvSpPr>
        <p:spPr>
          <a:xfrm>
            <a:off x="822960" y="2606040"/>
            <a:ext cx="3108960" cy="1965960"/>
          </a:xfrm>
          <a:prstGeom prst="rect">
            <a:avLst/>
          </a:prstGeom>
          <a:noFill/>
          <a:ln/>
        </p:spPr>
        <p:txBody>
          <a:bodyPr wrap="square" lIns="0" tIns="0" rIns="0" bIns="0" rtlCol="0" anchor="t"/>
          <a:lstStyle/>
          <a:p>
            <a:pPr indent="0" marL="0">
              <a:buNone/>
            </a:pPr>
            <a:r>
              <a:rPr lang="en-US" sz="1500" dirty="0">
                <a:solidFill>
                  <a:schemeClr val="accent5"/>
                </a:solidFill>
              </a:rPr>
              <a:t>NusaX: "Nyo beutoi, jih teungoh jaga warong." Model dasar menulis "menjaga warganya". Model kami menulis "menjaga warung", sesuai acuan.</a:t>
            </a:r>
            <a:endParaRPr lang="en-US" sz="1500" dirty="0"/>
          </a:p>
        </p:txBody>
      </p:sp>
      <p:sp>
        <p:nvSpPr>
          <p:cNvPr id="9" name="Kartu analisis"/>
          <p:cNvSpPr/>
          <p:nvPr/>
        </p:nvSpPr>
        <p:spPr>
          <a:xfrm>
            <a:off x="4297680" y="1463040"/>
            <a:ext cx="3593592" cy="3200400"/>
          </a:xfrm>
          <a:prstGeom prst="roundRect">
            <a:avLst>
              <a:gd name="adj" fmla="val 3429"/>
            </a:avLst>
          </a:prstGeom>
          <a:solidFill>
            <a:schemeClr val="bg2"/>
          </a:solidFill>
          <a:ln w="12700">
            <a:solidFill>
              <a:schemeClr val="bg2"/>
            </a:solidFill>
            <a:prstDash val="solid"/>
          </a:ln>
        </p:spPr>
      </p:sp>
      <p:sp>
        <p:nvSpPr>
          <p:cNvPr id="10" name="Icon circle"/>
          <p:cNvSpPr/>
          <p:nvPr/>
        </p:nvSpPr>
        <p:spPr>
          <a:xfrm>
            <a:off x="4572000" y="1691640"/>
            <a:ext cx="685800" cy="685800"/>
          </a:xfrm>
          <a:prstGeom prst="ellipse">
            <a:avLst/>
          </a:prstGeom>
          <a:solidFill>
            <a:srgbClr val="E9A23B"/>
          </a:solidFill>
          <a:ln w="12700">
            <a:solidFill>
              <a:srgbClr val="E9A23B"/>
            </a:solidFill>
            <a:prstDash val="solid"/>
          </a:ln>
        </p:spPr>
      </p:sp>
      <p:pic>
        <p:nvPicPr>
          <p:cNvPr id="11" name="Image 1" descr="Search icon">    </p:cNvPr>
          <p:cNvPicPr>
            <a:picLocks noChangeAspect="1"/>
          </p:cNvPicPr>
          <p:nvPr/>
        </p:nvPicPr>
        <p:blipFill>
          <a:blip r:embed="rId2"/>
          <a:stretch>
            <a:fillRect/>
          </a:stretch>
        </p:blipFill>
        <p:spPr>
          <a:xfrm>
            <a:off x="4757166" y="1876806"/>
            <a:ext cx="315468" cy="315468"/>
          </a:xfrm>
          <a:prstGeom prst="rect">
            <a:avLst/>
          </a:prstGeom>
        </p:spPr>
      </p:pic>
      <p:sp>
        <p:nvSpPr>
          <p:cNvPr id="12" name="Text 8"/>
          <p:cNvSpPr txBox="1"/>
          <p:nvPr/>
        </p:nvSpPr>
        <p:spPr>
          <a:xfrm>
            <a:off x="5486400" y="1691640"/>
            <a:ext cx="2286000" cy="685800"/>
          </a:xfrm>
          <a:prstGeom prst="rect">
            <a:avLst/>
          </a:prstGeom>
          <a:noFill/>
          <a:ln/>
        </p:spPr>
        <p:txBody>
          <a:bodyPr wrap="square" lIns="0" tIns="0" rIns="0" bIns="0" rtlCol="0" anchor="ctr"/>
          <a:lstStyle/>
          <a:p>
            <a:pPr indent="0" marL="0">
              <a:buNone/>
            </a:pPr>
            <a:r>
              <a:rPr lang="en-US" sz="1600" b="1" dirty="0">
                <a:solidFill>
                  <a:schemeClr val="tx1"/>
                </a:solidFill>
              </a:rPr>
              <a:t>Perlu dijaga: konteks</a:t>
            </a:r>
            <a:endParaRPr lang="en-US" sz="1600" dirty="0"/>
          </a:p>
        </p:txBody>
      </p:sp>
      <p:sp>
        <p:nvSpPr>
          <p:cNvPr id="13" name="Text 9"/>
          <p:cNvSpPr txBox="1"/>
          <p:nvPr/>
        </p:nvSpPr>
        <p:spPr>
          <a:xfrm>
            <a:off x="4572000" y="2606040"/>
            <a:ext cx="3108960" cy="1965960"/>
          </a:xfrm>
          <a:prstGeom prst="rect">
            <a:avLst/>
          </a:prstGeom>
          <a:noFill/>
          <a:ln/>
        </p:spPr>
        <p:txBody>
          <a:bodyPr wrap="square" lIns="0" tIns="0" rIns="0" bIns="0" rtlCol="0" anchor="t"/>
          <a:lstStyle/>
          <a:p>
            <a:pPr indent="0" marL="0">
              <a:buNone/>
            </a:pPr>
            <a:r>
              <a:rPr lang="en-US" sz="1500" dirty="0">
                <a:solidFill>
                  <a:schemeClr val="accent5"/>
                </a:solidFill>
              </a:rPr>
              <a:t>NusaX: kalimat tentang aplikasi yang sedang dipelihara (jipeupah). Acuan membahas pemeliharaan, model kami memilih "menyewa".</a:t>
            </a:r>
            <a:endParaRPr lang="en-US" sz="1500" dirty="0"/>
          </a:p>
        </p:txBody>
      </p:sp>
      <p:sp>
        <p:nvSpPr>
          <p:cNvPr id="14" name="Kartu analisis"/>
          <p:cNvSpPr/>
          <p:nvPr/>
        </p:nvSpPr>
        <p:spPr>
          <a:xfrm>
            <a:off x="8046720" y="1463040"/>
            <a:ext cx="3593592" cy="3200400"/>
          </a:xfrm>
          <a:prstGeom prst="roundRect">
            <a:avLst>
              <a:gd name="adj" fmla="val 3429"/>
            </a:avLst>
          </a:prstGeom>
          <a:solidFill>
            <a:schemeClr val="bg2"/>
          </a:solidFill>
          <a:ln w="12700">
            <a:solidFill>
              <a:schemeClr val="bg2"/>
            </a:solidFill>
            <a:prstDash val="solid"/>
          </a:ln>
        </p:spPr>
      </p:sp>
      <p:sp>
        <p:nvSpPr>
          <p:cNvPr id="15" name="Icon circle"/>
          <p:cNvSpPr/>
          <p:nvPr/>
        </p:nvSpPr>
        <p:spPr>
          <a:xfrm>
            <a:off x="8321040" y="1691640"/>
            <a:ext cx="685800" cy="685800"/>
          </a:xfrm>
          <a:prstGeom prst="ellipse">
            <a:avLst/>
          </a:prstGeom>
          <a:solidFill>
            <a:srgbClr val="4F6F7A"/>
          </a:solidFill>
          <a:ln w="12700">
            <a:solidFill>
              <a:srgbClr val="4F6F7A"/>
            </a:solidFill>
            <a:prstDash val="solid"/>
          </a:ln>
        </p:spPr>
      </p:sp>
      <p:pic>
        <p:nvPicPr>
          <p:cNvPr id="16" name="Image 2" descr="BalanceScale icon">    </p:cNvPr>
          <p:cNvPicPr>
            <a:picLocks noChangeAspect="1"/>
          </p:cNvPicPr>
          <p:nvPr/>
        </p:nvPicPr>
        <p:blipFill>
          <a:blip r:embed="rId3"/>
          <a:stretch>
            <a:fillRect/>
          </a:stretch>
        </p:blipFill>
        <p:spPr>
          <a:xfrm>
            <a:off x="8506206" y="1876806"/>
            <a:ext cx="315468" cy="315468"/>
          </a:xfrm>
          <a:prstGeom prst="rect">
            <a:avLst/>
          </a:prstGeom>
        </p:spPr>
      </p:pic>
      <p:sp>
        <p:nvSpPr>
          <p:cNvPr id="17" name="Text 12"/>
          <p:cNvSpPr txBox="1"/>
          <p:nvPr/>
        </p:nvSpPr>
        <p:spPr>
          <a:xfrm>
            <a:off x="9235440" y="1691640"/>
            <a:ext cx="2286000" cy="685800"/>
          </a:xfrm>
          <a:prstGeom prst="rect">
            <a:avLst/>
          </a:prstGeom>
          <a:noFill/>
          <a:ln/>
        </p:spPr>
        <p:txBody>
          <a:bodyPr wrap="square" lIns="0" tIns="0" rIns="0" bIns="0" rtlCol="0" anchor="ctr"/>
          <a:lstStyle/>
          <a:p>
            <a:pPr indent="0" marL="0">
              <a:buNone/>
            </a:pPr>
            <a:r>
              <a:rPr lang="en-US" sz="1600" b="1" dirty="0">
                <a:solidFill>
                  <a:schemeClr val="tx1"/>
                </a:solidFill>
              </a:rPr>
              <a:t>Perlu dijaga: arah makna</a:t>
            </a:r>
            <a:endParaRPr lang="en-US" sz="1600" dirty="0"/>
          </a:p>
        </p:txBody>
      </p:sp>
      <p:sp>
        <p:nvSpPr>
          <p:cNvPr id="18" name="Text 13"/>
          <p:cNvSpPr txBox="1"/>
          <p:nvPr/>
        </p:nvSpPr>
        <p:spPr>
          <a:xfrm>
            <a:off x="8321040" y="2606040"/>
            <a:ext cx="3108960" cy="1965960"/>
          </a:xfrm>
          <a:prstGeom prst="rect">
            <a:avLst/>
          </a:prstGeom>
          <a:noFill/>
          <a:ln/>
        </p:spPr>
        <p:txBody>
          <a:bodyPr wrap="square" lIns="0" tIns="0" rIns="0" bIns="0" rtlCol="0" anchor="t"/>
          <a:lstStyle/>
          <a:p>
            <a:pPr indent="0" marL="0">
              <a:buNone/>
            </a:pPr>
            <a:r>
              <a:rPr lang="en-US" sz="1500" dirty="0">
                <a:solidFill>
                  <a:schemeClr val="accent5"/>
                </a:solidFill>
              </a:rPr>
              <a:t>FLORES (Shark Tank): penolakan pendanaan pada acuan berubah menjadi pemberian dana. Kesalahan seperti ini mengubah pesan utama.</a:t>
            </a:r>
            <a:endParaRPr lang="en-US" sz="1500" dirty="0"/>
          </a:p>
        </p:txBody>
      </p:sp>
      <p:sp>
        <p:nvSpPr>
          <p:cNvPr id="19" name="Kartu pesan"/>
          <p:cNvSpPr/>
          <p:nvPr/>
        </p:nvSpPr>
        <p:spPr>
          <a:xfrm>
            <a:off x="548640" y="4937760"/>
            <a:ext cx="11091672" cy="1280160"/>
          </a:xfrm>
          <a:prstGeom prst="roundRect">
            <a:avLst>
              <a:gd name="adj" fmla="val 8571"/>
            </a:avLst>
          </a:prstGeom>
          <a:solidFill>
            <a:schemeClr val="tx2"/>
          </a:solidFill>
          <a:ln w="12700">
            <a:solidFill>
              <a:schemeClr val="tx2"/>
            </a:solidFill>
            <a:prstDash val="solid"/>
          </a:ln>
        </p:spPr>
      </p:sp>
      <p:sp>
        <p:nvSpPr>
          <p:cNvPr id="20" name="Text 15"/>
          <p:cNvSpPr txBox="1"/>
          <p:nvPr/>
        </p:nvSpPr>
        <p:spPr>
          <a:xfrm>
            <a:off x="822960" y="4937760"/>
            <a:ext cx="10607040" cy="1280160"/>
          </a:xfrm>
          <a:prstGeom prst="rect">
            <a:avLst/>
          </a:prstGeom>
          <a:noFill/>
          <a:ln/>
        </p:spPr>
        <p:txBody>
          <a:bodyPr wrap="square" lIns="0" tIns="0" rIns="0" bIns="0" rtlCol="0" anchor="ctr"/>
          <a:lstStyle/>
          <a:p>
            <a:pPr indent="0" marL="0">
              <a:buNone/>
            </a:pPr>
            <a:r>
              <a:rPr lang="en-US" sz="1800" dirty="0">
                <a:solidFill>
                  <a:schemeClr val="bg1"/>
                </a:solidFill>
              </a:rPr>
              <a:t>Skor naik di semua set uji, tetapi arti kata, negasi, dan konteks tetap perlu diperiksa penutur bahasa Aceh.</a:t>
            </a:r>
            <a:endParaRPr lang="en-US" sz="18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APLIKASI</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Aplikasi penerjemah</a:t>
            </a:r>
            <a:endParaRPr lang="en-US" sz="3600" dirty="0"/>
          </a:p>
        </p:txBody>
      </p:sp>
      <p:sp>
        <p:nvSpPr>
          <p:cNvPr id="4" name="Kartu fitur"/>
          <p:cNvSpPr/>
          <p:nvPr/>
        </p:nvSpPr>
        <p:spPr>
          <a:xfrm>
            <a:off x="548640" y="1417320"/>
            <a:ext cx="2926080" cy="1234440"/>
          </a:xfrm>
          <a:prstGeom prst="roundRect">
            <a:avLst>
              <a:gd name="adj" fmla="val 8889"/>
            </a:avLst>
          </a:prstGeom>
          <a:solidFill>
            <a:schemeClr val="bg2"/>
          </a:solidFill>
          <a:ln w="12700">
            <a:solidFill>
              <a:schemeClr val="bg2"/>
            </a:solidFill>
            <a:prstDash val="solid"/>
          </a:ln>
        </p:spPr>
      </p:sp>
      <p:sp>
        <p:nvSpPr>
          <p:cNvPr id="5" name="Icon circle"/>
          <p:cNvSpPr/>
          <p:nvPr/>
        </p:nvSpPr>
        <p:spPr>
          <a:xfrm>
            <a:off x="685800" y="1554480"/>
            <a:ext cx="502920" cy="502920"/>
          </a:xfrm>
          <a:prstGeom prst="ellipse">
            <a:avLst/>
          </a:prstGeom>
          <a:solidFill>
            <a:schemeClr val="accent1"/>
          </a:solidFill>
          <a:ln w="12700">
            <a:solidFill>
              <a:schemeClr val="accent1"/>
            </a:solidFill>
            <a:prstDash val="solid"/>
          </a:ln>
        </p:spPr>
      </p:sp>
      <p:pic>
        <p:nvPicPr>
          <p:cNvPr id="6" name="Image 0" descr="Wifi icon">    </p:cNvPr>
          <p:cNvPicPr>
            <a:picLocks noChangeAspect="1"/>
          </p:cNvPicPr>
          <p:nvPr/>
        </p:nvPicPr>
        <p:blipFill>
          <a:blip r:embed="rId1"/>
          <a:stretch>
            <a:fillRect/>
          </a:stretch>
        </p:blipFill>
        <p:spPr>
          <a:xfrm>
            <a:off x="821588" y="1690268"/>
            <a:ext cx="231343" cy="231343"/>
          </a:xfrm>
          <a:prstGeom prst="rect">
            <a:avLst/>
          </a:prstGeom>
        </p:spPr>
      </p:pic>
      <p:sp>
        <p:nvSpPr>
          <p:cNvPr id="7" name="Text 4"/>
          <p:cNvSpPr txBox="1"/>
          <p:nvPr/>
        </p:nvSpPr>
        <p:spPr>
          <a:xfrm>
            <a:off x="1298448" y="1554480"/>
            <a:ext cx="2103120" cy="502920"/>
          </a:xfrm>
          <a:prstGeom prst="rect">
            <a:avLst/>
          </a:prstGeom>
          <a:noFill/>
          <a:ln/>
        </p:spPr>
        <p:txBody>
          <a:bodyPr wrap="square" lIns="0" tIns="0" rIns="0" bIns="0" rtlCol="0" anchor="ctr"/>
          <a:lstStyle/>
          <a:p>
            <a:pPr indent="0" marL="0">
              <a:buNone/>
            </a:pPr>
            <a:r>
              <a:rPr lang="en-US" sz="1300" b="1" dirty="0">
                <a:solidFill>
                  <a:schemeClr val="tx1"/>
                </a:solidFill>
              </a:rPr>
              <a:t>Lokal dan offline</a:t>
            </a:r>
            <a:endParaRPr lang="en-US" sz="1300" dirty="0"/>
          </a:p>
        </p:txBody>
      </p:sp>
      <p:sp>
        <p:nvSpPr>
          <p:cNvPr id="8" name="Text 5"/>
          <p:cNvSpPr txBox="1"/>
          <p:nvPr/>
        </p:nvSpPr>
        <p:spPr>
          <a:xfrm>
            <a:off x="685800" y="2103120"/>
            <a:ext cx="2697480" cy="502920"/>
          </a:xfrm>
          <a:prstGeom prst="rect">
            <a:avLst/>
          </a:prstGeom>
          <a:noFill/>
          <a:ln/>
        </p:spPr>
        <p:txBody>
          <a:bodyPr wrap="square" lIns="0" tIns="0" rIns="0" bIns="0" rtlCol="0" anchor="t"/>
          <a:lstStyle/>
          <a:p>
            <a:pPr indent="0" marL="0">
              <a:buNone/>
            </a:pPr>
            <a:r>
              <a:rPr lang="en-US" sz="1100" dirty="0">
                <a:solidFill>
                  <a:schemeClr val="accent5"/>
                </a:solidFill>
              </a:rPr>
              <a:t>Berjalan di 127.0.0.1:7860, tanpa internet setelah start pertama</a:t>
            </a:r>
            <a:endParaRPr lang="en-US" sz="1100" dirty="0"/>
          </a:p>
        </p:txBody>
      </p:sp>
      <p:sp>
        <p:nvSpPr>
          <p:cNvPr id="9" name="Kartu fitur"/>
          <p:cNvSpPr/>
          <p:nvPr/>
        </p:nvSpPr>
        <p:spPr>
          <a:xfrm>
            <a:off x="3611880" y="1417320"/>
            <a:ext cx="2926080" cy="1234440"/>
          </a:xfrm>
          <a:prstGeom prst="roundRect">
            <a:avLst>
              <a:gd name="adj" fmla="val 8889"/>
            </a:avLst>
          </a:prstGeom>
          <a:solidFill>
            <a:schemeClr val="bg2"/>
          </a:solidFill>
          <a:ln w="12700">
            <a:solidFill>
              <a:schemeClr val="bg2"/>
            </a:solidFill>
            <a:prstDash val="solid"/>
          </a:ln>
        </p:spPr>
      </p:sp>
      <p:sp>
        <p:nvSpPr>
          <p:cNvPr id="10" name="Icon circle"/>
          <p:cNvSpPr/>
          <p:nvPr/>
        </p:nvSpPr>
        <p:spPr>
          <a:xfrm>
            <a:off x="3749040" y="1554480"/>
            <a:ext cx="502920" cy="502920"/>
          </a:xfrm>
          <a:prstGeom prst="ellipse">
            <a:avLst/>
          </a:prstGeom>
          <a:solidFill>
            <a:schemeClr val="accent1"/>
          </a:solidFill>
          <a:ln w="12700">
            <a:solidFill>
              <a:schemeClr val="accent1"/>
            </a:solidFill>
            <a:prstDash val="solid"/>
          </a:ln>
        </p:spPr>
      </p:sp>
      <p:pic>
        <p:nvPicPr>
          <p:cNvPr id="11" name="Image 1" descr="Language icon">    </p:cNvPr>
          <p:cNvPicPr>
            <a:picLocks noChangeAspect="1"/>
          </p:cNvPicPr>
          <p:nvPr/>
        </p:nvPicPr>
        <p:blipFill>
          <a:blip r:embed="rId2"/>
          <a:stretch>
            <a:fillRect/>
          </a:stretch>
        </p:blipFill>
        <p:spPr>
          <a:xfrm>
            <a:off x="3884828" y="1690268"/>
            <a:ext cx="231343" cy="231343"/>
          </a:xfrm>
          <a:prstGeom prst="rect">
            <a:avLst/>
          </a:prstGeom>
        </p:spPr>
      </p:pic>
      <p:sp>
        <p:nvSpPr>
          <p:cNvPr id="12" name="Text 8"/>
          <p:cNvSpPr txBox="1"/>
          <p:nvPr/>
        </p:nvSpPr>
        <p:spPr>
          <a:xfrm>
            <a:off x="4361688" y="1554480"/>
            <a:ext cx="2103120" cy="502920"/>
          </a:xfrm>
          <a:prstGeom prst="rect">
            <a:avLst/>
          </a:prstGeom>
          <a:noFill/>
          <a:ln/>
        </p:spPr>
        <p:txBody>
          <a:bodyPr wrap="square" lIns="0" tIns="0" rIns="0" bIns="0" rtlCol="0" anchor="ctr"/>
          <a:lstStyle/>
          <a:p>
            <a:pPr indent="0" marL="0">
              <a:buNone/>
            </a:pPr>
            <a:r>
              <a:rPr lang="en-US" sz="1300" b="1" dirty="0">
                <a:solidFill>
                  <a:schemeClr val="tx1"/>
                </a:solidFill>
              </a:rPr>
              <a:t>Normalisasi sama</a:t>
            </a:r>
            <a:endParaRPr lang="en-US" sz="1300" dirty="0"/>
          </a:p>
        </p:txBody>
      </p:sp>
      <p:sp>
        <p:nvSpPr>
          <p:cNvPr id="13" name="Text 9"/>
          <p:cNvSpPr txBox="1"/>
          <p:nvPr/>
        </p:nvSpPr>
        <p:spPr>
          <a:xfrm>
            <a:off x="3749040" y="2103120"/>
            <a:ext cx="2697480" cy="502920"/>
          </a:xfrm>
          <a:prstGeom prst="rect">
            <a:avLst/>
          </a:prstGeom>
          <a:noFill/>
          <a:ln/>
        </p:spPr>
        <p:txBody>
          <a:bodyPr wrap="square" lIns="0" tIns="0" rIns="0" bIns="0" rtlCol="0" anchor="t"/>
          <a:lstStyle/>
          <a:p>
            <a:pPr indent="0" marL="0">
              <a:buNone/>
            </a:pPr>
            <a:r>
              <a:rPr lang="en-US" sz="1100" dirty="0">
                <a:solidFill>
                  <a:schemeClr val="accent5"/>
                </a:solidFill>
              </a:rPr>
              <a:t>Teks dibersihkan persis seperti data latih</a:t>
            </a:r>
            <a:endParaRPr lang="en-US" sz="1100" dirty="0"/>
          </a:p>
        </p:txBody>
      </p:sp>
      <p:sp>
        <p:nvSpPr>
          <p:cNvPr id="14" name="Kartu fitur"/>
          <p:cNvSpPr/>
          <p:nvPr/>
        </p:nvSpPr>
        <p:spPr>
          <a:xfrm>
            <a:off x="548640" y="2788920"/>
            <a:ext cx="2926080" cy="1234440"/>
          </a:xfrm>
          <a:prstGeom prst="roundRect">
            <a:avLst>
              <a:gd name="adj" fmla="val 8889"/>
            </a:avLst>
          </a:prstGeom>
          <a:solidFill>
            <a:schemeClr val="bg2"/>
          </a:solidFill>
          <a:ln w="12700">
            <a:solidFill>
              <a:schemeClr val="bg2"/>
            </a:solidFill>
            <a:prstDash val="solid"/>
          </a:ln>
        </p:spPr>
      </p:sp>
      <p:sp>
        <p:nvSpPr>
          <p:cNvPr id="15" name="Icon circle"/>
          <p:cNvSpPr/>
          <p:nvPr/>
        </p:nvSpPr>
        <p:spPr>
          <a:xfrm>
            <a:off x="685800" y="2926080"/>
            <a:ext cx="502920" cy="502920"/>
          </a:xfrm>
          <a:prstGeom prst="ellipse">
            <a:avLst/>
          </a:prstGeom>
          <a:solidFill>
            <a:schemeClr val="accent1"/>
          </a:solidFill>
          <a:ln w="12700">
            <a:solidFill>
              <a:schemeClr val="accent1"/>
            </a:solidFill>
            <a:prstDash val="solid"/>
          </a:ln>
        </p:spPr>
      </p:sp>
      <p:pic>
        <p:nvPicPr>
          <p:cNvPr id="16" name="Image 2" descr="ListOl icon">    </p:cNvPr>
          <p:cNvPicPr>
            <a:picLocks noChangeAspect="1"/>
          </p:cNvPicPr>
          <p:nvPr/>
        </p:nvPicPr>
        <p:blipFill>
          <a:blip r:embed="rId3"/>
          <a:stretch>
            <a:fillRect/>
          </a:stretch>
        </p:blipFill>
        <p:spPr>
          <a:xfrm>
            <a:off x="821588" y="3061868"/>
            <a:ext cx="231343" cy="231343"/>
          </a:xfrm>
          <a:prstGeom prst="rect">
            <a:avLst/>
          </a:prstGeom>
        </p:spPr>
      </p:pic>
      <p:sp>
        <p:nvSpPr>
          <p:cNvPr id="17" name="Text 12"/>
          <p:cNvSpPr txBox="1"/>
          <p:nvPr/>
        </p:nvSpPr>
        <p:spPr>
          <a:xfrm>
            <a:off x="1298448" y="2926080"/>
            <a:ext cx="2103120" cy="502920"/>
          </a:xfrm>
          <a:prstGeom prst="rect">
            <a:avLst/>
          </a:prstGeom>
          <a:noFill/>
          <a:ln/>
        </p:spPr>
        <p:txBody>
          <a:bodyPr wrap="square" lIns="0" tIns="0" rIns="0" bIns="0" rtlCol="0" anchor="ctr"/>
          <a:lstStyle/>
          <a:p>
            <a:pPr indent="0" marL="0">
              <a:buNone/>
            </a:pPr>
            <a:r>
              <a:rPr lang="en-US" sz="1300" b="1" dirty="0">
                <a:solidFill>
                  <a:schemeClr val="tx1"/>
                </a:solidFill>
              </a:rPr>
              <a:t>Kalimat demi kalimat</a:t>
            </a:r>
            <a:endParaRPr lang="en-US" sz="1300" dirty="0"/>
          </a:p>
        </p:txBody>
      </p:sp>
      <p:sp>
        <p:nvSpPr>
          <p:cNvPr id="18" name="Text 13"/>
          <p:cNvSpPr txBox="1"/>
          <p:nvPr/>
        </p:nvSpPr>
        <p:spPr>
          <a:xfrm>
            <a:off x="685800" y="3474720"/>
            <a:ext cx="2697480" cy="502920"/>
          </a:xfrm>
          <a:prstGeom prst="rect">
            <a:avLst/>
          </a:prstGeom>
          <a:noFill/>
          <a:ln/>
        </p:spPr>
        <p:txBody>
          <a:bodyPr wrap="square" lIns="0" tIns="0" rIns="0" bIns="0" rtlCol="0" anchor="t"/>
          <a:lstStyle/>
          <a:p>
            <a:pPr indent="0" marL="0">
              <a:buNone/>
            </a:pPr>
            <a:r>
              <a:rPr lang="en-US" sz="1100" dirty="0">
                <a:solidFill>
                  <a:schemeClr val="accent5"/>
                </a:solidFill>
              </a:rPr>
              <a:t>Tabel rincian: asli, normal, dan terjemahan</a:t>
            </a:r>
            <a:endParaRPr lang="en-US" sz="1100" dirty="0"/>
          </a:p>
        </p:txBody>
      </p:sp>
      <p:sp>
        <p:nvSpPr>
          <p:cNvPr id="19" name="Kartu fitur"/>
          <p:cNvSpPr/>
          <p:nvPr/>
        </p:nvSpPr>
        <p:spPr>
          <a:xfrm>
            <a:off x="3611880" y="2788920"/>
            <a:ext cx="2926080" cy="1234440"/>
          </a:xfrm>
          <a:prstGeom prst="roundRect">
            <a:avLst>
              <a:gd name="adj" fmla="val 8889"/>
            </a:avLst>
          </a:prstGeom>
          <a:solidFill>
            <a:schemeClr val="bg2"/>
          </a:solidFill>
          <a:ln w="12700">
            <a:solidFill>
              <a:schemeClr val="bg2"/>
            </a:solidFill>
            <a:prstDash val="solid"/>
          </a:ln>
        </p:spPr>
      </p:sp>
      <p:sp>
        <p:nvSpPr>
          <p:cNvPr id="20" name="Icon circle"/>
          <p:cNvSpPr/>
          <p:nvPr/>
        </p:nvSpPr>
        <p:spPr>
          <a:xfrm>
            <a:off x="3749040" y="2926080"/>
            <a:ext cx="502920" cy="502920"/>
          </a:xfrm>
          <a:prstGeom prst="ellipse">
            <a:avLst/>
          </a:prstGeom>
          <a:solidFill>
            <a:schemeClr val="accent1"/>
          </a:solidFill>
          <a:ln w="12700">
            <a:solidFill>
              <a:schemeClr val="accent1"/>
            </a:solidFill>
            <a:prstDash val="solid"/>
          </a:ln>
        </p:spPr>
      </p:sp>
      <p:pic>
        <p:nvPicPr>
          <p:cNvPr id="21" name="Image 3" descr="ProjectDiagram icon">    </p:cNvPr>
          <p:cNvPicPr>
            <a:picLocks noChangeAspect="1"/>
          </p:cNvPicPr>
          <p:nvPr/>
        </p:nvPicPr>
        <p:blipFill>
          <a:blip r:embed="rId4"/>
          <a:stretch>
            <a:fillRect/>
          </a:stretch>
        </p:blipFill>
        <p:spPr>
          <a:xfrm>
            <a:off x="3884828" y="3061868"/>
            <a:ext cx="231343" cy="231343"/>
          </a:xfrm>
          <a:prstGeom prst="rect">
            <a:avLst/>
          </a:prstGeom>
        </p:spPr>
      </p:pic>
      <p:sp>
        <p:nvSpPr>
          <p:cNvPr id="22" name="Text 16"/>
          <p:cNvSpPr txBox="1"/>
          <p:nvPr/>
        </p:nvSpPr>
        <p:spPr>
          <a:xfrm>
            <a:off x="4361688" y="2926080"/>
            <a:ext cx="2103120" cy="502920"/>
          </a:xfrm>
          <a:prstGeom prst="rect">
            <a:avLst/>
          </a:prstGeom>
          <a:noFill/>
          <a:ln/>
        </p:spPr>
        <p:txBody>
          <a:bodyPr wrap="square" lIns="0" tIns="0" rIns="0" bIns="0" rtlCol="0" anchor="ctr"/>
          <a:lstStyle/>
          <a:p>
            <a:pPr indent="0" marL="0">
              <a:buNone/>
            </a:pPr>
            <a:r>
              <a:rPr lang="en-US" sz="1300" b="1" dirty="0">
                <a:solidFill>
                  <a:schemeClr val="tx1"/>
                </a:solidFill>
              </a:rPr>
              <a:t>Cara kerja model</a:t>
            </a:r>
            <a:endParaRPr lang="en-US" sz="1300" dirty="0"/>
          </a:p>
        </p:txBody>
      </p:sp>
      <p:sp>
        <p:nvSpPr>
          <p:cNvPr id="23" name="Text 17"/>
          <p:cNvSpPr txBox="1"/>
          <p:nvPr/>
        </p:nvSpPr>
        <p:spPr>
          <a:xfrm>
            <a:off x="3749040" y="3474720"/>
            <a:ext cx="2697480" cy="502920"/>
          </a:xfrm>
          <a:prstGeom prst="rect">
            <a:avLst/>
          </a:prstGeom>
          <a:noFill/>
          <a:ln/>
        </p:spPr>
        <p:txBody>
          <a:bodyPr wrap="square" lIns="0" tIns="0" rIns="0" bIns="0" rtlCol="0" anchor="t"/>
          <a:lstStyle/>
          <a:p>
            <a:pPr indent="0" marL="0">
              <a:buNone/>
            </a:pPr>
            <a:r>
              <a:rPr lang="en-US" sz="1100" dirty="0">
                <a:solidFill>
                  <a:schemeClr val="accent5"/>
                </a:solidFill>
              </a:rPr>
              <a:t>Token encoder dan decoder tiap terjemahan</a:t>
            </a:r>
            <a:endParaRPr lang="en-US" sz="1100" dirty="0"/>
          </a:p>
        </p:txBody>
      </p:sp>
      <p:sp>
        <p:nvSpPr>
          <p:cNvPr id="24" name="Kartu fitur"/>
          <p:cNvSpPr/>
          <p:nvPr/>
        </p:nvSpPr>
        <p:spPr>
          <a:xfrm>
            <a:off x="548640" y="4160520"/>
            <a:ext cx="2926080" cy="1234440"/>
          </a:xfrm>
          <a:prstGeom prst="roundRect">
            <a:avLst>
              <a:gd name="adj" fmla="val 8889"/>
            </a:avLst>
          </a:prstGeom>
          <a:solidFill>
            <a:schemeClr val="bg2"/>
          </a:solidFill>
          <a:ln w="12700">
            <a:solidFill>
              <a:schemeClr val="bg2"/>
            </a:solidFill>
            <a:prstDash val="solid"/>
          </a:ln>
        </p:spPr>
      </p:sp>
      <p:sp>
        <p:nvSpPr>
          <p:cNvPr id="25" name="Icon circle"/>
          <p:cNvSpPr/>
          <p:nvPr/>
        </p:nvSpPr>
        <p:spPr>
          <a:xfrm>
            <a:off x="685800" y="4297680"/>
            <a:ext cx="502920" cy="502920"/>
          </a:xfrm>
          <a:prstGeom prst="ellipse">
            <a:avLst/>
          </a:prstGeom>
          <a:solidFill>
            <a:schemeClr val="accent1"/>
          </a:solidFill>
          <a:ln w="12700">
            <a:solidFill>
              <a:schemeClr val="accent1"/>
            </a:solidFill>
            <a:prstDash val="solid"/>
          </a:ln>
        </p:spPr>
      </p:sp>
      <p:pic>
        <p:nvPicPr>
          <p:cNvPr id="26" name="Image 4" descr="Book icon">    </p:cNvPr>
          <p:cNvPicPr>
            <a:picLocks noChangeAspect="1"/>
          </p:cNvPicPr>
          <p:nvPr/>
        </p:nvPicPr>
        <p:blipFill>
          <a:blip r:embed="rId5"/>
          <a:stretch>
            <a:fillRect/>
          </a:stretch>
        </p:blipFill>
        <p:spPr>
          <a:xfrm>
            <a:off x="821588" y="4433468"/>
            <a:ext cx="231343" cy="231343"/>
          </a:xfrm>
          <a:prstGeom prst="rect">
            <a:avLst/>
          </a:prstGeom>
        </p:spPr>
      </p:pic>
      <p:sp>
        <p:nvSpPr>
          <p:cNvPr id="27" name="Text 20"/>
          <p:cNvSpPr txBox="1"/>
          <p:nvPr/>
        </p:nvSpPr>
        <p:spPr>
          <a:xfrm>
            <a:off x="1298448" y="4297680"/>
            <a:ext cx="2103120" cy="502920"/>
          </a:xfrm>
          <a:prstGeom prst="rect">
            <a:avLst/>
          </a:prstGeom>
          <a:noFill/>
          <a:ln/>
        </p:spPr>
        <p:txBody>
          <a:bodyPr wrap="square" lIns="0" tIns="0" rIns="0" bIns="0" rtlCol="0" anchor="ctr"/>
          <a:lstStyle/>
          <a:p>
            <a:pPr indent="0" marL="0">
              <a:buNone/>
            </a:pPr>
            <a:r>
              <a:rPr lang="en-US" sz="1300" b="1" dirty="0">
                <a:solidFill>
                  <a:schemeClr val="tx1"/>
                </a:solidFill>
              </a:rPr>
              <a:t>Panel kamus</a:t>
            </a:r>
            <a:endParaRPr lang="en-US" sz="1300" dirty="0"/>
          </a:p>
        </p:txBody>
      </p:sp>
      <p:sp>
        <p:nvSpPr>
          <p:cNvPr id="28" name="Text 21"/>
          <p:cNvSpPr txBox="1"/>
          <p:nvPr/>
        </p:nvSpPr>
        <p:spPr>
          <a:xfrm>
            <a:off x="685800" y="4846320"/>
            <a:ext cx="2697480" cy="502920"/>
          </a:xfrm>
          <a:prstGeom prst="rect">
            <a:avLst/>
          </a:prstGeom>
          <a:noFill/>
          <a:ln/>
        </p:spPr>
        <p:txBody>
          <a:bodyPr wrap="square" lIns="0" tIns="0" rIns="0" bIns="0" rtlCol="0" anchor="t"/>
          <a:lstStyle/>
          <a:p>
            <a:pPr indent="0" marL="0">
              <a:buNone/>
            </a:pPr>
            <a:r>
              <a:rPr lang="en-US" sz="1100" dirty="0">
                <a:solidFill>
                  <a:schemeClr val="accent5"/>
                </a:solidFill>
              </a:rPr>
              <a:t>Arti kata dengan tanda centang pada arti terbaik</a:t>
            </a:r>
            <a:endParaRPr lang="en-US" sz="1100" dirty="0"/>
          </a:p>
        </p:txBody>
      </p:sp>
      <p:sp>
        <p:nvSpPr>
          <p:cNvPr id="29" name="Kartu fitur"/>
          <p:cNvSpPr/>
          <p:nvPr/>
        </p:nvSpPr>
        <p:spPr>
          <a:xfrm>
            <a:off x="3611880" y="4160520"/>
            <a:ext cx="2926080" cy="1234440"/>
          </a:xfrm>
          <a:prstGeom prst="roundRect">
            <a:avLst>
              <a:gd name="adj" fmla="val 8889"/>
            </a:avLst>
          </a:prstGeom>
          <a:solidFill>
            <a:schemeClr val="bg2"/>
          </a:solidFill>
          <a:ln w="12700">
            <a:solidFill>
              <a:schemeClr val="bg2"/>
            </a:solidFill>
            <a:prstDash val="solid"/>
          </a:ln>
        </p:spPr>
      </p:sp>
      <p:sp>
        <p:nvSpPr>
          <p:cNvPr id="30" name="Icon circle"/>
          <p:cNvSpPr/>
          <p:nvPr/>
        </p:nvSpPr>
        <p:spPr>
          <a:xfrm>
            <a:off x="3749040" y="4297680"/>
            <a:ext cx="502920" cy="502920"/>
          </a:xfrm>
          <a:prstGeom prst="ellipse">
            <a:avLst/>
          </a:prstGeom>
          <a:solidFill>
            <a:schemeClr val="accent1"/>
          </a:solidFill>
          <a:ln w="12700">
            <a:solidFill>
              <a:schemeClr val="accent1"/>
            </a:solidFill>
            <a:prstDash val="solid"/>
          </a:ln>
        </p:spPr>
      </p:sp>
      <p:pic>
        <p:nvPicPr>
          <p:cNvPr id="31" name="Image 5" descr="CheckCircle icon">    </p:cNvPr>
          <p:cNvPicPr>
            <a:picLocks noChangeAspect="1"/>
          </p:cNvPicPr>
          <p:nvPr/>
        </p:nvPicPr>
        <p:blipFill>
          <a:blip r:embed="rId6"/>
          <a:stretch>
            <a:fillRect/>
          </a:stretch>
        </p:blipFill>
        <p:spPr>
          <a:xfrm>
            <a:off x="3884828" y="4433468"/>
            <a:ext cx="231343" cy="231343"/>
          </a:xfrm>
          <a:prstGeom prst="rect">
            <a:avLst/>
          </a:prstGeom>
        </p:spPr>
      </p:pic>
      <p:sp>
        <p:nvSpPr>
          <p:cNvPr id="32" name="Text 24"/>
          <p:cNvSpPr txBox="1"/>
          <p:nvPr/>
        </p:nvSpPr>
        <p:spPr>
          <a:xfrm>
            <a:off x="4361688" y="4297680"/>
            <a:ext cx="2103120" cy="502920"/>
          </a:xfrm>
          <a:prstGeom prst="rect">
            <a:avLst/>
          </a:prstGeom>
          <a:noFill/>
          <a:ln/>
        </p:spPr>
        <p:txBody>
          <a:bodyPr wrap="square" lIns="0" tIns="0" rIns="0" bIns="0" rtlCol="0" anchor="ctr"/>
          <a:lstStyle/>
          <a:p>
            <a:pPr indent="0" marL="0">
              <a:buNone/>
            </a:pPr>
            <a:r>
              <a:rPr lang="en-US" sz="1300" b="1" dirty="0">
                <a:solidFill>
                  <a:schemeClr val="tx1"/>
                </a:solidFill>
              </a:rPr>
              <a:t>Panel akurasi</a:t>
            </a:r>
            <a:endParaRPr lang="en-US" sz="1300" dirty="0"/>
          </a:p>
        </p:txBody>
      </p:sp>
      <p:sp>
        <p:nvSpPr>
          <p:cNvPr id="33" name="Text 25"/>
          <p:cNvSpPr txBox="1"/>
          <p:nvPr/>
        </p:nvSpPr>
        <p:spPr>
          <a:xfrm>
            <a:off x="3749040" y="4846320"/>
            <a:ext cx="2697480" cy="502920"/>
          </a:xfrm>
          <a:prstGeom prst="rect">
            <a:avLst/>
          </a:prstGeom>
          <a:noFill/>
          <a:ln/>
        </p:spPr>
        <p:txBody>
          <a:bodyPr wrap="square" lIns="0" tIns="0" rIns="0" bIns="0" rtlCol="0" anchor="t"/>
          <a:lstStyle/>
          <a:p>
            <a:pPr indent="0" marL="0">
              <a:buNone/>
            </a:pPr>
            <a:r>
              <a:rPr lang="en-US" sz="1100" dirty="0">
                <a:solidFill>
                  <a:schemeClr val="accent5"/>
                </a:solidFill>
              </a:rPr>
              <a:t>Skor uji tampil di samping penerjemah</a:t>
            </a:r>
            <a:endParaRPr lang="en-US" sz="1100" dirty="0"/>
          </a:p>
        </p:txBody>
      </p:sp>
      <p:sp>
        <p:nvSpPr>
          <p:cNvPr id="34" name="Contoh tampilan"/>
          <p:cNvSpPr/>
          <p:nvPr/>
        </p:nvSpPr>
        <p:spPr>
          <a:xfrm>
            <a:off x="6812280" y="1417320"/>
            <a:ext cx="4828032" cy="3840480"/>
          </a:xfrm>
          <a:prstGeom prst="roundRect">
            <a:avLst>
              <a:gd name="adj" fmla="val 2857"/>
            </a:avLst>
          </a:prstGeom>
          <a:solidFill>
            <a:schemeClr val="tx2"/>
          </a:solidFill>
          <a:ln w="12700">
            <a:solidFill>
              <a:schemeClr val="tx2"/>
            </a:solidFill>
            <a:prstDash val="solid"/>
          </a:ln>
        </p:spPr>
      </p:sp>
      <p:sp>
        <p:nvSpPr>
          <p:cNvPr id="35" name="Text 27"/>
          <p:cNvSpPr txBox="1"/>
          <p:nvPr/>
        </p:nvSpPr>
        <p:spPr>
          <a:xfrm>
            <a:off x="7086600" y="1600200"/>
            <a:ext cx="4297680" cy="411480"/>
          </a:xfrm>
          <a:prstGeom prst="rect">
            <a:avLst/>
          </a:prstGeom>
          <a:noFill/>
          <a:ln/>
        </p:spPr>
        <p:txBody>
          <a:bodyPr wrap="square" lIns="0" tIns="0" rIns="0" bIns="0" rtlCol="0" anchor="t"/>
          <a:lstStyle/>
          <a:p>
            <a:pPr indent="0" marL="0">
              <a:buNone/>
            </a:pPr>
            <a:r>
              <a:rPr lang="en-US" sz="1800" b="1" dirty="0">
                <a:solidFill>
                  <a:schemeClr val="bg1"/>
                </a:solidFill>
              </a:rPr>
              <a:t>Penerjemah Aceh → Indonesia</a:t>
            </a:r>
            <a:endParaRPr lang="en-US" sz="1800" dirty="0"/>
          </a:p>
        </p:txBody>
      </p:sp>
      <p:sp>
        <p:nvSpPr>
          <p:cNvPr id="36" name="Kotak masukan"/>
          <p:cNvSpPr/>
          <p:nvPr/>
        </p:nvSpPr>
        <p:spPr>
          <a:xfrm>
            <a:off x="7086600" y="2148840"/>
            <a:ext cx="2103120" cy="1371600"/>
          </a:xfrm>
          <a:prstGeom prst="roundRect">
            <a:avLst>
              <a:gd name="adj" fmla="val 5333"/>
            </a:avLst>
          </a:prstGeom>
          <a:solidFill>
            <a:schemeClr val="bg1"/>
          </a:solidFill>
          <a:ln w="12700">
            <a:solidFill>
              <a:schemeClr val="bg1"/>
            </a:solidFill>
            <a:prstDash val="solid"/>
          </a:ln>
        </p:spPr>
      </p:sp>
      <p:sp>
        <p:nvSpPr>
          <p:cNvPr id="37" name="Text 29"/>
          <p:cNvSpPr txBox="1"/>
          <p:nvPr/>
        </p:nvSpPr>
        <p:spPr>
          <a:xfrm>
            <a:off x="7178040" y="2194560"/>
            <a:ext cx="1920240" cy="274320"/>
          </a:xfrm>
          <a:prstGeom prst="rect">
            <a:avLst/>
          </a:prstGeom>
          <a:noFill/>
          <a:ln/>
        </p:spPr>
        <p:txBody>
          <a:bodyPr wrap="square" lIns="0" tIns="0" rIns="0" bIns="0" rtlCol="0" anchor="t"/>
          <a:lstStyle/>
          <a:p>
            <a:pPr indent="0" marL="0">
              <a:buNone/>
            </a:pPr>
            <a:r>
              <a:rPr lang="en-US" sz="1100" dirty="0">
                <a:solidFill>
                  <a:schemeClr val="accent5"/>
                </a:solidFill>
              </a:rPr>
              <a:t>Bahasa Aceh</a:t>
            </a:r>
            <a:endParaRPr lang="en-US" sz="1100" dirty="0"/>
          </a:p>
        </p:txBody>
      </p:sp>
      <p:sp>
        <p:nvSpPr>
          <p:cNvPr id="38" name="Text 30"/>
          <p:cNvSpPr txBox="1"/>
          <p:nvPr/>
        </p:nvSpPr>
        <p:spPr>
          <a:xfrm>
            <a:off x="7178040" y="2514600"/>
            <a:ext cx="1920240" cy="914400"/>
          </a:xfrm>
          <a:prstGeom prst="rect">
            <a:avLst/>
          </a:prstGeom>
          <a:noFill/>
          <a:ln/>
        </p:spPr>
        <p:txBody>
          <a:bodyPr wrap="square" lIns="0" tIns="0" rIns="0" bIns="0" rtlCol="0" anchor="t"/>
          <a:lstStyle/>
          <a:p>
            <a:pPr indent="0" marL="0">
              <a:buNone/>
            </a:pPr>
            <a:r>
              <a:rPr lang="en-US" sz="1400" dirty="0">
                <a:solidFill>
                  <a:schemeClr val="tx1"/>
                </a:solidFill>
              </a:rPr>
              <a:t>Lon jak u peukan uroe nyoe.</a:t>
            </a:r>
            <a:endParaRPr lang="en-US" sz="1400" dirty="0"/>
          </a:p>
        </p:txBody>
      </p:sp>
      <p:sp>
        <p:nvSpPr>
          <p:cNvPr id="39" name="Kotak hasil"/>
          <p:cNvSpPr/>
          <p:nvPr/>
        </p:nvSpPr>
        <p:spPr>
          <a:xfrm>
            <a:off x="9418320" y="2148840"/>
            <a:ext cx="1965960" cy="1371600"/>
          </a:xfrm>
          <a:prstGeom prst="roundRect">
            <a:avLst>
              <a:gd name="adj" fmla="val 5333"/>
            </a:avLst>
          </a:prstGeom>
          <a:solidFill>
            <a:schemeClr val="bg1"/>
          </a:solidFill>
          <a:ln w="12700">
            <a:solidFill>
              <a:schemeClr val="bg1"/>
            </a:solidFill>
            <a:prstDash val="solid"/>
          </a:ln>
        </p:spPr>
      </p:sp>
      <p:sp>
        <p:nvSpPr>
          <p:cNvPr id="40" name="Text 32"/>
          <p:cNvSpPr txBox="1"/>
          <p:nvPr/>
        </p:nvSpPr>
        <p:spPr>
          <a:xfrm>
            <a:off x="9509760" y="2194560"/>
            <a:ext cx="1783080" cy="274320"/>
          </a:xfrm>
          <a:prstGeom prst="rect">
            <a:avLst/>
          </a:prstGeom>
          <a:noFill/>
          <a:ln/>
        </p:spPr>
        <p:txBody>
          <a:bodyPr wrap="square" lIns="0" tIns="0" rIns="0" bIns="0" rtlCol="0" anchor="t"/>
          <a:lstStyle/>
          <a:p>
            <a:pPr indent="0" marL="0">
              <a:buNone/>
            </a:pPr>
            <a:r>
              <a:rPr lang="en-US" sz="1100" dirty="0">
                <a:solidFill>
                  <a:schemeClr val="accent5"/>
                </a:solidFill>
              </a:rPr>
              <a:t>Bahasa Indonesia</a:t>
            </a:r>
            <a:endParaRPr lang="en-US" sz="1100" dirty="0"/>
          </a:p>
        </p:txBody>
      </p:sp>
      <p:sp>
        <p:nvSpPr>
          <p:cNvPr id="41" name="Text 33"/>
          <p:cNvSpPr txBox="1"/>
          <p:nvPr/>
        </p:nvSpPr>
        <p:spPr>
          <a:xfrm>
            <a:off x="9509760" y="2514600"/>
            <a:ext cx="1783080" cy="914400"/>
          </a:xfrm>
          <a:prstGeom prst="rect">
            <a:avLst/>
          </a:prstGeom>
          <a:noFill/>
          <a:ln/>
        </p:spPr>
        <p:txBody>
          <a:bodyPr wrap="square" lIns="0" tIns="0" rIns="0" bIns="0" rtlCol="0" anchor="t"/>
          <a:lstStyle/>
          <a:p>
            <a:pPr indent="0" marL="0">
              <a:buNone/>
            </a:pPr>
            <a:r>
              <a:rPr lang="en-US" sz="1400" b="1" dirty="0">
                <a:solidFill>
                  <a:schemeClr val="accent1"/>
                </a:solidFill>
              </a:rPr>
              <a:t>Saya pergi ke pasar hari ini.</a:t>
            </a:r>
            <a:endParaRPr lang="en-US" sz="1400" dirty="0"/>
          </a:p>
        </p:txBody>
      </p:sp>
      <p:sp>
        <p:nvSpPr>
          <p:cNvPr id="42" name="Tombol"/>
          <p:cNvSpPr/>
          <p:nvPr/>
        </p:nvSpPr>
        <p:spPr>
          <a:xfrm>
            <a:off x="7086600" y="3749040"/>
            <a:ext cx="4297680" cy="548640"/>
          </a:xfrm>
          <a:prstGeom prst="roundRect">
            <a:avLst>
              <a:gd name="adj" fmla="val 16667"/>
            </a:avLst>
          </a:prstGeom>
          <a:solidFill>
            <a:srgbClr val="0D9488"/>
          </a:solidFill>
          <a:ln w="12700">
            <a:solidFill>
              <a:srgbClr val="0D9488"/>
            </a:solidFill>
            <a:prstDash val="solid"/>
          </a:ln>
        </p:spPr>
      </p:sp>
      <p:sp>
        <p:nvSpPr>
          <p:cNvPr id="43" name="Text 35"/>
          <p:cNvSpPr txBox="1"/>
          <p:nvPr/>
        </p:nvSpPr>
        <p:spPr>
          <a:xfrm>
            <a:off x="7086600" y="3749040"/>
            <a:ext cx="4297680" cy="548640"/>
          </a:xfrm>
          <a:prstGeom prst="rect">
            <a:avLst/>
          </a:prstGeom>
          <a:noFill/>
          <a:ln/>
        </p:spPr>
        <p:txBody>
          <a:bodyPr wrap="square" lIns="0" tIns="0" rIns="0" bIns="0" rtlCol="0" anchor="ctr"/>
          <a:lstStyle/>
          <a:p>
            <a:pPr algn="ctr" indent="0" marL="0">
              <a:buNone/>
            </a:pPr>
            <a:r>
              <a:rPr lang="en-US" sz="1500" b="1" dirty="0">
                <a:solidFill>
                  <a:schemeClr val="bg1"/>
                </a:solidFill>
              </a:rPr>
              <a:t>Terjemahkan · Translate</a:t>
            </a:r>
            <a:endParaRPr lang="en-US" sz="1500" dirty="0"/>
          </a:p>
        </p:txBody>
      </p:sp>
      <p:sp>
        <p:nvSpPr>
          <p:cNvPr id="44" name="Text 36"/>
          <p:cNvSpPr txBox="1"/>
          <p:nvPr/>
        </p:nvSpPr>
        <p:spPr>
          <a:xfrm>
            <a:off x="7086600" y="4480560"/>
            <a:ext cx="4297680" cy="320040"/>
          </a:xfrm>
          <a:prstGeom prst="rect">
            <a:avLst/>
          </a:prstGeom>
          <a:noFill/>
          <a:ln/>
        </p:spPr>
        <p:txBody>
          <a:bodyPr wrap="square" lIns="0" tIns="0" rIns="0" bIns="0" rtlCol="0" anchor="t"/>
          <a:lstStyle/>
          <a:p>
            <a:pPr indent="0" marL="0">
              <a:buNone/>
            </a:pPr>
            <a:r>
              <a:rPr lang="en-US" sz="1200" dirty="0">
                <a:solidFill>
                  <a:schemeClr val="bg2"/>
                </a:solidFill>
              </a:rPr>
              <a:t>Cara kerja model  ·  Kata per kata  ·  Seberapa akurat?</a:t>
            </a:r>
            <a:endParaRPr lang="en-US" sz="1200" dirty="0"/>
          </a:p>
        </p:txBody>
      </p:sp>
      <p:sp>
        <p:nvSpPr>
          <p:cNvPr id="45" name="Kartu cara jalan"/>
          <p:cNvSpPr/>
          <p:nvPr/>
        </p:nvSpPr>
        <p:spPr>
          <a:xfrm>
            <a:off x="548640" y="5486400"/>
            <a:ext cx="11091672" cy="777240"/>
          </a:xfrm>
          <a:prstGeom prst="roundRect">
            <a:avLst>
              <a:gd name="adj" fmla="val 14118"/>
            </a:avLst>
          </a:prstGeom>
          <a:solidFill>
            <a:schemeClr val="bg2"/>
          </a:solidFill>
          <a:ln w="12700">
            <a:solidFill>
              <a:schemeClr val="bg2"/>
            </a:solidFill>
            <a:prstDash val="solid"/>
          </a:ln>
        </p:spPr>
      </p:sp>
      <p:sp>
        <p:nvSpPr>
          <p:cNvPr id="46" name="Text 38"/>
          <p:cNvSpPr txBox="1"/>
          <p:nvPr/>
        </p:nvSpPr>
        <p:spPr>
          <a:xfrm>
            <a:off x="822960" y="5486400"/>
            <a:ext cx="10607040" cy="777240"/>
          </a:xfrm>
          <a:prstGeom prst="rect">
            <a:avLst/>
          </a:prstGeom>
          <a:noFill/>
          <a:ln/>
        </p:spPr>
        <p:txBody>
          <a:bodyPr wrap="square" lIns="0" tIns="0" rIns="0" bIns="0" rtlCol="0" anchor="ctr"/>
          <a:lstStyle/>
          <a:p>
            <a:pPr indent="0" marL="0">
              <a:buNone/>
            </a:pPr>
            <a:r>
              <a:rPr lang="en-US" sz="1300" dirty="0">
                <a:solidFill>
                  <a:schemeClr val="tx1"/>
                </a:solidFill>
              </a:rPr>
              <a:t>Jalankan: ./run_app.sh (Mac) · run_app.bat (Windows) · notebook demo Colab dengan tautan publik · model di Hugging Face</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KUALITAS</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Bisa diulang, diuji, dan terdokumentasi</a:t>
            </a:r>
            <a:endParaRPr lang="en-US" sz="3600" dirty="0"/>
          </a:p>
        </p:txBody>
      </p:sp>
      <p:sp>
        <p:nvSpPr>
          <p:cNvPr id="4" name="Kartu angka"/>
          <p:cNvSpPr/>
          <p:nvPr/>
        </p:nvSpPr>
        <p:spPr>
          <a:xfrm>
            <a:off x="548640" y="1463040"/>
            <a:ext cx="3593592" cy="2286000"/>
          </a:xfrm>
          <a:prstGeom prst="roundRect">
            <a:avLst>
              <a:gd name="adj" fmla="val 4800"/>
            </a:avLst>
          </a:prstGeom>
          <a:solidFill>
            <a:schemeClr val="bg2"/>
          </a:solidFill>
          <a:ln w="12700">
            <a:solidFill>
              <a:schemeClr val="bg2"/>
            </a:solidFill>
            <a:prstDash val="solid"/>
          </a:ln>
        </p:spPr>
      </p:sp>
      <p:sp>
        <p:nvSpPr>
          <p:cNvPr id="5" name="Text 3"/>
          <p:cNvSpPr txBox="1"/>
          <p:nvPr/>
        </p:nvSpPr>
        <p:spPr>
          <a:xfrm>
            <a:off x="822960" y="160020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91</a:t>
            </a:r>
            <a:endParaRPr lang="en-US" sz="4800" dirty="0"/>
          </a:p>
        </p:txBody>
      </p:sp>
      <p:sp>
        <p:nvSpPr>
          <p:cNvPr id="6" name="Text 4"/>
          <p:cNvSpPr txBox="1"/>
          <p:nvPr/>
        </p:nvSpPr>
        <p:spPr>
          <a:xfrm>
            <a:off x="822960" y="2423160"/>
            <a:ext cx="3108960" cy="365760"/>
          </a:xfrm>
          <a:prstGeom prst="rect">
            <a:avLst/>
          </a:prstGeom>
          <a:noFill/>
          <a:ln/>
        </p:spPr>
        <p:txBody>
          <a:bodyPr wrap="square" lIns="0" tIns="0" rIns="0" bIns="0" rtlCol="0" anchor="t"/>
          <a:lstStyle/>
          <a:p>
            <a:pPr indent="0" marL="0">
              <a:buNone/>
            </a:pPr>
            <a:r>
              <a:rPr lang="en-US" sz="1500" b="1" dirty="0">
                <a:solidFill>
                  <a:schemeClr val="tx1"/>
                </a:solidFill>
              </a:rPr>
              <a:t>tes otomatis</a:t>
            </a:r>
            <a:endParaRPr lang="en-US" sz="1500" dirty="0"/>
          </a:p>
        </p:txBody>
      </p:sp>
      <p:sp>
        <p:nvSpPr>
          <p:cNvPr id="7" name="Text 5"/>
          <p:cNvSpPr txBox="1"/>
          <p:nvPr/>
        </p:nvSpPr>
        <p:spPr>
          <a:xfrm>
            <a:off x="822960" y="2834640"/>
            <a:ext cx="3108960" cy="868680"/>
          </a:xfrm>
          <a:prstGeom prst="rect">
            <a:avLst/>
          </a:prstGeom>
          <a:noFill/>
          <a:ln/>
        </p:spPr>
        <p:txBody>
          <a:bodyPr wrap="square" lIns="0" tIns="0" rIns="0" bIns="0" rtlCol="0" anchor="t"/>
          <a:lstStyle/>
          <a:p>
            <a:pPr indent="0" marL="0">
              <a:buNone/>
            </a:pPr>
            <a:r>
              <a:rPr lang="en-US" sz="1200" dirty="0">
                <a:solidFill>
                  <a:schemeClr val="accent5"/>
                </a:solidFill>
              </a:rPr>
              <a:t>Pemeriksaan kebocoran, normalisasi, OCR, penyejajaran, pelatihan, aplikasi</a:t>
            </a:r>
            <a:endParaRPr lang="en-US" sz="1200" dirty="0"/>
          </a:p>
        </p:txBody>
      </p:sp>
      <p:sp>
        <p:nvSpPr>
          <p:cNvPr id="8" name="Kartu angka"/>
          <p:cNvSpPr/>
          <p:nvPr/>
        </p:nvSpPr>
        <p:spPr>
          <a:xfrm>
            <a:off x="4297680" y="1463040"/>
            <a:ext cx="3593592" cy="2286000"/>
          </a:xfrm>
          <a:prstGeom prst="roundRect">
            <a:avLst>
              <a:gd name="adj" fmla="val 4800"/>
            </a:avLst>
          </a:prstGeom>
          <a:solidFill>
            <a:schemeClr val="bg2"/>
          </a:solidFill>
          <a:ln w="12700">
            <a:solidFill>
              <a:schemeClr val="bg2"/>
            </a:solidFill>
            <a:prstDash val="solid"/>
          </a:ln>
        </p:spPr>
      </p:sp>
      <p:sp>
        <p:nvSpPr>
          <p:cNvPr id="9" name="Text 7"/>
          <p:cNvSpPr txBox="1"/>
          <p:nvPr/>
        </p:nvSpPr>
        <p:spPr>
          <a:xfrm>
            <a:off x="4572000" y="160020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1</a:t>
            </a:r>
            <a:endParaRPr lang="en-US" sz="4800" dirty="0"/>
          </a:p>
        </p:txBody>
      </p:sp>
      <p:sp>
        <p:nvSpPr>
          <p:cNvPr id="10" name="Text 8"/>
          <p:cNvSpPr txBox="1"/>
          <p:nvPr/>
        </p:nvSpPr>
        <p:spPr>
          <a:xfrm>
            <a:off x="4572000" y="2423160"/>
            <a:ext cx="3108960" cy="365760"/>
          </a:xfrm>
          <a:prstGeom prst="rect">
            <a:avLst/>
          </a:prstGeom>
          <a:noFill/>
          <a:ln/>
        </p:spPr>
        <p:txBody>
          <a:bodyPr wrap="square" lIns="0" tIns="0" rIns="0" bIns="0" rtlCol="0" anchor="t"/>
          <a:lstStyle/>
          <a:p>
            <a:pPr indent="0" marL="0">
              <a:buNone/>
            </a:pPr>
            <a:r>
              <a:rPr lang="en-US" sz="1500" b="1" dirty="0">
                <a:solidFill>
                  <a:schemeClr val="tx1"/>
                </a:solidFill>
              </a:rPr>
              <a:t>perintah per tahap</a:t>
            </a:r>
            <a:endParaRPr lang="en-US" sz="1500" dirty="0"/>
          </a:p>
        </p:txBody>
      </p:sp>
      <p:sp>
        <p:nvSpPr>
          <p:cNvPr id="11" name="Text 9"/>
          <p:cNvSpPr txBox="1"/>
          <p:nvPr/>
        </p:nvSpPr>
        <p:spPr>
          <a:xfrm>
            <a:off x="4572000" y="2834640"/>
            <a:ext cx="3108960" cy="868680"/>
          </a:xfrm>
          <a:prstGeom prst="rect">
            <a:avLst/>
          </a:prstGeom>
          <a:noFill/>
          <a:ln/>
        </p:spPr>
        <p:txBody>
          <a:bodyPr wrap="square" lIns="0" tIns="0" rIns="0" bIns="0" rtlCol="0" anchor="t"/>
          <a:lstStyle/>
          <a:p>
            <a:pPr indent="0" marL="0">
              <a:buNone/>
            </a:pPr>
            <a:r>
              <a:rPr lang="en-US" sz="1200" dirty="0">
                <a:solidFill>
                  <a:schemeClr val="accent5"/>
                </a:solidFill>
              </a:rPr>
              <a:t>Tiap langkah jalan dari baris perintah acehid</a:t>
            </a:r>
            <a:endParaRPr lang="en-US" sz="1200" dirty="0"/>
          </a:p>
        </p:txBody>
      </p:sp>
      <p:sp>
        <p:nvSpPr>
          <p:cNvPr id="12" name="Kartu angka"/>
          <p:cNvSpPr/>
          <p:nvPr/>
        </p:nvSpPr>
        <p:spPr>
          <a:xfrm>
            <a:off x="8046720" y="1463040"/>
            <a:ext cx="3593592" cy="2286000"/>
          </a:xfrm>
          <a:prstGeom prst="roundRect">
            <a:avLst>
              <a:gd name="adj" fmla="val 4800"/>
            </a:avLst>
          </a:prstGeom>
          <a:solidFill>
            <a:schemeClr val="bg2"/>
          </a:solidFill>
          <a:ln w="12700">
            <a:solidFill>
              <a:schemeClr val="bg2"/>
            </a:solidFill>
            <a:prstDash val="solid"/>
          </a:ln>
        </p:spPr>
      </p:sp>
      <p:sp>
        <p:nvSpPr>
          <p:cNvPr id="13" name="Text 11"/>
          <p:cNvSpPr txBox="1"/>
          <p:nvPr/>
        </p:nvSpPr>
        <p:spPr>
          <a:xfrm>
            <a:off x="8321040" y="160020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Git</a:t>
            </a:r>
            <a:endParaRPr lang="en-US" sz="4800" dirty="0"/>
          </a:p>
        </p:txBody>
      </p:sp>
      <p:sp>
        <p:nvSpPr>
          <p:cNvPr id="14" name="Text 12"/>
          <p:cNvSpPr txBox="1"/>
          <p:nvPr/>
        </p:nvSpPr>
        <p:spPr>
          <a:xfrm>
            <a:off x="8321040" y="2423160"/>
            <a:ext cx="3108960" cy="365760"/>
          </a:xfrm>
          <a:prstGeom prst="rect">
            <a:avLst/>
          </a:prstGeom>
          <a:noFill/>
          <a:ln/>
        </p:spPr>
        <p:txBody>
          <a:bodyPr wrap="square" lIns="0" tIns="0" rIns="0" bIns="0" rtlCol="0" anchor="t"/>
          <a:lstStyle/>
          <a:p>
            <a:pPr indent="0" marL="0">
              <a:buNone/>
            </a:pPr>
            <a:r>
              <a:rPr lang="en-US" sz="1500" b="1" dirty="0">
                <a:solidFill>
                  <a:schemeClr val="tx1"/>
                </a:solidFill>
              </a:rPr>
              <a:t>kode dan data di repositori</a:t>
            </a:r>
            <a:endParaRPr lang="en-US" sz="1500" dirty="0"/>
          </a:p>
        </p:txBody>
      </p:sp>
      <p:sp>
        <p:nvSpPr>
          <p:cNvPr id="15" name="Text 13"/>
          <p:cNvSpPr txBox="1"/>
          <p:nvPr/>
        </p:nvSpPr>
        <p:spPr>
          <a:xfrm>
            <a:off x="8321040" y="2834640"/>
            <a:ext cx="3108960" cy="868680"/>
          </a:xfrm>
          <a:prstGeom prst="rect">
            <a:avLst/>
          </a:prstGeom>
          <a:noFill/>
          <a:ln/>
        </p:spPr>
        <p:txBody>
          <a:bodyPr wrap="square" lIns="0" tIns="0" rIns="0" bIns="0" rtlCol="0" anchor="t"/>
          <a:lstStyle/>
          <a:p>
            <a:pPr indent="0" marL="0">
              <a:buNone/>
            </a:pPr>
            <a:r>
              <a:rPr lang="en-US" sz="1200" dirty="0">
                <a:solidFill>
                  <a:schemeClr val="accent5"/>
                </a:solidFill>
              </a:rPr>
              <a:t>Daftar sumber dan lisensi di config/sources.csv</a:t>
            </a:r>
            <a:endParaRPr lang="en-US" sz="1200" dirty="0"/>
          </a:p>
        </p:txBody>
      </p:sp>
      <p:sp>
        <p:nvSpPr>
          <p:cNvPr id="16" name="Kartu alat"/>
          <p:cNvSpPr/>
          <p:nvPr/>
        </p:nvSpPr>
        <p:spPr>
          <a:xfrm>
            <a:off x="548640" y="4023360"/>
            <a:ext cx="5486400" cy="2194560"/>
          </a:xfrm>
          <a:prstGeom prst="roundRect">
            <a:avLst>
              <a:gd name="adj" fmla="val 5000"/>
            </a:avLst>
          </a:prstGeom>
          <a:solidFill>
            <a:schemeClr val="bg2"/>
          </a:solidFill>
          <a:ln w="12700">
            <a:solidFill>
              <a:schemeClr val="bg2"/>
            </a:solidFill>
            <a:prstDash val="solid"/>
          </a:ln>
        </p:spPr>
      </p:sp>
      <p:sp>
        <p:nvSpPr>
          <p:cNvPr id="17" name="Text 15"/>
          <p:cNvSpPr txBox="1"/>
          <p:nvPr/>
        </p:nvSpPr>
        <p:spPr>
          <a:xfrm>
            <a:off x="822960" y="4160520"/>
            <a:ext cx="4572000" cy="365760"/>
          </a:xfrm>
          <a:prstGeom prst="rect">
            <a:avLst/>
          </a:prstGeom>
          <a:noFill/>
          <a:ln/>
        </p:spPr>
        <p:txBody>
          <a:bodyPr wrap="square" lIns="0" tIns="0" rIns="0" bIns="0" rtlCol="0" anchor="t"/>
          <a:lstStyle/>
          <a:p>
            <a:pPr indent="0" marL="0">
              <a:buNone/>
            </a:pPr>
            <a:r>
              <a:rPr lang="en-US" sz="1800" b="1" dirty="0">
                <a:solidFill>
                  <a:schemeClr val="tx1"/>
                </a:solidFill>
              </a:rPr>
              <a:t>Alat</a:t>
            </a:r>
            <a:endParaRPr lang="en-US" sz="1800" dirty="0"/>
          </a:p>
        </p:txBody>
      </p:sp>
      <p:sp>
        <p:nvSpPr>
          <p:cNvPr id="18" name="Text 16"/>
          <p:cNvSpPr txBox="1"/>
          <p:nvPr/>
        </p:nvSpPr>
        <p:spPr>
          <a:xfrm>
            <a:off x="822960" y="4617720"/>
            <a:ext cx="4937760" cy="1463040"/>
          </a:xfrm>
          <a:prstGeom prst="rect">
            <a:avLst/>
          </a:prstGeom>
          <a:noFill/>
          <a:ln/>
        </p:spPr>
        <p:txBody>
          <a:bodyPr wrap="square" lIns="0" tIns="0" rIns="0" bIns="0" rtlCol="0" anchor="t"/>
          <a:lstStyle/>
          <a:p>
            <a:pPr indent="0" marL="0">
              <a:buNone/>
            </a:pPr>
            <a:r>
              <a:rPr lang="en-US" sz="1500" dirty="0">
                <a:solidFill>
                  <a:schemeClr val="accent5"/>
                </a:solidFill>
              </a:rPr>
              <a:t>Python · PyTorch · Transformers 5.19 · sentencepiece · Gradio 6.29 · PyMuPDF · RapidOCR · rapidfuzz · datasketch · sacreBLEU · Google Colab</a:t>
            </a:r>
            <a:endParaRPr lang="en-US" sz="1500" dirty="0"/>
          </a:p>
        </p:txBody>
      </p:sp>
      <p:sp>
        <p:nvSpPr>
          <p:cNvPr id="19" name="Kartu AI"/>
          <p:cNvSpPr/>
          <p:nvPr/>
        </p:nvSpPr>
        <p:spPr>
          <a:xfrm>
            <a:off x="6245352" y="4023360"/>
            <a:ext cx="5394960" cy="2194560"/>
          </a:xfrm>
          <a:prstGeom prst="roundRect">
            <a:avLst>
              <a:gd name="adj" fmla="val 5000"/>
            </a:avLst>
          </a:prstGeom>
          <a:solidFill>
            <a:schemeClr val="tx2"/>
          </a:solidFill>
          <a:ln w="12700">
            <a:solidFill>
              <a:schemeClr val="tx2"/>
            </a:solidFill>
            <a:prstDash val="solid"/>
          </a:ln>
        </p:spPr>
      </p:sp>
      <p:sp>
        <p:nvSpPr>
          <p:cNvPr id="20" name="Text 18"/>
          <p:cNvSpPr txBox="1"/>
          <p:nvPr/>
        </p:nvSpPr>
        <p:spPr>
          <a:xfrm>
            <a:off x="6519672" y="4160520"/>
            <a:ext cx="4572000" cy="365760"/>
          </a:xfrm>
          <a:prstGeom prst="rect">
            <a:avLst/>
          </a:prstGeom>
          <a:noFill/>
          <a:ln/>
        </p:spPr>
        <p:txBody>
          <a:bodyPr wrap="square" lIns="0" tIns="0" rIns="0" bIns="0" rtlCol="0" anchor="t"/>
          <a:lstStyle/>
          <a:p>
            <a:pPr indent="0" marL="0">
              <a:buNone/>
            </a:pPr>
            <a:r>
              <a:rPr lang="en-US" sz="1800" b="1" dirty="0">
                <a:solidFill>
                  <a:schemeClr val="accent2"/>
                </a:solidFill>
              </a:rPr>
              <a:t>Bantuan AI</a:t>
            </a:r>
            <a:endParaRPr lang="en-US" sz="1800" dirty="0"/>
          </a:p>
        </p:txBody>
      </p:sp>
      <p:sp>
        <p:nvSpPr>
          <p:cNvPr id="21" name="Text 19"/>
          <p:cNvSpPr txBox="1"/>
          <p:nvPr/>
        </p:nvSpPr>
        <p:spPr>
          <a:xfrm>
            <a:off x="6519672" y="4617720"/>
            <a:ext cx="4846320" cy="1463040"/>
          </a:xfrm>
          <a:prstGeom prst="rect">
            <a:avLst/>
          </a:prstGeom>
          <a:noFill/>
          <a:ln/>
        </p:spPr>
        <p:txBody>
          <a:bodyPr wrap="square" lIns="0" tIns="0" rIns="0" bIns="0" rtlCol="0" anchor="t"/>
          <a:lstStyle/>
          <a:p>
            <a:pPr indent="0" marL="0">
              <a:buNone/>
            </a:pPr>
            <a:r>
              <a:rPr lang="en-US" sz="1500" dirty="0">
                <a:solidFill>
                  <a:schemeClr val="bg1"/>
                </a:solidFill>
              </a:rPr>
              <a:t>Kami memakai Claude, asisten AI, untuk membantu menulis banyak kode. Tim menentukan sumber data, aturan pembagian data, dan evaluasi, menjalankan pelatihan, serta memeriksa hasilnya.</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PENGGUNAAN BERTANGGUNG JAWAB</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Lisensi dan sumber</a:t>
            </a:r>
            <a:endParaRPr lang="en-US" sz="3600" dirty="0"/>
          </a:p>
        </p:txBody>
      </p:sp>
      <p:sp>
        <p:nvSpPr>
          <p:cNvPr id="4" name="Kartu kredit"/>
          <p:cNvSpPr/>
          <p:nvPr/>
        </p:nvSpPr>
        <p:spPr>
          <a:xfrm>
            <a:off x="548640" y="1463040"/>
            <a:ext cx="5468112" cy="2240280"/>
          </a:xfrm>
          <a:prstGeom prst="roundRect">
            <a:avLst>
              <a:gd name="adj" fmla="val 4898"/>
            </a:avLst>
          </a:prstGeom>
          <a:solidFill>
            <a:schemeClr val="bg2"/>
          </a:solidFill>
          <a:ln w="12700">
            <a:solidFill>
              <a:schemeClr val="bg2"/>
            </a:solidFill>
            <a:prstDash val="solid"/>
          </a:ln>
        </p:spPr>
      </p:sp>
      <p:sp>
        <p:nvSpPr>
          <p:cNvPr id="5" name="Icon circle"/>
          <p:cNvSpPr/>
          <p:nvPr/>
        </p:nvSpPr>
        <p:spPr>
          <a:xfrm>
            <a:off x="822960" y="1737360"/>
            <a:ext cx="685800" cy="685800"/>
          </a:xfrm>
          <a:prstGeom prst="ellipse">
            <a:avLst/>
          </a:prstGeom>
          <a:solidFill>
            <a:schemeClr val="accent1"/>
          </a:solidFill>
          <a:ln w="12700">
            <a:solidFill>
              <a:schemeClr val="accent1"/>
            </a:solidFill>
            <a:prstDash val="solid"/>
          </a:ln>
        </p:spPr>
      </p:sp>
      <p:pic>
        <p:nvPicPr>
          <p:cNvPr id="6" name="Image 0" descr="ShieldAlt icon">    </p:cNvPr>
          <p:cNvPicPr>
            <a:picLocks noChangeAspect="1"/>
          </p:cNvPicPr>
          <p:nvPr/>
        </p:nvPicPr>
        <p:blipFill>
          <a:blip r:embed="rId1"/>
          <a:stretch>
            <a:fillRect/>
          </a:stretch>
        </p:blipFill>
        <p:spPr>
          <a:xfrm>
            <a:off x="1008126" y="1922526"/>
            <a:ext cx="315468" cy="315468"/>
          </a:xfrm>
          <a:prstGeom prst="rect">
            <a:avLst/>
          </a:prstGeom>
        </p:spPr>
      </p:pic>
      <p:sp>
        <p:nvSpPr>
          <p:cNvPr id="7" name="Text 4"/>
          <p:cNvSpPr txBox="1"/>
          <p:nvPr/>
        </p:nvSpPr>
        <p:spPr>
          <a:xfrm>
            <a:off x="1737360" y="178308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Model</a:t>
            </a:r>
            <a:endParaRPr lang="en-US" sz="1800" dirty="0"/>
          </a:p>
        </p:txBody>
      </p:sp>
      <p:sp>
        <p:nvSpPr>
          <p:cNvPr id="8" name="Text 5"/>
          <p:cNvSpPr txBox="1"/>
          <p:nvPr/>
        </p:nvSpPr>
        <p:spPr>
          <a:xfrm>
            <a:off x="822960" y="2514600"/>
            <a:ext cx="4937760" cy="1143000"/>
          </a:xfrm>
          <a:prstGeom prst="rect">
            <a:avLst/>
          </a:prstGeom>
          <a:noFill/>
          <a:ln/>
        </p:spPr>
        <p:txBody>
          <a:bodyPr wrap="square" lIns="0" tIns="0" rIns="0" bIns="0" rtlCol="0" anchor="t"/>
          <a:lstStyle/>
          <a:p>
            <a:pPr indent="0" marL="0">
              <a:buNone/>
            </a:pPr>
            <a:r>
              <a:rPr lang="en-US" sz="1400" dirty="0">
                <a:solidFill>
                  <a:schemeClr val="accent5"/>
                </a:solidFill>
              </a:rPr>
              <a:t>Bobot NLLB-200 berlisensi CC-BY-NC 4.0, jadi model kami untuk penelitian dan pengajaran, bukan komersial.</a:t>
            </a:r>
            <a:endParaRPr lang="en-US" sz="1400" dirty="0"/>
          </a:p>
        </p:txBody>
      </p:sp>
      <p:sp>
        <p:nvSpPr>
          <p:cNvPr id="9" name="Kartu kredit"/>
          <p:cNvSpPr/>
          <p:nvPr/>
        </p:nvSpPr>
        <p:spPr>
          <a:xfrm>
            <a:off x="6172200" y="1463040"/>
            <a:ext cx="5468112" cy="2240280"/>
          </a:xfrm>
          <a:prstGeom prst="roundRect">
            <a:avLst>
              <a:gd name="adj" fmla="val 4898"/>
            </a:avLst>
          </a:prstGeom>
          <a:solidFill>
            <a:schemeClr val="bg2"/>
          </a:solidFill>
          <a:ln w="12700">
            <a:solidFill>
              <a:schemeClr val="bg2"/>
            </a:solidFill>
            <a:prstDash val="solid"/>
          </a:ln>
        </p:spPr>
      </p:sp>
      <p:sp>
        <p:nvSpPr>
          <p:cNvPr id="10" name="Icon circle"/>
          <p:cNvSpPr/>
          <p:nvPr/>
        </p:nvSpPr>
        <p:spPr>
          <a:xfrm>
            <a:off x="6446520" y="1737360"/>
            <a:ext cx="685800" cy="685800"/>
          </a:xfrm>
          <a:prstGeom prst="ellipse">
            <a:avLst/>
          </a:prstGeom>
          <a:solidFill>
            <a:schemeClr val="accent1"/>
          </a:solidFill>
          <a:ln w="12700">
            <a:solidFill>
              <a:schemeClr val="accent1"/>
            </a:solidFill>
            <a:prstDash val="solid"/>
          </a:ln>
        </p:spPr>
      </p:sp>
      <p:pic>
        <p:nvPicPr>
          <p:cNvPr id="11" name="Image 1" descr="Database icon">    </p:cNvPr>
          <p:cNvPicPr>
            <a:picLocks noChangeAspect="1"/>
          </p:cNvPicPr>
          <p:nvPr/>
        </p:nvPicPr>
        <p:blipFill>
          <a:blip r:embed="rId2"/>
          <a:stretch>
            <a:fillRect/>
          </a:stretch>
        </p:blipFill>
        <p:spPr>
          <a:xfrm>
            <a:off x="6631686" y="1922526"/>
            <a:ext cx="315468" cy="315468"/>
          </a:xfrm>
          <a:prstGeom prst="rect">
            <a:avLst/>
          </a:prstGeom>
        </p:spPr>
      </p:pic>
      <p:sp>
        <p:nvSpPr>
          <p:cNvPr id="12" name="Text 8"/>
          <p:cNvSpPr txBox="1"/>
          <p:nvPr/>
        </p:nvSpPr>
        <p:spPr>
          <a:xfrm>
            <a:off x="7360920" y="178308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Data terbuka</a:t>
            </a:r>
            <a:endParaRPr lang="en-US" sz="1800" dirty="0"/>
          </a:p>
        </p:txBody>
      </p:sp>
      <p:sp>
        <p:nvSpPr>
          <p:cNvPr id="13" name="Text 9"/>
          <p:cNvSpPr txBox="1"/>
          <p:nvPr/>
        </p:nvSpPr>
        <p:spPr>
          <a:xfrm>
            <a:off x="6446520" y="2514600"/>
            <a:ext cx="4937760" cy="1143000"/>
          </a:xfrm>
          <a:prstGeom prst="rect">
            <a:avLst/>
          </a:prstGeom>
          <a:noFill/>
          <a:ln/>
        </p:spPr>
        <p:txBody>
          <a:bodyPr wrap="square" lIns="0" tIns="0" rIns="0" bIns="0" rtlCol="0" anchor="t"/>
          <a:lstStyle/>
          <a:p>
            <a:pPr indent="0" marL="0">
              <a:buNone/>
            </a:pPr>
            <a:r>
              <a:rPr lang="en-US" sz="1400" dirty="0">
                <a:solidFill>
                  <a:schemeClr val="accent5"/>
                </a:solidFill>
              </a:rPr>
              <a:t>NusaX, FLORES, NLLB-Seed, dan Wikipedia berlisensi CC-BY-SA 4.0 dan disebut penulisnya.</a:t>
            </a:r>
            <a:endParaRPr lang="en-US" sz="1400" dirty="0"/>
          </a:p>
        </p:txBody>
      </p:sp>
      <p:sp>
        <p:nvSpPr>
          <p:cNvPr id="14" name="Kartu kredit"/>
          <p:cNvSpPr/>
          <p:nvPr/>
        </p:nvSpPr>
        <p:spPr>
          <a:xfrm>
            <a:off x="548640" y="3886200"/>
            <a:ext cx="5468112" cy="2240280"/>
          </a:xfrm>
          <a:prstGeom prst="roundRect">
            <a:avLst>
              <a:gd name="adj" fmla="val 4898"/>
            </a:avLst>
          </a:prstGeom>
          <a:solidFill>
            <a:schemeClr val="bg2"/>
          </a:solidFill>
          <a:ln w="12700">
            <a:solidFill>
              <a:schemeClr val="bg2"/>
            </a:solidFill>
            <a:prstDash val="solid"/>
          </a:ln>
        </p:spPr>
      </p:sp>
      <p:sp>
        <p:nvSpPr>
          <p:cNvPr id="15" name="Icon circle"/>
          <p:cNvSpPr/>
          <p:nvPr/>
        </p:nvSpPr>
        <p:spPr>
          <a:xfrm>
            <a:off x="822960" y="4160520"/>
            <a:ext cx="685800" cy="685800"/>
          </a:xfrm>
          <a:prstGeom prst="ellipse">
            <a:avLst/>
          </a:prstGeom>
          <a:solidFill>
            <a:schemeClr val="accent1"/>
          </a:solidFill>
          <a:ln w="12700">
            <a:solidFill>
              <a:schemeClr val="accent1"/>
            </a:solidFill>
            <a:prstDash val="solid"/>
          </a:ln>
        </p:spPr>
      </p:sp>
      <p:pic>
        <p:nvPicPr>
          <p:cNvPr id="16" name="Image 2" descr="Book icon">    </p:cNvPr>
          <p:cNvPicPr>
            <a:picLocks noChangeAspect="1"/>
          </p:cNvPicPr>
          <p:nvPr/>
        </p:nvPicPr>
        <p:blipFill>
          <a:blip r:embed="rId3"/>
          <a:stretch>
            <a:fillRect/>
          </a:stretch>
        </p:blipFill>
        <p:spPr>
          <a:xfrm>
            <a:off x="1008126" y="4345686"/>
            <a:ext cx="315468" cy="315468"/>
          </a:xfrm>
          <a:prstGeom prst="rect">
            <a:avLst/>
          </a:prstGeom>
        </p:spPr>
      </p:pic>
      <p:sp>
        <p:nvSpPr>
          <p:cNvPr id="17" name="Text 12"/>
          <p:cNvSpPr txBox="1"/>
          <p:nvPr/>
        </p:nvSpPr>
        <p:spPr>
          <a:xfrm>
            <a:off x="1737360" y="420624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Buku dan skripsi</a:t>
            </a:r>
            <a:endParaRPr lang="en-US" sz="1800" dirty="0"/>
          </a:p>
        </p:txBody>
      </p:sp>
      <p:sp>
        <p:nvSpPr>
          <p:cNvPr id="18" name="Text 13"/>
          <p:cNvSpPr txBox="1"/>
          <p:nvPr/>
        </p:nvSpPr>
        <p:spPr>
          <a:xfrm>
            <a:off x="822960" y="4937760"/>
            <a:ext cx="4937760" cy="1143000"/>
          </a:xfrm>
          <a:prstGeom prst="rect">
            <a:avLst/>
          </a:prstGeom>
          <a:noFill/>
          <a:ln/>
        </p:spPr>
        <p:txBody>
          <a:bodyPr wrap="square" lIns="0" tIns="0" rIns="0" bIns="0" rtlCol="0" anchor="t"/>
          <a:lstStyle/>
          <a:p>
            <a:pPr indent="0" marL="0">
              <a:buNone/>
            </a:pPr>
            <a:r>
              <a:rPr lang="en-US" sz="1400" dirty="0">
                <a:solidFill>
                  <a:schemeClr val="accent5"/>
                </a:solidFill>
              </a:rPr>
              <a:t>Depdikbud (Hikayat Abu Sammah), Inayati (Hikayat Malik Mawot), Kemenag dan Tgk. Mahjiddin Jusuf (Al-Qur'an), Balai Bahasa Aceh (Kamus Budaya).</a:t>
            </a:r>
            <a:endParaRPr lang="en-US" sz="1400" dirty="0"/>
          </a:p>
        </p:txBody>
      </p:sp>
      <p:sp>
        <p:nvSpPr>
          <p:cNvPr id="19" name="Kartu kredit"/>
          <p:cNvSpPr/>
          <p:nvPr/>
        </p:nvSpPr>
        <p:spPr>
          <a:xfrm>
            <a:off x="6172200" y="3886200"/>
            <a:ext cx="5468112" cy="2240280"/>
          </a:xfrm>
          <a:prstGeom prst="roundRect">
            <a:avLst>
              <a:gd name="adj" fmla="val 4898"/>
            </a:avLst>
          </a:prstGeom>
          <a:solidFill>
            <a:schemeClr val="bg2"/>
          </a:solidFill>
          <a:ln w="12700">
            <a:solidFill>
              <a:schemeClr val="bg2"/>
            </a:solidFill>
            <a:prstDash val="solid"/>
          </a:ln>
        </p:spPr>
      </p:sp>
      <p:sp>
        <p:nvSpPr>
          <p:cNvPr id="20" name="Icon circle"/>
          <p:cNvSpPr/>
          <p:nvPr/>
        </p:nvSpPr>
        <p:spPr>
          <a:xfrm>
            <a:off x="6446520" y="4160520"/>
            <a:ext cx="685800" cy="685800"/>
          </a:xfrm>
          <a:prstGeom prst="ellipse">
            <a:avLst/>
          </a:prstGeom>
          <a:solidFill>
            <a:schemeClr val="accent1"/>
          </a:solidFill>
          <a:ln w="12700">
            <a:solidFill>
              <a:schemeClr val="accent1"/>
            </a:solidFill>
            <a:prstDash val="solid"/>
          </a:ln>
        </p:spPr>
      </p:sp>
      <p:pic>
        <p:nvPicPr>
          <p:cNvPr id="21" name="Image 3" descr="FileAlt icon">    </p:cNvPr>
          <p:cNvPicPr>
            <a:picLocks noChangeAspect="1"/>
          </p:cNvPicPr>
          <p:nvPr/>
        </p:nvPicPr>
        <p:blipFill>
          <a:blip r:embed="rId4"/>
          <a:stretch>
            <a:fillRect/>
          </a:stretch>
        </p:blipFill>
        <p:spPr>
          <a:xfrm>
            <a:off x="6631686" y="4345686"/>
            <a:ext cx="315468" cy="315468"/>
          </a:xfrm>
          <a:prstGeom prst="rect">
            <a:avLst/>
          </a:prstGeom>
        </p:spPr>
      </p:pic>
      <p:sp>
        <p:nvSpPr>
          <p:cNvPr id="22" name="Text 16"/>
          <p:cNvSpPr txBox="1"/>
          <p:nvPr/>
        </p:nvSpPr>
        <p:spPr>
          <a:xfrm>
            <a:off x="7360920" y="420624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Daftar sumber</a:t>
            </a:r>
            <a:endParaRPr lang="en-US" sz="1800" dirty="0"/>
          </a:p>
        </p:txBody>
      </p:sp>
      <p:sp>
        <p:nvSpPr>
          <p:cNvPr id="23" name="Text 17"/>
          <p:cNvSpPr txBox="1"/>
          <p:nvPr/>
        </p:nvSpPr>
        <p:spPr>
          <a:xfrm>
            <a:off x="6446520" y="4937760"/>
            <a:ext cx="4937760" cy="1143000"/>
          </a:xfrm>
          <a:prstGeom prst="rect">
            <a:avLst/>
          </a:prstGeom>
          <a:noFill/>
          <a:ln/>
        </p:spPr>
        <p:txBody>
          <a:bodyPr wrap="square" lIns="0" tIns="0" rIns="0" bIns="0" rtlCol="0" anchor="t"/>
          <a:lstStyle/>
          <a:p>
            <a:pPr indent="0" marL="0">
              <a:buNone/>
            </a:pPr>
            <a:r>
              <a:rPr lang="en-US" sz="1400" dirty="0">
                <a:solidFill>
                  <a:schemeClr val="accent5"/>
                </a:solidFill>
              </a:rPr>
              <a:t>Tiap sumber, lisensinya, dan cara memakainya dicatat di config/sources.csv. Status lisensi sebagian sumber masih dikonfirmasi.</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KESIMPULAN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Hasil kami dan langkah berikutnya</a:t>
            </a:r>
            <a:endParaRPr lang="en-US" sz="3600" dirty="0"/>
          </a:p>
        </p:txBody>
      </p:sp>
      <p:sp>
        <p:nvSpPr>
          <p:cNvPr id="4" name="Kartu hasil"/>
          <p:cNvSpPr/>
          <p:nvPr/>
        </p:nvSpPr>
        <p:spPr>
          <a:xfrm>
            <a:off x="548640" y="1417320"/>
            <a:ext cx="5486400" cy="4800600"/>
          </a:xfrm>
          <a:prstGeom prst="roundRect">
            <a:avLst>
              <a:gd name="adj" fmla="val 2286"/>
            </a:avLst>
          </a:prstGeom>
          <a:solidFill>
            <a:schemeClr val="bg2"/>
          </a:solidFill>
          <a:ln w="12700">
            <a:solidFill>
              <a:schemeClr val="bg2"/>
            </a:solidFill>
            <a:prstDash val="solid"/>
          </a:ln>
        </p:spPr>
      </p:sp>
      <p:sp>
        <p:nvSpPr>
          <p:cNvPr id="5" name="Text 3"/>
          <p:cNvSpPr txBox="1"/>
          <p:nvPr/>
        </p:nvSpPr>
        <p:spPr>
          <a:xfrm>
            <a:off x="822960" y="1554480"/>
            <a:ext cx="4572000" cy="411480"/>
          </a:xfrm>
          <a:prstGeom prst="rect">
            <a:avLst/>
          </a:prstGeom>
          <a:noFill/>
          <a:ln/>
        </p:spPr>
        <p:txBody>
          <a:bodyPr wrap="square" lIns="0" tIns="0" rIns="0" bIns="0" rtlCol="0" anchor="t"/>
          <a:lstStyle/>
          <a:p>
            <a:pPr indent="0" marL="0">
              <a:buNone/>
            </a:pPr>
            <a:r>
              <a:rPr lang="en-US" sz="2000" b="1" dirty="0">
                <a:solidFill>
                  <a:schemeClr val="accent1"/>
                </a:solidFill>
              </a:rPr>
              <a:t>Yang sudah kami capai</a:t>
            </a:r>
            <a:endParaRPr lang="en-US" sz="2000" dirty="0"/>
          </a:p>
        </p:txBody>
      </p:sp>
      <p:sp>
        <p:nvSpPr>
          <p:cNvPr id="6" name="Text 4"/>
          <p:cNvSpPr txBox="1"/>
          <p:nvPr/>
        </p:nvSpPr>
        <p:spPr>
          <a:xfrm>
            <a:off x="822960" y="2103120"/>
            <a:ext cx="4937760" cy="40233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Audit korpus AcehX dan 17.547 pasangan latih dari sembilan sumber</a:t>
            </a:r>
            <a:endParaRPr lang="en-US" sz="1600" dirty="0"/>
          </a:p>
          <a:p>
            <a:pPr marL="342900" indent="-342900">
              <a:spcAft>
                <a:spcPts val="1200"/>
              </a:spcAft>
              <a:buSzPct val="100000"/>
              <a:buChar char="•"/>
            </a:pPr>
            <a:r>
              <a:rPr lang="en-US" sz="1600" dirty="0">
                <a:solidFill>
                  <a:schemeClr val="tx1"/>
                </a:solidFill>
              </a:rPr>
              <a:t>Fine-tuning NLLB-200: chrF++ NusaX 38,7 → 57,1, FLORES 46,3 → 52,8, hikayat 24,0 → 60,9</a:t>
            </a:r>
            <a:endParaRPr lang="en-US" sz="1600" dirty="0"/>
          </a:p>
          <a:p>
            <a:pPr marL="342900" indent="-342900">
              <a:spcAft>
                <a:spcPts val="1200"/>
              </a:spcAft>
              <a:buSzPct val="100000"/>
              <a:buChar char="•"/>
            </a:pPr>
            <a:r>
              <a:rPr lang="en-US" sz="1600" dirty="0">
                <a:solidFill>
                  <a:schemeClr val="tx1"/>
                </a:solidFill>
              </a:rPr>
              <a:t>Perbandingan direct, transfer, dan neural di set uji yang sama</a:t>
            </a:r>
            <a:endParaRPr lang="en-US" sz="1600" dirty="0"/>
          </a:p>
          <a:p>
            <a:pPr marL="342900" indent="-342900">
              <a:spcAft>
                <a:spcPts val="1200"/>
              </a:spcAft>
              <a:buSzPct val="100000"/>
              <a:buChar char="•"/>
            </a:pPr>
            <a:r>
              <a:rPr lang="en-US" sz="1600" dirty="0">
                <a:solidFill>
                  <a:schemeClr val="tx1"/>
                </a:solidFill>
              </a:rPr>
              <a:t>Augmentasi pivot dan disambiguasi kamus</a:t>
            </a:r>
            <a:endParaRPr lang="en-US" sz="1600" dirty="0"/>
          </a:p>
          <a:p>
            <a:pPr marL="342900" indent="-342900">
              <a:spcAft>
                <a:spcPts val="1200"/>
              </a:spcAft>
              <a:buSzPct val="100000"/>
              <a:buChar char="•"/>
            </a:pPr>
            <a:r>
              <a:rPr lang="en-US" sz="1600" dirty="0">
                <a:solidFill>
                  <a:schemeClr val="tx1"/>
                </a:solidFill>
              </a:rPr>
              <a:t>Aplikasi lokal dengan tampilan encoder dan decoder</a:t>
            </a:r>
            <a:endParaRPr lang="en-US" sz="1600" dirty="0"/>
          </a:p>
        </p:txBody>
      </p:sp>
      <p:sp>
        <p:nvSpPr>
          <p:cNvPr id="7" name="Kartu langkah"/>
          <p:cNvSpPr/>
          <p:nvPr/>
        </p:nvSpPr>
        <p:spPr>
          <a:xfrm>
            <a:off x="6245352" y="1417320"/>
            <a:ext cx="5394960" cy="4800600"/>
          </a:xfrm>
          <a:prstGeom prst="roundRect">
            <a:avLst>
              <a:gd name="adj" fmla="val 2286"/>
            </a:avLst>
          </a:prstGeom>
          <a:solidFill>
            <a:schemeClr val="tx2"/>
          </a:solidFill>
          <a:ln w="12700">
            <a:solidFill>
              <a:schemeClr val="tx2"/>
            </a:solidFill>
            <a:prstDash val="solid"/>
          </a:ln>
        </p:spPr>
      </p:sp>
      <p:sp>
        <p:nvSpPr>
          <p:cNvPr id="8" name="Text 6"/>
          <p:cNvSpPr txBox="1"/>
          <p:nvPr/>
        </p:nvSpPr>
        <p:spPr>
          <a:xfrm>
            <a:off x="6519672" y="1554480"/>
            <a:ext cx="4572000" cy="411480"/>
          </a:xfrm>
          <a:prstGeom prst="rect">
            <a:avLst/>
          </a:prstGeom>
          <a:noFill/>
          <a:ln/>
        </p:spPr>
        <p:txBody>
          <a:bodyPr wrap="square" lIns="0" tIns="0" rIns="0" bIns="0" rtlCol="0" anchor="t"/>
          <a:lstStyle/>
          <a:p>
            <a:pPr indent="0" marL="0">
              <a:buNone/>
            </a:pPr>
            <a:r>
              <a:rPr lang="en-US" sz="2000" b="1" dirty="0">
                <a:solidFill>
                  <a:schemeClr val="accent2"/>
                </a:solidFill>
              </a:rPr>
              <a:t>Langkah berikutnya</a:t>
            </a:r>
            <a:endParaRPr lang="en-US" sz="2000" dirty="0"/>
          </a:p>
        </p:txBody>
      </p:sp>
      <p:sp>
        <p:nvSpPr>
          <p:cNvPr id="9" name="Text 7"/>
          <p:cNvSpPr txBox="1"/>
          <p:nvPr/>
        </p:nvSpPr>
        <p:spPr>
          <a:xfrm>
            <a:off x="6519672" y="2103120"/>
            <a:ext cx="4846320" cy="40233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Tinjauan penutur untuk pasangan REVIEW dan terjemahan baru</a:t>
            </a:r>
            <a:endParaRPr lang="en-US" sz="1600" dirty="0"/>
          </a:p>
          <a:p>
            <a:pPr marL="342900" indent="-342900">
              <a:spcAft>
                <a:spcPts val="1200"/>
              </a:spcAft>
              <a:buSzPct val="100000"/>
              <a:buChar char="•"/>
            </a:pPr>
            <a:r>
              <a:rPr lang="en-US" sz="1600" dirty="0">
                <a:solidFill>
                  <a:schemeClr val="bg1"/>
                </a:solidFill>
              </a:rPr>
              <a:t>Uji ablasi: latih dengan dan tanpa tiap sumber, beberapa seed</a:t>
            </a:r>
            <a:endParaRPr lang="en-US" sz="1600" dirty="0"/>
          </a:p>
          <a:p>
            <a:pPr marL="342900" indent="-342900">
              <a:spcAft>
                <a:spcPts val="1200"/>
              </a:spcAft>
              <a:buSzPct val="100000"/>
              <a:buChar char="•"/>
            </a:pPr>
            <a:r>
              <a:rPr lang="en-US" sz="1600" dirty="0">
                <a:solidFill>
                  <a:schemeClr val="bg1"/>
                </a:solidFill>
              </a:rPr>
              <a:t>Kunci manifest dan konfigurasi agar mudah diulang</a:t>
            </a:r>
            <a:endParaRPr lang="en-US" sz="1600" dirty="0"/>
          </a:p>
          <a:p>
            <a:pPr marL="342900" indent="-342900">
              <a:spcAft>
                <a:spcPts val="1200"/>
              </a:spcAft>
              <a:buSzPct val="100000"/>
              <a:buChar char="•"/>
            </a:pPr>
            <a:r>
              <a:rPr lang="en-US" sz="1600" dirty="0">
                <a:solidFill>
                  <a:schemeClr val="bg1"/>
                </a:solidFill>
              </a:rPr>
              <a:t>Lengkapi dokumentasi lisensi dan data card Atlas Data AI</a:t>
            </a:r>
            <a:endParaRPr lang="en-US" sz="1600" dirty="0"/>
          </a:p>
          <a:p>
            <a:pPr marL="342900" indent="-342900">
              <a:spcAft>
                <a:spcPts val="1200"/>
              </a:spcAft>
              <a:buSzPct val="100000"/>
              <a:buChar char="•"/>
            </a:pPr>
            <a:r>
              <a:rPr lang="en-US" sz="1600" dirty="0">
                <a:solidFill>
                  <a:schemeClr val="bg1"/>
                </a:solidFill>
              </a:rPr>
              <a:t>Perluas augmentasi dengan back-translation dan versi aplikasi online</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RUJUKAN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Rujukan dari makalah kami</a:t>
            </a:r>
            <a:endParaRPr lang="en-US" sz="3600" dirty="0"/>
          </a:p>
        </p:txBody>
      </p:sp>
      <p:sp>
        <p:nvSpPr>
          <p:cNvPr id="4" name="Kartu rujukan"/>
          <p:cNvSpPr/>
          <p:nvPr/>
        </p:nvSpPr>
        <p:spPr>
          <a:xfrm>
            <a:off x="548640" y="1417320"/>
            <a:ext cx="11091672" cy="530352"/>
          </a:xfrm>
          <a:prstGeom prst="roundRect">
            <a:avLst>
              <a:gd name="adj" fmla="val 20690"/>
            </a:avLst>
          </a:prstGeom>
          <a:solidFill>
            <a:schemeClr val="bg2"/>
          </a:solidFill>
          <a:ln w="12700">
            <a:solidFill>
              <a:schemeClr val="bg2"/>
            </a:solidFill>
            <a:prstDash val="solid"/>
          </a:ln>
        </p:spPr>
      </p:sp>
      <p:sp>
        <p:nvSpPr>
          <p:cNvPr id="5" name="Text 3"/>
          <p:cNvSpPr txBox="1"/>
          <p:nvPr/>
        </p:nvSpPr>
        <p:spPr>
          <a:xfrm>
            <a:off x="731520" y="1417320"/>
            <a:ext cx="457200" cy="530352"/>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1</a:t>
            </a:r>
            <a:endParaRPr lang="en-US" sz="1600" dirty="0"/>
          </a:p>
        </p:txBody>
      </p:sp>
      <p:sp>
        <p:nvSpPr>
          <p:cNvPr id="6" name="Text 4"/>
          <p:cNvSpPr txBox="1"/>
          <p:nvPr/>
        </p:nvSpPr>
        <p:spPr>
          <a:xfrm>
            <a:off x="1280160" y="1417320"/>
            <a:ext cx="10241280" cy="530352"/>
          </a:xfrm>
          <a:prstGeom prst="rect">
            <a:avLst/>
          </a:prstGeom>
          <a:noFill/>
          <a:ln/>
        </p:spPr>
        <p:txBody>
          <a:bodyPr wrap="square" lIns="0" tIns="0" rIns="0" bIns="0" rtlCol="0" anchor="ctr"/>
          <a:lstStyle/>
          <a:p>
            <a:pPr indent="0" marL="0">
              <a:buNone/>
            </a:pPr>
            <a:r>
              <a:rPr lang="en-US" sz="1300" dirty="0">
                <a:solidFill>
                  <a:schemeClr val="tx1"/>
                </a:solidFill>
              </a:rPr>
              <a:t>Vaswani dkk., "Attention Is All You Need", NeurIPS, 2017.</a:t>
            </a:r>
            <a:endParaRPr lang="en-US" sz="1300" dirty="0"/>
          </a:p>
        </p:txBody>
      </p:sp>
      <p:sp>
        <p:nvSpPr>
          <p:cNvPr id="7" name="Kartu rujukan"/>
          <p:cNvSpPr/>
          <p:nvPr/>
        </p:nvSpPr>
        <p:spPr>
          <a:xfrm>
            <a:off x="548640" y="2020824"/>
            <a:ext cx="11091672" cy="530352"/>
          </a:xfrm>
          <a:prstGeom prst="roundRect">
            <a:avLst>
              <a:gd name="adj" fmla="val 20690"/>
            </a:avLst>
          </a:prstGeom>
          <a:solidFill>
            <a:schemeClr val="bg2"/>
          </a:solidFill>
          <a:ln w="12700">
            <a:solidFill>
              <a:schemeClr val="bg2"/>
            </a:solidFill>
            <a:prstDash val="solid"/>
          </a:ln>
        </p:spPr>
      </p:sp>
      <p:sp>
        <p:nvSpPr>
          <p:cNvPr id="8" name="Text 6"/>
          <p:cNvSpPr txBox="1"/>
          <p:nvPr/>
        </p:nvSpPr>
        <p:spPr>
          <a:xfrm>
            <a:off x="731520" y="2020824"/>
            <a:ext cx="457200" cy="530352"/>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2</a:t>
            </a:r>
            <a:endParaRPr lang="en-US" sz="1600" dirty="0"/>
          </a:p>
        </p:txBody>
      </p:sp>
      <p:sp>
        <p:nvSpPr>
          <p:cNvPr id="9" name="Text 7"/>
          <p:cNvSpPr txBox="1"/>
          <p:nvPr/>
        </p:nvSpPr>
        <p:spPr>
          <a:xfrm>
            <a:off x="1280160" y="2020824"/>
            <a:ext cx="10241280" cy="530352"/>
          </a:xfrm>
          <a:prstGeom prst="rect">
            <a:avLst/>
          </a:prstGeom>
          <a:noFill/>
          <a:ln/>
        </p:spPr>
        <p:txBody>
          <a:bodyPr wrap="square" lIns="0" tIns="0" rIns="0" bIns="0" rtlCol="0" anchor="ctr"/>
          <a:lstStyle/>
          <a:p>
            <a:pPr indent="0" marL="0">
              <a:buNone/>
            </a:pPr>
            <a:r>
              <a:rPr lang="en-US" sz="1300" dirty="0">
                <a:solidFill>
                  <a:schemeClr val="tx1"/>
                </a:solidFill>
              </a:rPr>
              <a:t>NLLB Team dkk., "No Language Left Behind: Scaling Human-Centered Machine Translation", 2022.</a:t>
            </a:r>
            <a:endParaRPr lang="en-US" sz="1300" dirty="0"/>
          </a:p>
        </p:txBody>
      </p:sp>
      <p:sp>
        <p:nvSpPr>
          <p:cNvPr id="10" name="Kartu rujukan"/>
          <p:cNvSpPr/>
          <p:nvPr/>
        </p:nvSpPr>
        <p:spPr>
          <a:xfrm>
            <a:off x="548640" y="2624328"/>
            <a:ext cx="11091672" cy="530352"/>
          </a:xfrm>
          <a:prstGeom prst="roundRect">
            <a:avLst>
              <a:gd name="adj" fmla="val 20690"/>
            </a:avLst>
          </a:prstGeom>
          <a:solidFill>
            <a:schemeClr val="bg2"/>
          </a:solidFill>
          <a:ln w="12700">
            <a:solidFill>
              <a:schemeClr val="bg2"/>
            </a:solidFill>
            <a:prstDash val="solid"/>
          </a:ln>
        </p:spPr>
      </p:sp>
      <p:sp>
        <p:nvSpPr>
          <p:cNvPr id="11" name="Text 9"/>
          <p:cNvSpPr txBox="1"/>
          <p:nvPr/>
        </p:nvSpPr>
        <p:spPr>
          <a:xfrm>
            <a:off x="731520" y="2624328"/>
            <a:ext cx="457200" cy="530352"/>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3</a:t>
            </a:r>
            <a:endParaRPr lang="en-US" sz="1600" dirty="0"/>
          </a:p>
        </p:txBody>
      </p:sp>
      <p:sp>
        <p:nvSpPr>
          <p:cNvPr id="12" name="Text 10"/>
          <p:cNvSpPr txBox="1"/>
          <p:nvPr/>
        </p:nvSpPr>
        <p:spPr>
          <a:xfrm>
            <a:off x="1280160" y="2624328"/>
            <a:ext cx="10241280" cy="530352"/>
          </a:xfrm>
          <a:prstGeom prst="rect">
            <a:avLst/>
          </a:prstGeom>
          <a:noFill/>
          <a:ln/>
        </p:spPr>
        <p:txBody>
          <a:bodyPr wrap="square" lIns="0" tIns="0" rIns="0" bIns="0" rtlCol="0" anchor="ctr"/>
          <a:lstStyle/>
          <a:p>
            <a:pPr indent="0" marL="0">
              <a:buNone/>
            </a:pPr>
            <a:r>
              <a:rPr lang="en-US" sz="1300" dirty="0">
                <a:solidFill>
                  <a:schemeClr val="tx1"/>
                </a:solidFill>
              </a:rPr>
              <a:t>Winata dkk., "NusaX: Multilingual Parallel Sentiment Dataset for 10 Indonesian Local Languages", EACL, 2023.</a:t>
            </a:r>
            <a:endParaRPr lang="en-US" sz="1300" dirty="0"/>
          </a:p>
        </p:txBody>
      </p:sp>
      <p:sp>
        <p:nvSpPr>
          <p:cNvPr id="13" name="Kartu rujukan"/>
          <p:cNvSpPr/>
          <p:nvPr/>
        </p:nvSpPr>
        <p:spPr>
          <a:xfrm>
            <a:off x="548640" y="3227832"/>
            <a:ext cx="11091672" cy="530352"/>
          </a:xfrm>
          <a:prstGeom prst="roundRect">
            <a:avLst>
              <a:gd name="adj" fmla="val 20690"/>
            </a:avLst>
          </a:prstGeom>
          <a:solidFill>
            <a:schemeClr val="bg2"/>
          </a:solidFill>
          <a:ln w="12700">
            <a:solidFill>
              <a:schemeClr val="bg2"/>
            </a:solidFill>
            <a:prstDash val="solid"/>
          </a:ln>
        </p:spPr>
      </p:sp>
      <p:sp>
        <p:nvSpPr>
          <p:cNvPr id="14" name="Text 12"/>
          <p:cNvSpPr txBox="1"/>
          <p:nvPr/>
        </p:nvSpPr>
        <p:spPr>
          <a:xfrm>
            <a:off x="731520" y="3227832"/>
            <a:ext cx="457200" cy="530352"/>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4</a:t>
            </a:r>
            <a:endParaRPr lang="en-US" sz="1600" dirty="0"/>
          </a:p>
        </p:txBody>
      </p:sp>
      <p:sp>
        <p:nvSpPr>
          <p:cNvPr id="15" name="Text 13"/>
          <p:cNvSpPr txBox="1"/>
          <p:nvPr/>
        </p:nvSpPr>
        <p:spPr>
          <a:xfrm>
            <a:off x="1280160" y="3227832"/>
            <a:ext cx="10241280" cy="530352"/>
          </a:xfrm>
          <a:prstGeom prst="rect">
            <a:avLst/>
          </a:prstGeom>
          <a:noFill/>
          <a:ln/>
        </p:spPr>
        <p:txBody>
          <a:bodyPr wrap="square" lIns="0" tIns="0" rIns="0" bIns="0" rtlCol="0" anchor="ctr"/>
          <a:lstStyle/>
          <a:p>
            <a:pPr indent="0" marL="0">
              <a:buNone/>
            </a:pPr>
            <a:r>
              <a:rPr lang="en-US" sz="1300" dirty="0">
                <a:solidFill>
                  <a:schemeClr val="tx1"/>
                </a:solidFill>
              </a:rPr>
              <a:t>Papineni dkk., "Bleu: a Method for Automatic Evaluation of Machine Translation", ACL, 2002.</a:t>
            </a:r>
            <a:endParaRPr lang="en-US" sz="1300" dirty="0"/>
          </a:p>
        </p:txBody>
      </p:sp>
      <p:sp>
        <p:nvSpPr>
          <p:cNvPr id="16" name="Kartu rujukan"/>
          <p:cNvSpPr/>
          <p:nvPr/>
        </p:nvSpPr>
        <p:spPr>
          <a:xfrm>
            <a:off x="548640" y="3831336"/>
            <a:ext cx="11091672" cy="530352"/>
          </a:xfrm>
          <a:prstGeom prst="roundRect">
            <a:avLst>
              <a:gd name="adj" fmla="val 20690"/>
            </a:avLst>
          </a:prstGeom>
          <a:solidFill>
            <a:schemeClr val="bg2"/>
          </a:solidFill>
          <a:ln w="12700">
            <a:solidFill>
              <a:schemeClr val="bg2"/>
            </a:solidFill>
            <a:prstDash val="solid"/>
          </a:ln>
        </p:spPr>
      </p:sp>
      <p:sp>
        <p:nvSpPr>
          <p:cNvPr id="17" name="Text 15"/>
          <p:cNvSpPr txBox="1"/>
          <p:nvPr/>
        </p:nvSpPr>
        <p:spPr>
          <a:xfrm>
            <a:off x="731520" y="3831336"/>
            <a:ext cx="457200" cy="530352"/>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5</a:t>
            </a:r>
            <a:endParaRPr lang="en-US" sz="1600" dirty="0"/>
          </a:p>
        </p:txBody>
      </p:sp>
      <p:sp>
        <p:nvSpPr>
          <p:cNvPr id="18" name="Text 16"/>
          <p:cNvSpPr txBox="1"/>
          <p:nvPr/>
        </p:nvSpPr>
        <p:spPr>
          <a:xfrm>
            <a:off x="1280160" y="3831336"/>
            <a:ext cx="10241280" cy="530352"/>
          </a:xfrm>
          <a:prstGeom prst="rect">
            <a:avLst/>
          </a:prstGeom>
          <a:noFill/>
          <a:ln/>
        </p:spPr>
        <p:txBody>
          <a:bodyPr wrap="square" lIns="0" tIns="0" rIns="0" bIns="0" rtlCol="0" anchor="ctr"/>
          <a:lstStyle/>
          <a:p>
            <a:pPr indent="0" marL="0">
              <a:buNone/>
            </a:pPr>
            <a:r>
              <a:rPr lang="en-US" sz="1300" dirty="0">
                <a:solidFill>
                  <a:schemeClr val="tx1"/>
                </a:solidFill>
              </a:rPr>
              <a:t>Popović, "chrF: character n-gram F-score for automatic MT evaluation", WMT, 2015; "chrF++: words helping character n-grams", WMT, 2017.</a:t>
            </a:r>
            <a:endParaRPr lang="en-US" sz="1300" dirty="0"/>
          </a:p>
        </p:txBody>
      </p:sp>
      <p:sp>
        <p:nvSpPr>
          <p:cNvPr id="19" name="Kartu rujukan"/>
          <p:cNvSpPr/>
          <p:nvPr/>
        </p:nvSpPr>
        <p:spPr>
          <a:xfrm>
            <a:off x="548640" y="4434840"/>
            <a:ext cx="11091672" cy="530352"/>
          </a:xfrm>
          <a:prstGeom prst="roundRect">
            <a:avLst>
              <a:gd name="adj" fmla="val 20690"/>
            </a:avLst>
          </a:prstGeom>
          <a:solidFill>
            <a:schemeClr val="bg2"/>
          </a:solidFill>
          <a:ln w="12700">
            <a:solidFill>
              <a:schemeClr val="bg2"/>
            </a:solidFill>
            <a:prstDash val="solid"/>
          </a:ln>
        </p:spPr>
      </p:sp>
      <p:sp>
        <p:nvSpPr>
          <p:cNvPr id="20" name="Text 18"/>
          <p:cNvSpPr txBox="1"/>
          <p:nvPr/>
        </p:nvSpPr>
        <p:spPr>
          <a:xfrm>
            <a:off x="731520" y="4434840"/>
            <a:ext cx="457200" cy="530352"/>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6</a:t>
            </a:r>
            <a:endParaRPr lang="en-US" sz="1600" dirty="0"/>
          </a:p>
        </p:txBody>
      </p:sp>
      <p:sp>
        <p:nvSpPr>
          <p:cNvPr id="21" name="Text 19"/>
          <p:cNvSpPr txBox="1"/>
          <p:nvPr/>
        </p:nvSpPr>
        <p:spPr>
          <a:xfrm>
            <a:off x="1280160" y="4434840"/>
            <a:ext cx="10241280" cy="530352"/>
          </a:xfrm>
          <a:prstGeom prst="rect">
            <a:avLst/>
          </a:prstGeom>
          <a:noFill/>
          <a:ln/>
        </p:spPr>
        <p:txBody>
          <a:bodyPr wrap="square" lIns="0" tIns="0" rIns="0" bIns="0" rtlCol="0" anchor="ctr"/>
          <a:lstStyle/>
          <a:p>
            <a:pPr indent="0" marL="0">
              <a:buNone/>
            </a:pPr>
            <a:r>
              <a:rPr lang="en-US" sz="1300" dirty="0">
                <a:solidFill>
                  <a:schemeClr val="tx1"/>
                </a:solidFill>
              </a:rPr>
              <a:t>Post, "A Call for Clarity in Reporting BLEU Scores", WMT, 2018.</a:t>
            </a:r>
            <a:endParaRPr lang="en-US" sz="1300" dirty="0"/>
          </a:p>
        </p:txBody>
      </p:sp>
      <p:sp>
        <p:nvSpPr>
          <p:cNvPr id="22" name="Kartu rujukan"/>
          <p:cNvSpPr/>
          <p:nvPr/>
        </p:nvSpPr>
        <p:spPr>
          <a:xfrm>
            <a:off x="548640" y="5038344"/>
            <a:ext cx="11091672" cy="530352"/>
          </a:xfrm>
          <a:prstGeom prst="roundRect">
            <a:avLst>
              <a:gd name="adj" fmla="val 20690"/>
            </a:avLst>
          </a:prstGeom>
          <a:solidFill>
            <a:schemeClr val="bg2"/>
          </a:solidFill>
          <a:ln w="12700">
            <a:solidFill>
              <a:schemeClr val="bg2"/>
            </a:solidFill>
            <a:prstDash val="solid"/>
          </a:ln>
        </p:spPr>
      </p:sp>
      <p:sp>
        <p:nvSpPr>
          <p:cNvPr id="23" name="Text 21"/>
          <p:cNvSpPr txBox="1"/>
          <p:nvPr/>
        </p:nvSpPr>
        <p:spPr>
          <a:xfrm>
            <a:off x="731520" y="5038344"/>
            <a:ext cx="457200" cy="530352"/>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7</a:t>
            </a:r>
            <a:endParaRPr lang="en-US" sz="1600" dirty="0"/>
          </a:p>
        </p:txBody>
      </p:sp>
      <p:sp>
        <p:nvSpPr>
          <p:cNvPr id="24" name="Text 22"/>
          <p:cNvSpPr txBox="1"/>
          <p:nvPr/>
        </p:nvSpPr>
        <p:spPr>
          <a:xfrm>
            <a:off x="1280160" y="5038344"/>
            <a:ext cx="10241280" cy="530352"/>
          </a:xfrm>
          <a:prstGeom prst="rect">
            <a:avLst/>
          </a:prstGeom>
          <a:noFill/>
          <a:ln/>
        </p:spPr>
        <p:txBody>
          <a:bodyPr wrap="square" lIns="0" tIns="0" rIns="0" bIns="0" rtlCol="0" anchor="ctr"/>
          <a:lstStyle/>
          <a:p>
            <a:pPr indent="0" marL="0">
              <a:buNone/>
            </a:pPr>
            <a:r>
              <a:rPr lang="en-US" sz="1300" dirty="0">
                <a:solidFill>
                  <a:schemeClr val="tx1"/>
                </a:solidFill>
              </a:rPr>
              <a:t>Gebru dkk., "Datasheets for Datasets", Communications of the ACM, 2021.</a:t>
            </a:r>
            <a:endParaRPr lang="en-US" sz="1300" dirty="0"/>
          </a:p>
        </p:txBody>
      </p:sp>
      <p:sp>
        <p:nvSpPr>
          <p:cNvPr id="25" name="Kartu rujukan"/>
          <p:cNvSpPr/>
          <p:nvPr/>
        </p:nvSpPr>
        <p:spPr>
          <a:xfrm>
            <a:off x="548640" y="5641848"/>
            <a:ext cx="11091672" cy="530352"/>
          </a:xfrm>
          <a:prstGeom prst="roundRect">
            <a:avLst>
              <a:gd name="adj" fmla="val 20690"/>
            </a:avLst>
          </a:prstGeom>
          <a:solidFill>
            <a:schemeClr val="bg2"/>
          </a:solidFill>
          <a:ln w="12700">
            <a:solidFill>
              <a:schemeClr val="bg2"/>
            </a:solidFill>
            <a:prstDash val="solid"/>
          </a:ln>
        </p:spPr>
      </p:sp>
      <p:sp>
        <p:nvSpPr>
          <p:cNvPr id="26" name="Text 24"/>
          <p:cNvSpPr txBox="1"/>
          <p:nvPr/>
        </p:nvSpPr>
        <p:spPr>
          <a:xfrm>
            <a:off x="731520" y="5641848"/>
            <a:ext cx="457200" cy="530352"/>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8</a:t>
            </a:r>
            <a:endParaRPr lang="en-US" sz="1600" dirty="0"/>
          </a:p>
        </p:txBody>
      </p:sp>
      <p:sp>
        <p:nvSpPr>
          <p:cNvPr id="27" name="Text 25"/>
          <p:cNvSpPr txBox="1"/>
          <p:nvPr/>
        </p:nvSpPr>
        <p:spPr>
          <a:xfrm>
            <a:off x="1280160" y="5641848"/>
            <a:ext cx="10241280" cy="530352"/>
          </a:xfrm>
          <a:prstGeom prst="rect">
            <a:avLst/>
          </a:prstGeom>
          <a:noFill/>
          <a:ln/>
        </p:spPr>
        <p:txBody>
          <a:bodyPr wrap="square" lIns="0" tIns="0" rIns="0" bIns="0" rtlCol="0" anchor="ctr"/>
          <a:lstStyle/>
          <a:p>
            <a:pPr indent="0" marL="0">
              <a:buNone/>
            </a:pPr>
            <a:r>
              <a:rPr lang="en-US" sz="1300" dirty="0">
                <a:solidFill>
                  <a:schemeClr val="tx1"/>
                </a:solidFill>
              </a:rPr>
              <a:t>Meta AI, model card facebook/nllb-200-distilled-600M, Hugging Face.</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2194560"/>
          </a:xfrm>
          <a:prstGeom prst="rect">
            <a:avLst/>
          </a:prstGeom>
          <a:noFill/>
          <a:ln/>
        </p:spPr>
        <p:txBody>
          <a:bodyPr wrap="square" lIns="0" tIns="0" rIns="0" bIns="0" rtlCol="0" anchor="t"/>
          <a:lstStyle/>
          <a:p>
            <a:pPr algn="l" indent="0" marL="0">
              <a:buNone/>
            </a:pPr>
            <a:r>
              <a:rPr lang="en-US" sz="4400" b="1" dirty="0">
                <a:solidFill>
                  <a:schemeClr val="bg1"/>
                </a:solidFill>
              </a:rPr>
              <a:t>Terima kasih</a:t>
            </a:r>
            <a:endParaRPr lang="en-US" sz="4400" dirty="0"/>
          </a:p>
        </p:txBody>
      </p:sp>
      <p:sp>
        <p:nvSpPr>
          <p:cNvPr id="3" name="Text 0"/>
          <p:cNvSpPr/>
          <p:nvPr>
            <p:ph idx="101" type="body" hasCustomPrompt="1"/>
          </p:nvPr>
        </p:nvSpPr>
        <p:spPr>
          <a:xfrm>
            <a:off x="731520" y="4206240"/>
            <a:ext cx="6949440" cy="914400"/>
          </a:xfrm>
          <a:prstGeom prst="rect">
            <a:avLst/>
          </a:prstGeom>
          <a:noFill/>
          <a:ln/>
        </p:spPr>
        <p:txBody>
          <a:bodyPr wrap="square" lIns="0" tIns="0" rIns="0" bIns="0" rtlCol="0" anchor="t"/>
          <a:lstStyle/>
          <a:p>
            <a:pPr indent="0" marL="0">
              <a:buNone/>
            </a:pPr>
            <a:r>
              <a:rPr lang="en-US" sz="2200" dirty="0">
                <a:solidFill>
                  <a:schemeClr val="bg2"/>
                </a:solidFill>
              </a:rPr>
              <a:t>Pertanyaan dan diskusi</a:t>
            </a:r>
            <a:endParaRPr lang="en-US" sz="2200" dirty="0"/>
          </a:p>
        </p:txBody>
      </p:sp>
      <p:sp>
        <p:nvSpPr>
          <p:cNvPr id="4" name="Text 2"/>
          <p:cNvSpPr txBox="1"/>
          <p:nvPr/>
        </p:nvSpPr>
        <p:spPr>
          <a:xfrm>
            <a:off x="731520" y="585216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Kode dan data: github.com/Mutaib-yye/aceh_code</a:t>
            </a:r>
            <a:endParaRPr lang="en-US" sz="1400" dirty="0"/>
          </a:p>
        </p:txBody>
      </p:sp>
      <p:sp>
        <p:nvSpPr>
          <p:cNvPr id="5" name="Lingkaran hias"/>
          <p:cNvSpPr/>
          <p:nvPr/>
        </p:nvSpPr>
        <p:spPr>
          <a:xfrm>
            <a:off x="8138160" y="914400"/>
            <a:ext cx="3291840" cy="3291840"/>
          </a:xfrm>
          <a:prstGeom prst="ellipse">
            <a:avLst/>
          </a:prstGeom>
          <a:solidFill>
            <a:srgbClr val="0D9488">
              <a:alpha val="75000"/>
            </a:srgbClr>
          </a:solidFill>
          <a:ln w="12700">
            <a:solidFill>
              <a:srgbClr val="0D9488"/>
            </a:solidFill>
            <a:prstDash val="solid"/>
          </a:ln>
        </p:spPr>
      </p:sp>
      <p:sp>
        <p:nvSpPr>
          <p:cNvPr id="6" name="Lingkaran hias"/>
          <p:cNvSpPr/>
          <p:nvPr/>
        </p:nvSpPr>
        <p:spPr>
          <a:xfrm>
            <a:off x="9692640" y="2926080"/>
            <a:ext cx="2286000" cy="2286000"/>
          </a:xfrm>
          <a:prstGeom prst="ellipse">
            <a:avLst/>
          </a:prstGeom>
          <a:solidFill>
            <a:srgbClr val="E9A23B">
              <a:alpha val="80000"/>
            </a:srgbClr>
          </a:solidFill>
          <a:ln w="12700">
            <a:solidFill>
              <a:srgbClr val="E9A23B"/>
            </a:solidFill>
            <a:prstDash val="solid"/>
          </a:ln>
        </p:spPr>
      </p:sp>
      <p:sp>
        <p:nvSpPr>
          <p:cNvPr id="7" name="Lingkaran hias"/>
          <p:cNvSpPr/>
          <p:nvPr/>
        </p:nvSpPr>
        <p:spPr>
          <a:xfrm>
            <a:off x="7863840" y="4023360"/>
            <a:ext cx="2011680" cy="2011680"/>
          </a:xfrm>
          <a:prstGeom prst="ellipse">
            <a:avLst/>
          </a:prstGeom>
          <a:solidFill>
            <a:srgbClr val="0D9488">
              <a:alpha val="55000"/>
            </a:srgbClr>
          </a:solidFill>
          <a:ln w="12700">
            <a:solidFill>
              <a:srgbClr val="0D9488"/>
            </a:solidFill>
            <a:prstDash val="solid"/>
          </a:ln>
        </p:spPr>
      </p:sp>
    </p:spTree>
  </p:cSld>
  <p:clrMapOvr>
    <a:masterClrMapping/>
  </p:clrMapOvr>
</p:sld>
</file>

<file path=ppt/theme/theme1.xml><?xml version="1.0" encoding="utf-8"?>
<a:theme xmlns:a="http://schemas.openxmlformats.org/drawingml/2006/main" name="Aceh Translator">
  <a:themeElements>
    <a:clrScheme name="Aceh Translator">
      <a:dk1>
        <a:srgbClr val="12303A"/>
      </a:dk1>
      <a:lt1>
        <a:srgbClr val="FFFFFF"/>
      </a:lt1>
      <a:dk2>
        <a:srgbClr val="0B3C49"/>
      </a:dk2>
      <a:lt2>
        <a:srgbClr val="EAF4F4"/>
      </a:lt2>
      <a:accent1>
        <a:srgbClr val="0D9488"/>
      </a:accent1>
      <a:accent2>
        <a:srgbClr val="E9A23B"/>
      </a:accent2>
      <a:accent3>
        <a:srgbClr val="2563EB"/>
      </a:accent3>
      <a:accent4>
        <a:srgbClr val="D9482B"/>
      </a:accent4>
      <a:accent5>
        <a:srgbClr val="4F6F7A"/>
      </a:accent5>
      <a:accent6>
        <a:srgbClr val="9DB4BB"/>
      </a:accent6>
      <a:hlink>
        <a:srgbClr val="0D9488"/>
      </a:hlink>
      <a:folHlink>
        <a:srgbClr val="4F6F7A"/>
      </a:folHlink>
    </a:clrScheme>
    <a:fontScheme name="Aceh Transl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Penerjemah Bahasa Aceh ke Bahasa Indonesia</dc:title>
  <dc:subject>PptxGenJS Presentation</dc:subject>
  <dc:creator>Kelompok 2 Proyek AcehX</dc:creator>
  <cp:lastModifiedBy>Kelompok 2 Proyek AcehX</cp:lastModifiedBy>
  <cp:revision>1</cp:revision>
  <dcterms:created xsi:type="dcterms:W3CDTF">2026-10-23T16:52:11Z</dcterms:created>
  <dcterms:modified xsi:type="dcterms:W3CDTF">2026-10-23T16:52:11Z</dcterms:modified>
</cp:coreProperties>
</file>