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3fea3a4-c2da-d0d4-abbf-bb5d45aef785}">
          <p14:sldIdLst>
            <p14:sldId id="256"/>
          </p14:sldIdLst>
        </p14:section>
        <p14:section name="Overview" id="{2703b3f1-066a-ece0-6589-9dd0835549fa}">
          <p14:sldIdLst>
            <p14:sldId id="257"/>
            <p14:sldId id="258"/>
            <p14:sldId id="259"/>
          </p14:sldIdLst>
        </p14:section>
        <p14:section name="Data" id="{535a50fc-d01c-a57a-1c1e-8d216f873e60}">
          <p14:sldIdLst>
            <p14:sldId id="260"/>
            <p14:sldId id="261"/>
            <p14:sldId id="262"/>
            <p14:sldId id="263"/>
            <p14:sldId id="264"/>
            <p14:sldId id="265"/>
            <p14:sldId id="266"/>
          </p14:sldIdLst>
        </p14:section>
        <p14:section name="Method" id="{b751d2e5-eaa5-2dfa-97d4-72e28ae5227b}">
          <p14:sldIdLst>
            <p14:sldId id="267"/>
            <p14:sldId id="268"/>
          </p14:sldIdLst>
        </p14:section>
        <p14:section name="Results" id="{d8113792-42f4-fa60-fbef-a2b0a7953179}">
          <p14:sldIdLst>
            <p14:sldId id="269"/>
            <p14:sldId id="270"/>
            <p14:sldId id="271"/>
            <p14:sldId id="272"/>
            <p14:sldId id="273"/>
            <p14:sldId id="274"/>
          </p14:sldIdLst>
        </p14:section>
        <p14:section name="Application" id="{dbaf4103-2d41-2e55-014a-9d0c4dc56e33}">
          <p14:sldIdLst>
            <p14:sldId id="275"/>
            <p14:sldId id="276"/>
            <p14:sldId id="277"/>
          </p14:sldIdLst>
        </p14:section>
        <p14:section name="Close" id="{aacdddd5-0171-da64-268c-9cfa106b31de}">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 built a translator from Acehnese to Indonesian. We fine-tuned Meta's NLLB-200 model on 17,547 sentence pairs that we collected, cleaned and aligned from many sources, tested it on sentences it never saw, and put it in a local app. Today: the data, the techniques, the results and how the app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summary. Three headline numbers: 17,547 training pairs, 57.1 chrF++ on the NusaX test set versus 38.7 for the base model, and a 36.9 point gain on held-out hikayat verse. Then the four parts of the work: data, techniques, evaluation and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techniques your professor listed. Direct and transfer are classic rule-based approaches, which we built as baselines. The neural model is the main system, and its shared encoder is the closest equivalent to an interlingua. Data augmentation is our pivot translation. Disambiguation is the dictionary-based meaning picker in the app. Each of these gets its own slide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We collect data from many places, clean and align it, normalize and check it, fine-tune the model, then evaluate and serve it. Every stage is a command in our code, so the whole pipeline is reproducible. The tools listed are the main libraries behind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parallel sources, which means Acehnese sentences with an Indonesian translation. Public corpora: NusaX, FLORES, Wikipedia and NLLB-Seed. Books and a thesis that we digitized: the hikayat Abu Sammah and Malik Mawot. The Quran translation. And our own team's translations. Each one is credited, and the licence is tracked per source in our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exactly what went into the training run: 17,547 pairs. The Quran and the pivot data are the largest parts, followed by our team's translations and the hikayat. The 379 validation sentences choose the best epoch, and the three test sets are completely separate: they are never trained on and never used to choose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Hikayat Abu Sammah is a scanned printed book with the Acehnese verse in one section and the Indonesian translation in another. Its PDF text layer was unreliable: 11.3 percent of the words were wrong on a sample we checked by hand. Re-reading every page with OCR at 300 dpi cut that to 0.8 percent. We then removed the noise and aligned the verses with dynamic programming, which keeps the order and matches shared words. 40 of 40 random pairs we checked by hand were correct translations of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smaller sources, each needed its own parser. Malik Mawot is a thesis edition where every Acehnese line is followed by its translation, so we split by line, cut the footnotes and kept only pairs that passed a similarity and language check. Andrie's file gave 2,798 clean pairs. The stories came as a numbered table of 103 sentence pairs, of which 96 were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augmentation means creating more training data from what exists. NLLB-Seed has about six thousand sentences written by people in Acehnese, each paired with English. English to Indonesian is one of the strongest directions in NLLB, so we translated the English side into Indonesian and paired it with the human Acehnese. After filtering we had about 5,750 candidates, and about 5,700 went into training. The Indonesian side is machine output and is labelled that way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checks before any text reaches the model. Normalization makes spelling consistent, and the app uses exactly the same rules, which a test enforces. A language classifier built from character n-grams removes lines that are not Acehnese. Duplicate control uses a match key and fuzzy matching so the same sentence cannot appear twice or leak across splits. AcehX, a 164,778-line Acehnese corpus, serves as our spelling and duplicate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scores are only meaningful if the model has never seen the test sentences, so we protected them in layers. Whole pages are kept together, exact and near-duplicate matches are removed, and the training script stops if any leak remains. The best epoch is chosen on the validation set, so the test sets are used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from NLLB-200 distilled with 600 million parameters, which already includes Acehnese. We train all weights with the Adafactor optimizer, which uses little memory so it fits a free GPU. Label smoothing and early stopping guard against overfitting on a small dataset. The model is saved in half precision, which halves its size without changing the translations.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chrF++ rose from 52.9 in epoch 1 to 55.7 in epoch 3, then slipped slightly in epochs 4 and 5 while the training loss kept falling. Early stopping detected that and kept epoch 3, which is the model we tested. This is the standard sign that training should stop before the model starts to memorize.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result. On NusaX everyday text, chrF++ goes from 38.7 to 57.1. On FLORES, 46.3 to 52.8. On held-out hikayat verse, 24.0 to 60.9. BLEU rises on all three as well. The three sets measure different kinds of text, so we report all of them rather than one number. Hikayat is closest to our verse training sources, so NusaX and FLORES are the better guide for everyday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professor's question about the classic approaches. Copying the Acehnese text unchanged scores 32.0. A word-for-word dictionary lookup, the direct approach, reaches 35.5. Adding analysis and transfer rules reaches 39.2. The fine-tuned neural model reaches 57.1. Each step adds accuracy, and the neural step adds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translation looks each word up and keeps the order. Transfer first analyses the Acehnese words by splitting prefixes and the -jih suffix, then transfers a small set of function words with rules, then generates the sentence. We only kept a rule when the NusaX training sentences supported it. In the example, direct translation turns 'lon' into 'padam', while transfer correctly gives 'saya'.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interlingual machine translation, the source is converted into a language-neutral meaning, and the target is generated from it. Classic systems built that representation by hand. NLLB learns one: its encoder maps all languages into a shared space, and its decoder writes any target language from it. The language tags ace_Latn and ind_Latn select the source and target. Our app shows the actual encoder and decoder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Acehnese words have several meanings. For each word in the user's sentence, our module finds all of its dictionary meanings in the 1985 Kamus Aceh-Indonesia list. It scores each meaning by how many content words it shares with the model's Indonesian translation, and marks the best one with a tick when it clearly leads. In the example, keude has two meanings, and the one that mentions toko matches the translation. This appears in the app as the Kata per kata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real outputs. The first is a simple everyday sentence. The second is a line of hikayat verse that the model was never trained on: it keeps the sentence structure and old vocabulary. The third is from the NusaX test set, where the base model misreads 'warong' as 'warganya', while the fine-tuned model gives a translation close to the human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runs on the user's own computer and works offline after the first start. It normalizes the input the same way as the training data, translates sentence by sentence, and shows a details table. The Cara kerja model panel shows the encoder and decoder tokens, the Kata per kata panel shows the dictionary meanings, and the accuracy panel shows our test scores. It can also run in Colab with a temporary public link for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reproducible: 91 automated tests, one command per stage and everything in a Git repository. We want to be open about tools: we used Claude, an AI assistant, to help write the code. The team decided the data sources, the split rules and the evaluation, and ran and checked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track licences for every source. The NLLB model weights are non-commercial, so our model is for research and teaching. The open datasets are share-alike and credited. The books and thesis are credited to their authors and publishers, and the full inventory is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 built a full pipeline from raw sources to a running app, and the fine-tuned model clearly beats the base model on all three test sets. Next we want more checked translations from Acehnese speakers, to measure each data source's contribution by training with and without it, to add back-translation, and to host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Useful details if asked: all numbers come from our Colab run; the model is saved privately on Hugging Face; the repository has every command to reproduce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132320" cy="21945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4206240"/>
            <a:ext cx="694944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Acehnese → Indonesian neural translator  ·  Midterm presentation</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3.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132320" cy="2194560"/>
          </a:xfrm>
          <a:prstGeom prst="rect">
            <a:avLst/>
          </a:prstGeom>
          <a:noFill/>
          <a:ln/>
        </p:spPr>
        <p:txBody>
          <a:bodyPr wrap="square" lIns="0" tIns="0" rIns="0" bIns="0" rtlCol="0" anchor="t"/>
          <a:lstStyle/>
          <a:p>
            <a:pPr algn="l" indent="0" marL="0">
              <a:buNone/>
            </a:pPr>
            <a:r>
              <a:rPr lang="en-US" sz="4400" b="1" dirty="0">
                <a:solidFill>
                  <a:schemeClr val="bg1"/>
                </a:solidFill>
              </a:rPr>
              <a:t>Acehnese → Indonesian neural translator</a:t>
            </a:r>
            <a:endParaRPr lang="en-US" sz="4400" dirty="0"/>
          </a:p>
        </p:txBody>
      </p:sp>
      <p:sp>
        <p:nvSpPr>
          <p:cNvPr id="3" name="Text 0"/>
          <p:cNvSpPr/>
          <p:nvPr>
            <p:ph idx="101" type="body" hasCustomPrompt="1"/>
          </p:nvPr>
        </p:nvSpPr>
        <p:spPr>
          <a:xfrm>
            <a:off x="731520" y="4206240"/>
            <a:ext cx="6949440" cy="914400"/>
          </a:xfrm>
          <a:prstGeom prst="rect">
            <a:avLst/>
          </a:prstGeom>
          <a:noFill/>
          <a:ln/>
        </p:spPr>
        <p:txBody>
          <a:bodyPr wrap="square" lIns="0" tIns="0" rIns="0" bIns="0" rtlCol="0" anchor="t"/>
          <a:lstStyle/>
          <a:p>
            <a:pPr indent="0" marL="0">
              <a:buNone/>
            </a:pPr>
            <a:r>
              <a:rPr lang="en-US" sz="2200" dirty="0">
                <a:solidFill>
                  <a:schemeClr val="bg2"/>
                </a:solidFill>
              </a:rPr>
              <a:t>Our data, techniques and results: a fine-tuned NLLB-200 model with a local app</a:t>
            </a:r>
            <a:endParaRPr lang="en-US" sz="2200" dirty="0"/>
          </a:p>
        </p:txBody>
      </p:sp>
      <p:sp>
        <p:nvSpPr>
          <p:cNvPr id="4" name="Text 2"/>
          <p:cNvSpPr txBox="1"/>
          <p:nvPr/>
        </p:nvSpPr>
        <p:spPr>
          <a:xfrm>
            <a:off x="731520" y="5943600"/>
            <a:ext cx="8229600" cy="365760"/>
          </a:xfrm>
          <a:prstGeom prst="rect">
            <a:avLst/>
          </a:prstGeom>
          <a:noFill/>
          <a:ln/>
        </p:spPr>
        <p:txBody>
          <a:bodyPr wrap="square" lIns="0" tIns="0" rIns="0" bIns="0" rtlCol="0" anchor="t"/>
          <a:lstStyle/>
          <a:p>
            <a:pPr indent="0" marL="0">
              <a:buNone/>
            </a:pPr>
            <a:r>
              <a:rPr lang="en-US" sz="1400" dirty="0">
                <a:solidFill>
                  <a:schemeClr val="accent6"/>
                </a:solidFill>
              </a:rPr>
              <a:t>Mutaib Rather and team  ·  Universitas Syiah Kuala  ·  Midterm presentation  ·  23 October 2026</a:t>
            </a:r>
            <a:endParaRPr lang="en-US" sz="1400" dirty="0"/>
          </a:p>
        </p:txBody>
      </p:sp>
      <p:sp>
        <p:nvSpPr>
          <p:cNvPr id="5" name="Decor circle"/>
          <p:cNvSpPr/>
          <p:nvPr/>
        </p:nvSpPr>
        <p:spPr>
          <a:xfrm>
            <a:off x="8138160" y="914400"/>
            <a:ext cx="3291840" cy="3291840"/>
          </a:xfrm>
          <a:prstGeom prst="ellipse">
            <a:avLst/>
          </a:prstGeom>
          <a:solidFill>
            <a:srgbClr val="0D9488">
              <a:alpha val="75000"/>
            </a:srgbClr>
          </a:solidFill>
          <a:ln w="12700">
            <a:solidFill>
              <a:srgbClr val="0D9488"/>
            </a:solidFill>
            <a:prstDash val="solid"/>
          </a:ln>
        </p:spPr>
      </p:sp>
      <p:sp>
        <p:nvSpPr>
          <p:cNvPr id="6" name="Decor circle"/>
          <p:cNvSpPr/>
          <p:nvPr/>
        </p:nvSpPr>
        <p:spPr>
          <a:xfrm>
            <a:off x="9692640" y="2926080"/>
            <a:ext cx="2286000" cy="2286000"/>
          </a:xfrm>
          <a:prstGeom prst="ellipse">
            <a:avLst/>
          </a:prstGeom>
          <a:solidFill>
            <a:srgbClr val="E9A23B">
              <a:alpha val="80000"/>
            </a:srgbClr>
          </a:solidFill>
          <a:ln w="12700">
            <a:solidFill>
              <a:srgbClr val="E9A23B"/>
            </a:solidFill>
            <a:prstDash val="solid"/>
          </a:ln>
        </p:spPr>
      </p:sp>
      <p:sp>
        <p:nvSpPr>
          <p:cNvPr id="7" name="Decor circle"/>
          <p:cNvSpPr/>
          <p:nvPr/>
        </p:nvSpPr>
        <p:spPr>
          <a:xfrm>
            <a:off x="7863840" y="4023360"/>
            <a:ext cx="2011680" cy="2011680"/>
          </a:xfrm>
          <a:prstGeom prst="ellipse">
            <a:avLst/>
          </a:prstGeom>
          <a:solidFill>
            <a:srgbClr val="0D9488">
              <a:alpha val="55000"/>
            </a:srgbClr>
          </a:solidFill>
          <a:ln w="12700">
            <a:solidFill>
              <a:srgbClr val="0D9488"/>
            </a:solidFill>
            <a:prstDash val="solid"/>
          </a:ln>
        </p:spPr>
      </p:sp>
      <p:sp>
        <p:nvSpPr>
          <p:cNvPr id="8" name="Text 6"/>
          <p:cNvSpPr txBox="1"/>
          <p:nvPr/>
        </p:nvSpPr>
        <p:spPr>
          <a:xfrm>
            <a:off x="8412480" y="1874520"/>
            <a:ext cx="2743200" cy="731520"/>
          </a:xfrm>
          <a:prstGeom prst="rect">
            <a:avLst/>
          </a:prstGeom>
          <a:noFill/>
          <a:ln/>
        </p:spPr>
        <p:txBody>
          <a:bodyPr wrap="square" lIns="0" tIns="0" rIns="0" bIns="0" rtlCol="0" anchor="t"/>
          <a:lstStyle/>
          <a:p>
            <a:pPr algn="ctr" indent="0" marL="0">
              <a:buNone/>
            </a:pPr>
            <a:r>
              <a:rPr lang="en-US" sz="4000" b="1" dirty="0">
                <a:solidFill>
                  <a:schemeClr val="bg1"/>
                </a:solidFill>
                <a:latin typeface="Georgia" pitchFamily="34" charset="0"/>
                <a:ea typeface="Georgia" pitchFamily="34" charset="-122"/>
                <a:cs typeface="Georgia" pitchFamily="34" charset="-120"/>
              </a:rPr>
              <a:t>17,547</a:t>
            </a:r>
            <a:endParaRPr lang="en-US" sz="4000" dirty="0"/>
          </a:p>
        </p:txBody>
      </p:sp>
      <p:sp>
        <p:nvSpPr>
          <p:cNvPr id="9" name="Text 7"/>
          <p:cNvSpPr txBox="1"/>
          <p:nvPr/>
        </p:nvSpPr>
        <p:spPr>
          <a:xfrm>
            <a:off x="8412480" y="2606040"/>
            <a:ext cx="2743200" cy="365760"/>
          </a:xfrm>
          <a:prstGeom prst="rect">
            <a:avLst/>
          </a:prstGeom>
          <a:noFill/>
          <a:ln/>
        </p:spPr>
        <p:txBody>
          <a:bodyPr wrap="square" lIns="0" tIns="0" rIns="0" bIns="0" rtlCol="0" anchor="t"/>
          <a:lstStyle/>
          <a:p>
            <a:pPr algn="ctr" indent="0" marL="0">
              <a:buNone/>
            </a:pPr>
            <a:r>
              <a:rPr lang="en-US" sz="1600" dirty="0">
                <a:solidFill>
                  <a:schemeClr val="bg1"/>
                </a:solidFill>
              </a:rPr>
              <a:t>training pairs</a:t>
            </a:r>
            <a:endParaRPr lang="en-US" sz="1600" dirty="0"/>
          </a:p>
        </p:txBody>
      </p:sp>
      <p:sp>
        <p:nvSpPr>
          <p:cNvPr id="10" name="Text 8"/>
          <p:cNvSpPr txBox="1"/>
          <p:nvPr/>
        </p:nvSpPr>
        <p:spPr>
          <a:xfrm>
            <a:off x="9692640" y="3611880"/>
            <a:ext cx="2286000" cy="640080"/>
          </a:xfrm>
          <a:prstGeom prst="rect">
            <a:avLst/>
          </a:prstGeom>
          <a:noFill/>
          <a:ln/>
        </p:spPr>
        <p:txBody>
          <a:bodyPr wrap="square" lIns="0" tIns="0" rIns="0" bIns="0" rtlCol="0" anchor="t"/>
          <a:lstStyle/>
          <a:p>
            <a:pPr algn="ctr" indent="0" marL="0">
              <a:buNone/>
            </a:pPr>
            <a:r>
              <a:rPr lang="en-US" sz="3600" b="1" dirty="0">
                <a:solidFill>
                  <a:schemeClr val="tx2"/>
                </a:solidFill>
                <a:latin typeface="Georgia" pitchFamily="34" charset="0"/>
                <a:ea typeface="Georgia" pitchFamily="34" charset="-122"/>
                <a:cs typeface="Georgia" pitchFamily="34" charset="-120"/>
              </a:rPr>
              <a:t>57.1</a:t>
            </a:r>
            <a:endParaRPr lang="en-US" sz="3600" dirty="0"/>
          </a:p>
        </p:txBody>
      </p:sp>
      <p:sp>
        <p:nvSpPr>
          <p:cNvPr id="11" name="Text 9"/>
          <p:cNvSpPr txBox="1"/>
          <p:nvPr/>
        </p:nvSpPr>
        <p:spPr>
          <a:xfrm>
            <a:off x="9692640" y="4206240"/>
            <a:ext cx="2286000" cy="365760"/>
          </a:xfrm>
          <a:prstGeom prst="rect">
            <a:avLst/>
          </a:prstGeom>
          <a:noFill/>
          <a:ln/>
        </p:spPr>
        <p:txBody>
          <a:bodyPr wrap="square" lIns="0" tIns="0" rIns="0" bIns="0" rtlCol="0" anchor="t"/>
          <a:lstStyle/>
          <a:p>
            <a:pPr algn="ctr" indent="0" marL="0">
              <a:buNone/>
            </a:pPr>
            <a:r>
              <a:rPr lang="en-US" sz="1400" dirty="0">
                <a:solidFill>
                  <a:schemeClr val="tx2"/>
                </a:solidFill>
              </a:rPr>
              <a:t>chrF++ on NusaX</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OVERVIEW</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project at a glance</a:t>
            </a:r>
            <a:endParaRPr lang="en-US" sz="3600" dirty="0"/>
          </a:p>
        </p:txBody>
      </p:sp>
      <p:sp>
        <p:nvSpPr>
          <p:cNvPr id="4" name="Stat card"/>
          <p:cNvSpPr/>
          <p:nvPr/>
        </p:nvSpPr>
        <p:spPr>
          <a:xfrm>
            <a:off x="548640" y="1463040"/>
            <a:ext cx="3566160" cy="1737360"/>
          </a:xfrm>
          <a:prstGeom prst="roundRect">
            <a:avLst>
              <a:gd name="adj" fmla="val 6316"/>
            </a:avLst>
          </a:prstGeom>
          <a:solidFill>
            <a:schemeClr val="bg2"/>
          </a:solidFill>
          <a:ln w="12700">
            <a:solidFill>
              <a:schemeClr val="bg2"/>
            </a:solidFill>
            <a:prstDash val="solid"/>
          </a:ln>
        </p:spPr>
      </p:sp>
      <p:sp>
        <p:nvSpPr>
          <p:cNvPr id="5" name="Text 3"/>
          <p:cNvSpPr txBox="1"/>
          <p:nvPr/>
        </p:nvSpPr>
        <p:spPr>
          <a:xfrm>
            <a:off x="822960" y="164592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Georgia" pitchFamily="34" charset="0"/>
                <a:ea typeface="Georgia" pitchFamily="34" charset="-122"/>
                <a:cs typeface="Georgia" pitchFamily="34" charset="-120"/>
              </a:rPr>
              <a:t>17,547</a:t>
            </a:r>
            <a:endParaRPr lang="en-US" sz="4800" dirty="0"/>
          </a:p>
        </p:txBody>
      </p:sp>
      <p:sp>
        <p:nvSpPr>
          <p:cNvPr id="6" name="Text 4"/>
          <p:cNvSpPr txBox="1"/>
          <p:nvPr/>
        </p:nvSpPr>
        <p:spPr>
          <a:xfrm>
            <a:off x="822960" y="2514600"/>
            <a:ext cx="3017520" cy="548640"/>
          </a:xfrm>
          <a:prstGeom prst="rect">
            <a:avLst/>
          </a:prstGeom>
          <a:noFill/>
          <a:ln/>
        </p:spPr>
        <p:txBody>
          <a:bodyPr wrap="square" lIns="0" tIns="0" rIns="0" bIns="0" rtlCol="0" anchor="t"/>
          <a:lstStyle/>
          <a:p>
            <a:pPr indent="0" marL="0">
              <a:buNone/>
            </a:pPr>
            <a:r>
              <a:rPr lang="en-US" sz="1500" dirty="0">
                <a:solidFill>
                  <a:schemeClr val="tx1"/>
                </a:solidFill>
              </a:rPr>
              <a:t>training pairs from nine sources</a:t>
            </a:r>
            <a:endParaRPr lang="en-US" sz="1500" dirty="0"/>
          </a:p>
        </p:txBody>
      </p:sp>
      <p:sp>
        <p:nvSpPr>
          <p:cNvPr id="7" name="Stat card"/>
          <p:cNvSpPr/>
          <p:nvPr/>
        </p:nvSpPr>
        <p:spPr>
          <a:xfrm>
            <a:off x="4297680" y="1463040"/>
            <a:ext cx="3566160" cy="1737360"/>
          </a:xfrm>
          <a:prstGeom prst="roundRect">
            <a:avLst>
              <a:gd name="adj" fmla="val 6316"/>
            </a:avLst>
          </a:prstGeom>
          <a:solidFill>
            <a:schemeClr val="bg2"/>
          </a:solidFill>
          <a:ln w="12700">
            <a:solidFill>
              <a:schemeClr val="bg2"/>
            </a:solidFill>
            <a:prstDash val="solid"/>
          </a:ln>
        </p:spPr>
      </p:sp>
      <p:sp>
        <p:nvSpPr>
          <p:cNvPr id="8" name="Text 6"/>
          <p:cNvSpPr txBox="1"/>
          <p:nvPr/>
        </p:nvSpPr>
        <p:spPr>
          <a:xfrm>
            <a:off x="4572000" y="164592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Georgia" pitchFamily="34" charset="0"/>
                <a:ea typeface="Georgia" pitchFamily="34" charset="-122"/>
                <a:cs typeface="Georgia" pitchFamily="34" charset="-120"/>
              </a:rPr>
              <a:t>57.1</a:t>
            </a:r>
            <a:endParaRPr lang="en-US" sz="4800" dirty="0"/>
          </a:p>
        </p:txBody>
      </p:sp>
      <p:sp>
        <p:nvSpPr>
          <p:cNvPr id="9" name="Text 7"/>
          <p:cNvSpPr txBox="1"/>
          <p:nvPr/>
        </p:nvSpPr>
        <p:spPr>
          <a:xfrm>
            <a:off x="4572000" y="2514600"/>
            <a:ext cx="3017520" cy="548640"/>
          </a:xfrm>
          <a:prstGeom prst="rect">
            <a:avLst/>
          </a:prstGeom>
          <a:noFill/>
          <a:ln/>
        </p:spPr>
        <p:txBody>
          <a:bodyPr wrap="square" lIns="0" tIns="0" rIns="0" bIns="0" rtlCol="0" anchor="t"/>
          <a:lstStyle/>
          <a:p>
            <a:pPr indent="0" marL="0">
              <a:buNone/>
            </a:pPr>
            <a:r>
              <a:rPr lang="en-US" sz="1500" dirty="0">
                <a:solidFill>
                  <a:schemeClr val="tx1"/>
                </a:solidFill>
              </a:rPr>
              <a:t>chrF++ on NusaX, up from 38.7</a:t>
            </a:r>
            <a:endParaRPr lang="en-US" sz="1500" dirty="0"/>
          </a:p>
        </p:txBody>
      </p:sp>
      <p:sp>
        <p:nvSpPr>
          <p:cNvPr id="10" name="Stat card"/>
          <p:cNvSpPr/>
          <p:nvPr/>
        </p:nvSpPr>
        <p:spPr>
          <a:xfrm>
            <a:off x="8046720" y="1463040"/>
            <a:ext cx="3566160" cy="1737360"/>
          </a:xfrm>
          <a:prstGeom prst="roundRect">
            <a:avLst>
              <a:gd name="adj" fmla="val 6316"/>
            </a:avLst>
          </a:prstGeom>
          <a:solidFill>
            <a:schemeClr val="bg2"/>
          </a:solidFill>
          <a:ln w="12700">
            <a:solidFill>
              <a:schemeClr val="bg2"/>
            </a:solidFill>
            <a:prstDash val="solid"/>
          </a:ln>
        </p:spPr>
      </p:sp>
      <p:sp>
        <p:nvSpPr>
          <p:cNvPr id="11" name="Text 9"/>
          <p:cNvSpPr txBox="1"/>
          <p:nvPr/>
        </p:nvSpPr>
        <p:spPr>
          <a:xfrm>
            <a:off x="8321040" y="164592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Georgia" pitchFamily="34" charset="0"/>
                <a:ea typeface="Georgia" pitchFamily="34" charset="-122"/>
                <a:cs typeface="Georgia" pitchFamily="34" charset="-120"/>
              </a:rPr>
              <a:t>+36.9</a:t>
            </a:r>
            <a:endParaRPr lang="en-US" sz="4800" dirty="0"/>
          </a:p>
        </p:txBody>
      </p:sp>
      <p:sp>
        <p:nvSpPr>
          <p:cNvPr id="12" name="Text 10"/>
          <p:cNvSpPr txBox="1"/>
          <p:nvPr/>
        </p:nvSpPr>
        <p:spPr>
          <a:xfrm>
            <a:off x="8321040" y="2514600"/>
            <a:ext cx="3017520" cy="548640"/>
          </a:xfrm>
          <a:prstGeom prst="rect">
            <a:avLst/>
          </a:prstGeom>
          <a:noFill/>
          <a:ln/>
        </p:spPr>
        <p:txBody>
          <a:bodyPr wrap="square" lIns="0" tIns="0" rIns="0" bIns="0" rtlCol="0" anchor="t"/>
          <a:lstStyle/>
          <a:p>
            <a:pPr indent="0" marL="0">
              <a:buNone/>
            </a:pPr>
            <a:r>
              <a:rPr lang="en-US" sz="1500" dirty="0">
                <a:solidFill>
                  <a:schemeClr val="tx1"/>
                </a:solidFill>
              </a:rPr>
              <a:t>chrF++ gain on held-out hikayat verse</a:t>
            </a:r>
            <a:endParaRPr lang="en-US" sz="1500" dirty="0"/>
          </a:p>
        </p:txBody>
      </p:sp>
      <p:sp>
        <p:nvSpPr>
          <p:cNvPr id="13" name="Icon circle"/>
          <p:cNvSpPr/>
          <p:nvPr/>
        </p:nvSpPr>
        <p:spPr>
          <a:xfrm>
            <a:off x="548640" y="3566160"/>
            <a:ext cx="685800" cy="685800"/>
          </a:xfrm>
          <a:prstGeom prst="ellipse">
            <a:avLst/>
          </a:prstGeom>
          <a:solidFill>
            <a:schemeClr val="accent1"/>
          </a:solidFill>
          <a:ln w="12700">
            <a:solidFill>
              <a:schemeClr val="accent1"/>
            </a:solidFill>
            <a:prstDash val="solid"/>
          </a:ln>
        </p:spPr>
      </p:sp>
      <p:pic>
        <p:nvPicPr>
          <p:cNvPr id="14" name="Image 0" descr="Database icon">    </p:cNvPr>
          <p:cNvPicPr>
            <a:picLocks noChangeAspect="1"/>
          </p:cNvPicPr>
          <p:nvPr/>
        </p:nvPicPr>
        <p:blipFill>
          <a:blip r:embed="rId1"/>
          <a:stretch>
            <a:fillRect/>
          </a:stretch>
        </p:blipFill>
        <p:spPr>
          <a:xfrm>
            <a:off x="733806" y="3751326"/>
            <a:ext cx="315468" cy="315468"/>
          </a:xfrm>
          <a:prstGeom prst="rect">
            <a:avLst/>
          </a:prstGeom>
        </p:spPr>
      </p:pic>
      <p:sp>
        <p:nvSpPr>
          <p:cNvPr id="15" name="Text 12"/>
          <p:cNvSpPr txBox="1"/>
          <p:nvPr/>
        </p:nvSpPr>
        <p:spPr>
          <a:xfrm>
            <a:off x="1417320" y="3520440"/>
            <a:ext cx="4572000" cy="320040"/>
          </a:xfrm>
          <a:prstGeom prst="rect">
            <a:avLst/>
          </a:prstGeom>
          <a:noFill/>
          <a:ln/>
        </p:spPr>
        <p:txBody>
          <a:bodyPr wrap="square" lIns="0" tIns="0" rIns="0" bIns="0" rtlCol="0" anchor="t"/>
          <a:lstStyle/>
          <a:p>
            <a:pPr indent="0" marL="0">
              <a:buNone/>
            </a:pPr>
            <a:r>
              <a:rPr lang="en-US" sz="1800" b="1" dirty="0">
                <a:solidFill>
                  <a:schemeClr val="tx1"/>
                </a:solidFill>
              </a:rPr>
              <a:t>Data</a:t>
            </a:r>
            <a:endParaRPr lang="en-US" sz="1800" dirty="0"/>
          </a:p>
        </p:txBody>
      </p:sp>
      <p:sp>
        <p:nvSpPr>
          <p:cNvPr id="16" name="Text 13"/>
          <p:cNvSpPr txBox="1"/>
          <p:nvPr/>
        </p:nvSpPr>
        <p:spPr>
          <a:xfrm>
            <a:off x="1417320" y="3867912"/>
            <a:ext cx="4572000" cy="822960"/>
          </a:xfrm>
          <a:prstGeom prst="rect">
            <a:avLst/>
          </a:prstGeom>
          <a:noFill/>
          <a:ln/>
        </p:spPr>
        <p:txBody>
          <a:bodyPr wrap="square" lIns="0" tIns="0" rIns="0" bIns="0" rtlCol="0" anchor="t"/>
          <a:lstStyle/>
          <a:p>
            <a:pPr indent="0" marL="0">
              <a:buNone/>
            </a:pPr>
            <a:r>
              <a:rPr lang="en-US" sz="1400" dirty="0">
                <a:solidFill>
                  <a:schemeClr val="accent5"/>
                </a:solidFill>
              </a:rPr>
              <a:t>Nine sources: public corpora, scanned books, a thesis, team translations. Cleaned, aligned and leak-checked.</a:t>
            </a:r>
            <a:endParaRPr lang="en-US" sz="1400" dirty="0"/>
          </a:p>
        </p:txBody>
      </p:sp>
      <p:sp>
        <p:nvSpPr>
          <p:cNvPr id="17" name="Icon circle"/>
          <p:cNvSpPr/>
          <p:nvPr/>
        </p:nvSpPr>
        <p:spPr>
          <a:xfrm>
            <a:off x="6172200" y="3566160"/>
            <a:ext cx="685800" cy="685800"/>
          </a:xfrm>
          <a:prstGeom prst="ellipse">
            <a:avLst/>
          </a:prstGeom>
          <a:solidFill>
            <a:schemeClr val="accent1"/>
          </a:solidFill>
          <a:ln w="12700">
            <a:solidFill>
              <a:schemeClr val="accent1"/>
            </a:solidFill>
            <a:prstDash val="solid"/>
          </a:ln>
        </p:spPr>
      </p:sp>
      <p:pic>
        <p:nvPicPr>
          <p:cNvPr id="18" name="Image 1" descr="Cogs icon">    </p:cNvPr>
          <p:cNvPicPr>
            <a:picLocks noChangeAspect="1"/>
          </p:cNvPicPr>
          <p:nvPr/>
        </p:nvPicPr>
        <p:blipFill>
          <a:blip r:embed="rId2"/>
          <a:stretch>
            <a:fillRect/>
          </a:stretch>
        </p:blipFill>
        <p:spPr>
          <a:xfrm>
            <a:off x="6357366" y="3751326"/>
            <a:ext cx="315468" cy="315468"/>
          </a:xfrm>
          <a:prstGeom prst="rect">
            <a:avLst/>
          </a:prstGeom>
        </p:spPr>
      </p:pic>
      <p:sp>
        <p:nvSpPr>
          <p:cNvPr id="19" name="Text 15"/>
          <p:cNvSpPr txBox="1"/>
          <p:nvPr/>
        </p:nvSpPr>
        <p:spPr>
          <a:xfrm>
            <a:off x="7040880" y="3520440"/>
            <a:ext cx="4572000" cy="320040"/>
          </a:xfrm>
          <a:prstGeom prst="rect">
            <a:avLst/>
          </a:prstGeom>
          <a:noFill/>
          <a:ln/>
        </p:spPr>
        <p:txBody>
          <a:bodyPr wrap="square" lIns="0" tIns="0" rIns="0" bIns="0" rtlCol="0" anchor="t"/>
          <a:lstStyle/>
          <a:p>
            <a:pPr indent="0" marL="0">
              <a:buNone/>
            </a:pPr>
            <a:r>
              <a:rPr lang="en-US" sz="1800" b="1" dirty="0">
                <a:solidFill>
                  <a:schemeClr val="tx1"/>
                </a:solidFill>
              </a:rPr>
              <a:t>Techniques</a:t>
            </a:r>
            <a:endParaRPr lang="en-US" sz="1800" dirty="0"/>
          </a:p>
        </p:txBody>
      </p:sp>
      <p:sp>
        <p:nvSpPr>
          <p:cNvPr id="20" name="Text 16"/>
          <p:cNvSpPr txBox="1"/>
          <p:nvPr/>
        </p:nvSpPr>
        <p:spPr>
          <a:xfrm>
            <a:off x="7040880" y="3867912"/>
            <a:ext cx="4572000" cy="822960"/>
          </a:xfrm>
          <a:prstGeom prst="rect">
            <a:avLst/>
          </a:prstGeom>
          <a:noFill/>
          <a:ln/>
        </p:spPr>
        <p:txBody>
          <a:bodyPr wrap="square" lIns="0" tIns="0" rIns="0" bIns="0" rtlCol="0" anchor="t"/>
          <a:lstStyle/>
          <a:p>
            <a:pPr indent="0" marL="0">
              <a:buNone/>
            </a:pPr>
            <a:r>
              <a:rPr lang="en-US" sz="1400" dirty="0">
                <a:solidFill>
                  <a:schemeClr val="accent5"/>
                </a:solidFill>
              </a:rPr>
              <a:t>OCR and alignment, pivot augmentation, fine-tuning, plus direct, transfer and neural translation compared.</a:t>
            </a:r>
            <a:endParaRPr lang="en-US" sz="1400" dirty="0"/>
          </a:p>
        </p:txBody>
      </p:sp>
      <p:sp>
        <p:nvSpPr>
          <p:cNvPr id="21" name="Icon circle"/>
          <p:cNvSpPr/>
          <p:nvPr/>
        </p:nvSpPr>
        <p:spPr>
          <a:xfrm>
            <a:off x="548640" y="4937760"/>
            <a:ext cx="685800" cy="685800"/>
          </a:xfrm>
          <a:prstGeom prst="ellipse">
            <a:avLst/>
          </a:prstGeom>
          <a:solidFill>
            <a:schemeClr val="accent1"/>
          </a:solidFill>
          <a:ln w="12700">
            <a:solidFill>
              <a:schemeClr val="accent1"/>
            </a:solidFill>
            <a:prstDash val="solid"/>
          </a:ln>
        </p:spPr>
      </p:sp>
      <p:pic>
        <p:nvPicPr>
          <p:cNvPr id="22" name="Image 2" descr="Flask icon">    </p:cNvPr>
          <p:cNvPicPr>
            <a:picLocks noChangeAspect="1"/>
          </p:cNvPicPr>
          <p:nvPr/>
        </p:nvPicPr>
        <p:blipFill>
          <a:blip r:embed="rId3"/>
          <a:stretch>
            <a:fillRect/>
          </a:stretch>
        </p:blipFill>
        <p:spPr>
          <a:xfrm>
            <a:off x="733806" y="5122926"/>
            <a:ext cx="315468" cy="315468"/>
          </a:xfrm>
          <a:prstGeom prst="rect">
            <a:avLst/>
          </a:prstGeom>
        </p:spPr>
      </p:pic>
      <p:sp>
        <p:nvSpPr>
          <p:cNvPr id="23" name="Text 18"/>
          <p:cNvSpPr txBox="1"/>
          <p:nvPr/>
        </p:nvSpPr>
        <p:spPr>
          <a:xfrm>
            <a:off x="1417320" y="4892040"/>
            <a:ext cx="4572000" cy="320040"/>
          </a:xfrm>
          <a:prstGeom prst="rect">
            <a:avLst/>
          </a:prstGeom>
          <a:noFill/>
          <a:ln/>
        </p:spPr>
        <p:txBody>
          <a:bodyPr wrap="square" lIns="0" tIns="0" rIns="0" bIns="0" rtlCol="0" anchor="t"/>
          <a:lstStyle/>
          <a:p>
            <a:pPr indent="0" marL="0">
              <a:buNone/>
            </a:pPr>
            <a:r>
              <a:rPr lang="en-US" sz="1800" b="1" dirty="0">
                <a:solidFill>
                  <a:schemeClr val="tx1"/>
                </a:solidFill>
              </a:rPr>
              <a:t>Evaluation</a:t>
            </a:r>
            <a:endParaRPr lang="en-US" sz="1800" dirty="0"/>
          </a:p>
        </p:txBody>
      </p:sp>
      <p:sp>
        <p:nvSpPr>
          <p:cNvPr id="24" name="Text 19"/>
          <p:cNvSpPr txBox="1"/>
          <p:nvPr/>
        </p:nvSpPr>
        <p:spPr>
          <a:xfrm>
            <a:off x="1417320" y="5239512"/>
            <a:ext cx="4572000" cy="822960"/>
          </a:xfrm>
          <a:prstGeom prst="rect">
            <a:avLst/>
          </a:prstGeom>
          <a:noFill/>
          <a:ln/>
        </p:spPr>
        <p:txBody>
          <a:bodyPr wrap="square" lIns="0" tIns="0" rIns="0" bIns="0" rtlCol="0" anchor="t"/>
          <a:lstStyle/>
          <a:p>
            <a:pPr indent="0" marL="0">
              <a:buNone/>
            </a:pPr>
            <a:r>
              <a:rPr lang="en-US" sz="1400" dirty="0">
                <a:solidFill>
                  <a:schemeClr val="accent5"/>
                </a:solidFill>
              </a:rPr>
              <a:t>Three held-out test sets scored with chrF++ and BLEU; the base model is the comparison.</a:t>
            </a:r>
            <a:endParaRPr lang="en-US" sz="1400" dirty="0"/>
          </a:p>
        </p:txBody>
      </p:sp>
      <p:sp>
        <p:nvSpPr>
          <p:cNvPr id="25" name="Icon circle"/>
          <p:cNvSpPr/>
          <p:nvPr/>
        </p:nvSpPr>
        <p:spPr>
          <a:xfrm>
            <a:off x="6172200" y="4937760"/>
            <a:ext cx="685800" cy="685800"/>
          </a:xfrm>
          <a:prstGeom prst="ellipse">
            <a:avLst/>
          </a:prstGeom>
          <a:solidFill>
            <a:schemeClr val="accent1"/>
          </a:solidFill>
          <a:ln w="12700">
            <a:solidFill>
              <a:schemeClr val="accent1"/>
            </a:solidFill>
            <a:prstDash val="solid"/>
          </a:ln>
        </p:spPr>
      </p:sp>
      <p:pic>
        <p:nvPicPr>
          <p:cNvPr id="26" name="Image 3" descr="Laptop icon">    </p:cNvPr>
          <p:cNvPicPr>
            <a:picLocks noChangeAspect="1"/>
          </p:cNvPicPr>
          <p:nvPr/>
        </p:nvPicPr>
        <p:blipFill>
          <a:blip r:embed="rId4"/>
          <a:stretch>
            <a:fillRect/>
          </a:stretch>
        </p:blipFill>
        <p:spPr>
          <a:xfrm>
            <a:off x="6357366" y="5122926"/>
            <a:ext cx="315468" cy="315468"/>
          </a:xfrm>
          <a:prstGeom prst="rect">
            <a:avLst/>
          </a:prstGeom>
        </p:spPr>
      </p:pic>
      <p:sp>
        <p:nvSpPr>
          <p:cNvPr id="27" name="Text 21"/>
          <p:cNvSpPr txBox="1"/>
          <p:nvPr/>
        </p:nvSpPr>
        <p:spPr>
          <a:xfrm>
            <a:off x="7040880" y="4892040"/>
            <a:ext cx="4572000" cy="320040"/>
          </a:xfrm>
          <a:prstGeom prst="rect">
            <a:avLst/>
          </a:prstGeom>
          <a:noFill/>
          <a:ln/>
        </p:spPr>
        <p:txBody>
          <a:bodyPr wrap="square" lIns="0" tIns="0" rIns="0" bIns="0" rtlCol="0" anchor="t"/>
          <a:lstStyle/>
          <a:p>
            <a:pPr indent="0" marL="0">
              <a:buNone/>
            </a:pPr>
            <a:r>
              <a:rPr lang="en-US" sz="1800" b="1" dirty="0">
                <a:solidFill>
                  <a:schemeClr val="tx1"/>
                </a:solidFill>
              </a:rPr>
              <a:t>Application</a:t>
            </a:r>
            <a:endParaRPr lang="en-US" sz="1800" dirty="0"/>
          </a:p>
        </p:txBody>
      </p:sp>
      <p:sp>
        <p:nvSpPr>
          <p:cNvPr id="28" name="Text 22"/>
          <p:cNvSpPr txBox="1"/>
          <p:nvPr/>
        </p:nvSpPr>
        <p:spPr>
          <a:xfrm>
            <a:off x="7040880" y="5239512"/>
            <a:ext cx="4572000" cy="822960"/>
          </a:xfrm>
          <a:prstGeom prst="rect">
            <a:avLst/>
          </a:prstGeom>
          <a:noFill/>
          <a:ln/>
        </p:spPr>
        <p:txBody>
          <a:bodyPr wrap="square" lIns="0" tIns="0" rIns="0" bIns="0" rtlCol="0" anchor="t"/>
          <a:lstStyle/>
          <a:p>
            <a:pPr indent="0" marL="0">
              <a:buNone/>
            </a:pPr>
            <a:r>
              <a:rPr lang="en-US" sz="1400" dirty="0">
                <a:solidFill>
                  <a:schemeClr val="accent5"/>
                </a:solidFill>
              </a:rPr>
              <a:t>A local, offline app with a dictionary panel that picks the best-fitting meaning of each word.</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OVERVIEW</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Techniques in our system</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286000"/>
                <a:gridCol w="6309360"/>
                <a:gridCol w="2496312"/>
              </a:tblGrid>
              <a:tr h="411480">
                <a:tc>
                  <a:txBody>
                    <a:bodyPr/>
                    <a:lstStyle/>
                    <a:p>
                      <a:pPr algn="l" indent="0" marL="0">
                        <a:buNone/>
                      </a:pPr>
                      <a:r>
                        <a:rPr lang="en-US" sz="1100" b="1" dirty="0">
                          <a:solidFill>
                            <a:srgbClr val="FFFFFF"/>
                          </a:solidFill>
                        </a:rPr>
                        <a:t>Technique</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How it works in our project</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Evidence</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r>
              <a:tr h="713232">
                <a:tc>
                  <a:txBody>
                    <a:bodyPr/>
                    <a:lstStyle/>
                    <a:p>
                      <a:pPr indent="0" marL="0">
                        <a:buNone/>
                      </a:pPr>
                      <a:r>
                        <a:rPr lang="en-US" sz="1200" b="1" dirty="0">
                          <a:solidFill>
                            <a:srgbClr val="12303A"/>
                          </a:solidFill>
                        </a:rPr>
                        <a:t>Direct approach</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400" dirty="0">
                          <a:solidFill>
                            <a:srgbClr val="12303A"/>
                          </a:solidFill>
                        </a:rPr>
                        <a:t>Word-for-word lookup in the 1985 Kamus Aceh-Indonesia list (5,260 headwords), keeping word order</a:t>
                      </a:r>
                      <a:endParaRPr lang="en-US" sz="14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400" dirty="0">
                          <a:solidFill>
                            <a:srgbClr val="12303A"/>
                          </a:solidFill>
                        </a:rPr>
                        <a:t>35.5 chrF++</a:t>
                      </a:r>
                      <a:endParaRPr lang="en-US" sz="14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2303A"/>
                          </a:solidFill>
                        </a:rPr>
                        <a:t>Transfer approach</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400" dirty="0">
                          <a:solidFill>
                            <a:srgbClr val="12303A"/>
                          </a:solidFill>
                        </a:rPr>
                        <a:t>Analyse prefixes and the suffix -jih, map 15 function words, then generate the Indonesian sentence</a:t>
                      </a:r>
                      <a:endParaRPr lang="en-US" sz="14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400" dirty="0">
                          <a:solidFill>
                            <a:srgbClr val="12303A"/>
                          </a:solidFill>
                        </a:rPr>
                        <a:t>39.2 chrF++</a:t>
                      </a:r>
                      <a:endParaRPr lang="en-US" sz="14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2303A"/>
                          </a:solidFill>
                        </a:rPr>
                        <a:t>Interlingual view</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400" dirty="0">
                          <a:solidFill>
                            <a:srgbClr val="12303A"/>
                          </a:solidFill>
                        </a:rPr>
                        <a:t>NLLB's encoder maps Acehnese into a shared multilingual representation; the decoder writes Indonesian</a:t>
                      </a:r>
                      <a:endParaRPr lang="en-US" sz="14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400" dirty="0">
                          <a:solidFill>
                            <a:srgbClr val="12303A"/>
                          </a:solidFill>
                        </a:rPr>
                        <a:t>Tokens shown in the app</a:t>
                      </a:r>
                      <a:endParaRPr lang="en-US" sz="14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2303A"/>
                          </a:solidFill>
                        </a:rPr>
                        <a:t>Neural translation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400" dirty="0">
                          <a:solidFill>
                            <a:srgbClr val="12303A"/>
                          </a:solidFill>
                        </a:rPr>
                        <a:t>NLLB-200 (600M) fine-tuned on 17,547 pairs, with early stopping on validation scores</a:t>
                      </a:r>
                      <a:endParaRPr lang="en-US" sz="14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400" dirty="0">
                          <a:solidFill>
                            <a:srgbClr val="12303A"/>
                          </a:solidFill>
                        </a:rPr>
                        <a:t>57.1 chrF++ / 30.8 BLEU</a:t>
                      </a:r>
                      <a:endParaRPr lang="en-US" sz="14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2303A"/>
                          </a:solidFill>
                        </a:rPr>
                        <a:t>Data augmentation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400" dirty="0">
                          <a:solidFill>
                            <a:srgbClr val="12303A"/>
                          </a:solidFill>
                        </a:rPr>
                        <a:t>Pivot translation: human Acehnese plus English, English translated to Indonesian by NLLB</a:t>
                      </a:r>
                      <a:endParaRPr lang="en-US" sz="14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400" dirty="0">
                          <a:solidFill>
                            <a:srgbClr val="12303A"/>
                          </a:solidFill>
                        </a:rPr>
                        <a:t>About 5,700 extra pairs</a:t>
                      </a:r>
                      <a:endParaRPr lang="en-US" sz="14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2303A"/>
                          </a:solidFill>
                        </a:rPr>
                        <a:t>Disambiguation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400" dirty="0">
                          <a:solidFill>
                            <a:srgbClr val="12303A"/>
                          </a:solidFill>
                        </a:rPr>
                        <a:t>Dictionary meanings ranked by overlap with the translation; best meaning marked with a tick</a:t>
                      </a:r>
                      <a:endParaRPr lang="en-US" sz="14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400" dirty="0">
                          <a:solidFill>
                            <a:srgbClr val="12303A"/>
                          </a:solidFill>
                        </a:rPr>
                        <a:t>266 multi-meaning headwords</a:t>
                      </a:r>
                      <a:endParaRPr lang="en-US" sz="14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OVERVIEW</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From raw sources to a running app</a:t>
            </a:r>
            <a:endParaRPr lang="en-US" sz="3600" dirty="0"/>
          </a:p>
        </p:txBody>
      </p:sp>
      <p:sp>
        <p:nvSpPr>
          <p:cNvPr id="4" name="Pipeline step"/>
          <p:cNvSpPr/>
          <p:nvPr/>
        </p:nvSpPr>
        <p:spPr>
          <a:xfrm>
            <a:off x="548640" y="1645920"/>
            <a:ext cx="2011680" cy="2743200"/>
          </a:xfrm>
          <a:prstGeom prst="roundRect">
            <a:avLst>
              <a:gd name="adj" fmla="val 5455"/>
            </a:avLst>
          </a:prstGeom>
          <a:solidFill>
            <a:schemeClr val="bg2"/>
          </a:solidFill>
          <a:ln w="12700">
            <a:solidFill>
              <a:schemeClr val="bg2"/>
            </a:solidFill>
            <a:prstDash val="solid"/>
          </a:ln>
        </p:spPr>
      </p:sp>
      <p:sp>
        <p:nvSpPr>
          <p:cNvPr id="5" name="Icon circle"/>
          <p:cNvSpPr/>
          <p:nvPr/>
        </p:nvSpPr>
        <p:spPr>
          <a:xfrm>
            <a:off x="1207008" y="1874520"/>
            <a:ext cx="685800" cy="685800"/>
          </a:xfrm>
          <a:prstGeom prst="ellipse">
            <a:avLst/>
          </a:prstGeom>
          <a:solidFill>
            <a:schemeClr val="accent1"/>
          </a:solidFill>
          <a:ln w="12700">
            <a:solidFill>
              <a:schemeClr val="accent1"/>
            </a:solidFill>
            <a:prstDash val="solid"/>
          </a:ln>
        </p:spPr>
      </p:sp>
      <p:pic>
        <p:nvPicPr>
          <p:cNvPr id="6" name="Image 0" descr="Book icon">    </p:cNvPr>
          <p:cNvPicPr>
            <a:picLocks noChangeAspect="1"/>
          </p:cNvPicPr>
          <p:nvPr/>
        </p:nvPicPr>
        <p:blipFill>
          <a:blip r:embed="rId1"/>
          <a:stretch>
            <a:fillRect/>
          </a:stretch>
        </p:blipFill>
        <p:spPr>
          <a:xfrm>
            <a:off x="1392174" y="2059686"/>
            <a:ext cx="315468" cy="315468"/>
          </a:xfrm>
          <a:prstGeom prst="rect">
            <a:avLst/>
          </a:prstGeom>
        </p:spPr>
      </p:pic>
      <p:sp>
        <p:nvSpPr>
          <p:cNvPr id="7" name="Text 4"/>
          <p:cNvSpPr txBox="1"/>
          <p:nvPr/>
        </p:nvSpPr>
        <p:spPr>
          <a:xfrm>
            <a:off x="685800" y="2743200"/>
            <a:ext cx="1737360" cy="502920"/>
          </a:xfrm>
          <a:prstGeom prst="rect">
            <a:avLst/>
          </a:prstGeom>
          <a:noFill/>
          <a:ln/>
        </p:spPr>
        <p:txBody>
          <a:bodyPr wrap="square" lIns="0" tIns="0" rIns="0" bIns="0" rtlCol="0" anchor="t"/>
          <a:lstStyle/>
          <a:p>
            <a:pPr algn="ctr" indent="0" marL="0">
              <a:buNone/>
            </a:pPr>
            <a:r>
              <a:rPr lang="en-US" sz="1600" b="1" dirty="0">
                <a:solidFill>
                  <a:schemeClr val="tx1"/>
                </a:solidFill>
              </a:rPr>
              <a:t>Collect</a:t>
            </a:r>
            <a:endParaRPr lang="en-US" sz="1600" dirty="0"/>
          </a:p>
        </p:txBody>
      </p:sp>
      <p:sp>
        <p:nvSpPr>
          <p:cNvPr id="8" name="Text 5"/>
          <p:cNvSpPr txBox="1"/>
          <p:nvPr/>
        </p:nvSpPr>
        <p:spPr>
          <a:xfrm>
            <a:off x="685800" y="3291840"/>
            <a:ext cx="1737360" cy="1005840"/>
          </a:xfrm>
          <a:prstGeom prst="rect">
            <a:avLst/>
          </a:prstGeom>
          <a:noFill/>
          <a:ln/>
        </p:spPr>
        <p:txBody>
          <a:bodyPr wrap="square" lIns="0" tIns="0" rIns="0" bIns="0" rtlCol="0" anchor="t"/>
          <a:lstStyle/>
          <a:p>
            <a:pPr algn="ctr" indent="0" marL="0">
              <a:buNone/>
            </a:pPr>
            <a:r>
              <a:rPr lang="en-US" sz="1300" dirty="0">
                <a:solidFill>
                  <a:schemeClr val="accent5"/>
                </a:solidFill>
              </a:rPr>
              <a:t>Corpora, scanned books, a thesis, stories, team files</a:t>
            </a:r>
            <a:endParaRPr lang="en-US" sz="1300" dirty="0"/>
          </a:p>
        </p:txBody>
      </p:sp>
      <p:sp>
        <p:nvSpPr>
          <p:cNvPr id="9" name="Flow arrow"/>
          <p:cNvSpPr/>
          <p:nvPr/>
        </p:nvSpPr>
        <p:spPr>
          <a:xfrm>
            <a:off x="2569464" y="2788920"/>
            <a:ext cx="201168" cy="256032"/>
          </a:xfrm>
          <a:prstGeom prst="rightArrow">
            <a:avLst/>
          </a:prstGeom>
          <a:solidFill>
            <a:schemeClr val="accent1"/>
          </a:solidFill>
          <a:ln w="12700">
            <a:solidFill>
              <a:schemeClr val="accent1"/>
            </a:solidFill>
            <a:prstDash val="solid"/>
          </a:ln>
        </p:spPr>
      </p:sp>
      <p:sp>
        <p:nvSpPr>
          <p:cNvPr id="10" name="Pipeline step"/>
          <p:cNvSpPr/>
          <p:nvPr/>
        </p:nvSpPr>
        <p:spPr>
          <a:xfrm>
            <a:off x="2788920" y="1645920"/>
            <a:ext cx="2011680" cy="2743200"/>
          </a:xfrm>
          <a:prstGeom prst="roundRect">
            <a:avLst>
              <a:gd name="adj" fmla="val 5455"/>
            </a:avLst>
          </a:prstGeom>
          <a:solidFill>
            <a:schemeClr val="bg2"/>
          </a:solidFill>
          <a:ln w="12700">
            <a:solidFill>
              <a:schemeClr val="bg2"/>
            </a:solidFill>
            <a:prstDash val="solid"/>
          </a:ln>
        </p:spPr>
      </p:sp>
      <p:sp>
        <p:nvSpPr>
          <p:cNvPr id="11" name="Icon circle"/>
          <p:cNvSpPr/>
          <p:nvPr/>
        </p:nvSpPr>
        <p:spPr>
          <a:xfrm>
            <a:off x="3447288" y="1874520"/>
            <a:ext cx="685800" cy="685800"/>
          </a:xfrm>
          <a:prstGeom prst="ellipse">
            <a:avLst/>
          </a:prstGeom>
          <a:solidFill>
            <a:schemeClr val="accent1"/>
          </a:solidFill>
          <a:ln w="12700">
            <a:solidFill>
              <a:schemeClr val="accent1"/>
            </a:solidFill>
            <a:prstDash val="solid"/>
          </a:ln>
        </p:spPr>
      </p:sp>
      <p:pic>
        <p:nvPicPr>
          <p:cNvPr id="12" name="Image 1" descr="Tools icon">    </p:cNvPr>
          <p:cNvPicPr>
            <a:picLocks noChangeAspect="1"/>
          </p:cNvPicPr>
          <p:nvPr/>
        </p:nvPicPr>
        <p:blipFill>
          <a:blip r:embed="rId2"/>
          <a:stretch>
            <a:fillRect/>
          </a:stretch>
        </p:blipFill>
        <p:spPr>
          <a:xfrm>
            <a:off x="3632454" y="2059686"/>
            <a:ext cx="315468" cy="315468"/>
          </a:xfrm>
          <a:prstGeom prst="rect">
            <a:avLst/>
          </a:prstGeom>
        </p:spPr>
      </p:pic>
      <p:sp>
        <p:nvSpPr>
          <p:cNvPr id="13" name="Text 9"/>
          <p:cNvSpPr txBox="1"/>
          <p:nvPr/>
        </p:nvSpPr>
        <p:spPr>
          <a:xfrm>
            <a:off x="2926080" y="2743200"/>
            <a:ext cx="1737360" cy="502920"/>
          </a:xfrm>
          <a:prstGeom prst="rect">
            <a:avLst/>
          </a:prstGeom>
          <a:noFill/>
          <a:ln/>
        </p:spPr>
        <p:txBody>
          <a:bodyPr wrap="square" lIns="0" tIns="0" rIns="0" bIns="0" rtlCol="0" anchor="t"/>
          <a:lstStyle/>
          <a:p>
            <a:pPr algn="ctr" indent="0" marL="0">
              <a:buNone/>
            </a:pPr>
            <a:r>
              <a:rPr lang="en-US" sz="1600" b="1" dirty="0">
                <a:solidFill>
                  <a:schemeClr val="tx1"/>
                </a:solidFill>
              </a:rPr>
              <a:t>Clean and align</a:t>
            </a:r>
            <a:endParaRPr lang="en-US" sz="1600" dirty="0"/>
          </a:p>
        </p:txBody>
      </p:sp>
      <p:sp>
        <p:nvSpPr>
          <p:cNvPr id="14" name="Text 10"/>
          <p:cNvSpPr txBox="1"/>
          <p:nvPr/>
        </p:nvSpPr>
        <p:spPr>
          <a:xfrm>
            <a:off x="2926080" y="3291840"/>
            <a:ext cx="1737360" cy="1005840"/>
          </a:xfrm>
          <a:prstGeom prst="rect">
            <a:avLst/>
          </a:prstGeom>
          <a:noFill/>
          <a:ln/>
        </p:spPr>
        <p:txBody>
          <a:bodyPr wrap="square" lIns="0" tIns="0" rIns="0" bIns="0" rtlCol="0" anchor="t"/>
          <a:lstStyle/>
          <a:p>
            <a:pPr algn="ctr" indent="0" marL="0">
              <a:buNone/>
            </a:pPr>
            <a:r>
              <a:rPr lang="en-US" sz="1300" dirty="0">
                <a:solidFill>
                  <a:schemeClr val="accent5"/>
                </a:solidFill>
              </a:rPr>
              <a:t>OCR, filtering, sentence alignment</a:t>
            </a:r>
            <a:endParaRPr lang="en-US" sz="1300" dirty="0"/>
          </a:p>
        </p:txBody>
      </p:sp>
      <p:sp>
        <p:nvSpPr>
          <p:cNvPr id="15" name="Flow arrow"/>
          <p:cNvSpPr/>
          <p:nvPr/>
        </p:nvSpPr>
        <p:spPr>
          <a:xfrm>
            <a:off x="4809744" y="2788920"/>
            <a:ext cx="201168" cy="256032"/>
          </a:xfrm>
          <a:prstGeom prst="rightArrow">
            <a:avLst/>
          </a:prstGeom>
          <a:solidFill>
            <a:schemeClr val="accent1"/>
          </a:solidFill>
          <a:ln w="12700">
            <a:solidFill>
              <a:schemeClr val="accent1"/>
            </a:solidFill>
            <a:prstDash val="solid"/>
          </a:ln>
        </p:spPr>
      </p:sp>
      <p:sp>
        <p:nvSpPr>
          <p:cNvPr id="16" name="Pipeline step"/>
          <p:cNvSpPr/>
          <p:nvPr/>
        </p:nvSpPr>
        <p:spPr>
          <a:xfrm>
            <a:off x="5029200" y="1645920"/>
            <a:ext cx="2011680" cy="2743200"/>
          </a:xfrm>
          <a:prstGeom prst="roundRect">
            <a:avLst>
              <a:gd name="adj" fmla="val 5455"/>
            </a:avLst>
          </a:prstGeom>
          <a:solidFill>
            <a:schemeClr val="bg2"/>
          </a:solidFill>
          <a:ln w="12700">
            <a:solidFill>
              <a:schemeClr val="bg2"/>
            </a:solidFill>
            <a:prstDash val="solid"/>
          </a:ln>
        </p:spPr>
      </p:sp>
      <p:sp>
        <p:nvSpPr>
          <p:cNvPr id="17" name="Icon circle"/>
          <p:cNvSpPr/>
          <p:nvPr/>
        </p:nvSpPr>
        <p:spPr>
          <a:xfrm>
            <a:off x="5687568" y="1874520"/>
            <a:ext cx="685800" cy="685800"/>
          </a:xfrm>
          <a:prstGeom prst="ellipse">
            <a:avLst/>
          </a:prstGeom>
          <a:solidFill>
            <a:schemeClr val="accent1"/>
          </a:solidFill>
          <a:ln w="12700">
            <a:solidFill>
              <a:schemeClr val="accent1"/>
            </a:solidFill>
            <a:prstDash val="solid"/>
          </a:ln>
        </p:spPr>
      </p:sp>
      <p:pic>
        <p:nvPicPr>
          <p:cNvPr id="18" name="Image 2" descr="ShieldAlt icon">    </p:cNvPr>
          <p:cNvPicPr>
            <a:picLocks noChangeAspect="1"/>
          </p:cNvPicPr>
          <p:nvPr/>
        </p:nvPicPr>
        <p:blipFill>
          <a:blip r:embed="rId3"/>
          <a:stretch>
            <a:fillRect/>
          </a:stretch>
        </p:blipFill>
        <p:spPr>
          <a:xfrm>
            <a:off x="5872734" y="2059686"/>
            <a:ext cx="315468" cy="315468"/>
          </a:xfrm>
          <a:prstGeom prst="rect">
            <a:avLst/>
          </a:prstGeom>
        </p:spPr>
      </p:pic>
      <p:sp>
        <p:nvSpPr>
          <p:cNvPr id="19" name="Text 14"/>
          <p:cNvSpPr txBox="1"/>
          <p:nvPr/>
        </p:nvSpPr>
        <p:spPr>
          <a:xfrm>
            <a:off x="5166360" y="2743200"/>
            <a:ext cx="1737360" cy="502920"/>
          </a:xfrm>
          <a:prstGeom prst="rect">
            <a:avLst/>
          </a:prstGeom>
          <a:noFill/>
          <a:ln/>
        </p:spPr>
        <p:txBody>
          <a:bodyPr wrap="square" lIns="0" tIns="0" rIns="0" bIns="0" rtlCol="0" anchor="t"/>
          <a:lstStyle/>
          <a:p>
            <a:pPr algn="ctr" indent="0" marL="0">
              <a:buNone/>
            </a:pPr>
            <a:r>
              <a:rPr lang="en-US" sz="1600" b="1" dirty="0">
                <a:solidFill>
                  <a:schemeClr val="tx1"/>
                </a:solidFill>
              </a:rPr>
              <a:t>Normalize and check</a:t>
            </a:r>
            <a:endParaRPr lang="en-US" sz="1600" dirty="0"/>
          </a:p>
        </p:txBody>
      </p:sp>
      <p:sp>
        <p:nvSpPr>
          <p:cNvPr id="20" name="Text 15"/>
          <p:cNvSpPr txBox="1"/>
          <p:nvPr/>
        </p:nvSpPr>
        <p:spPr>
          <a:xfrm>
            <a:off x="5166360" y="3291840"/>
            <a:ext cx="1737360" cy="1005840"/>
          </a:xfrm>
          <a:prstGeom prst="rect">
            <a:avLst/>
          </a:prstGeom>
          <a:noFill/>
          <a:ln/>
        </p:spPr>
        <p:txBody>
          <a:bodyPr wrap="square" lIns="0" tIns="0" rIns="0" bIns="0" rtlCol="0" anchor="t"/>
          <a:lstStyle/>
          <a:p>
            <a:pPr algn="ctr" indent="0" marL="0">
              <a:buNone/>
            </a:pPr>
            <a:r>
              <a:rPr lang="en-US" sz="1300" dirty="0">
                <a:solidFill>
                  <a:schemeClr val="accent5"/>
                </a:solidFill>
              </a:rPr>
              <a:t>Spelling rules, language ID, duplicate and leak control</a:t>
            </a:r>
            <a:endParaRPr lang="en-US" sz="1300" dirty="0"/>
          </a:p>
        </p:txBody>
      </p:sp>
      <p:sp>
        <p:nvSpPr>
          <p:cNvPr id="21" name="Flow arrow"/>
          <p:cNvSpPr/>
          <p:nvPr/>
        </p:nvSpPr>
        <p:spPr>
          <a:xfrm>
            <a:off x="7050024" y="2788920"/>
            <a:ext cx="201168" cy="256032"/>
          </a:xfrm>
          <a:prstGeom prst="rightArrow">
            <a:avLst/>
          </a:prstGeom>
          <a:solidFill>
            <a:schemeClr val="accent1"/>
          </a:solidFill>
          <a:ln w="12700">
            <a:solidFill>
              <a:schemeClr val="accent1"/>
            </a:solidFill>
            <a:prstDash val="solid"/>
          </a:ln>
        </p:spPr>
      </p:sp>
      <p:sp>
        <p:nvSpPr>
          <p:cNvPr id="22" name="Pipeline step"/>
          <p:cNvSpPr/>
          <p:nvPr/>
        </p:nvSpPr>
        <p:spPr>
          <a:xfrm>
            <a:off x="7269480" y="1645920"/>
            <a:ext cx="2011680" cy="2743200"/>
          </a:xfrm>
          <a:prstGeom prst="roundRect">
            <a:avLst>
              <a:gd name="adj" fmla="val 5455"/>
            </a:avLst>
          </a:prstGeom>
          <a:solidFill>
            <a:schemeClr val="bg2"/>
          </a:solidFill>
          <a:ln w="12700">
            <a:solidFill>
              <a:schemeClr val="bg2"/>
            </a:solidFill>
            <a:prstDash val="solid"/>
          </a:ln>
        </p:spPr>
      </p:sp>
      <p:sp>
        <p:nvSpPr>
          <p:cNvPr id="23" name="Icon circle"/>
          <p:cNvSpPr/>
          <p:nvPr/>
        </p:nvSpPr>
        <p:spPr>
          <a:xfrm>
            <a:off x="7927848" y="1874520"/>
            <a:ext cx="685800" cy="685800"/>
          </a:xfrm>
          <a:prstGeom prst="ellipse">
            <a:avLst/>
          </a:prstGeom>
          <a:solidFill>
            <a:schemeClr val="accent1"/>
          </a:solidFill>
          <a:ln w="12700">
            <a:solidFill>
              <a:schemeClr val="accent1"/>
            </a:solidFill>
            <a:prstDash val="solid"/>
          </a:ln>
        </p:spPr>
      </p:sp>
      <p:pic>
        <p:nvPicPr>
          <p:cNvPr id="24" name="Image 3" descr="Microchip icon">    </p:cNvPr>
          <p:cNvPicPr>
            <a:picLocks noChangeAspect="1"/>
          </p:cNvPicPr>
          <p:nvPr/>
        </p:nvPicPr>
        <p:blipFill>
          <a:blip r:embed="rId4"/>
          <a:stretch>
            <a:fillRect/>
          </a:stretch>
        </p:blipFill>
        <p:spPr>
          <a:xfrm>
            <a:off x="8113014" y="2059686"/>
            <a:ext cx="315468" cy="315468"/>
          </a:xfrm>
          <a:prstGeom prst="rect">
            <a:avLst/>
          </a:prstGeom>
        </p:spPr>
      </p:pic>
      <p:sp>
        <p:nvSpPr>
          <p:cNvPr id="25" name="Text 19"/>
          <p:cNvSpPr txBox="1"/>
          <p:nvPr/>
        </p:nvSpPr>
        <p:spPr>
          <a:xfrm>
            <a:off x="7406640" y="2743200"/>
            <a:ext cx="1737360" cy="502920"/>
          </a:xfrm>
          <a:prstGeom prst="rect">
            <a:avLst/>
          </a:prstGeom>
          <a:noFill/>
          <a:ln/>
        </p:spPr>
        <p:txBody>
          <a:bodyPr wrap="square" lIns="0" tIns="0" rIns="0" bIns="0" rtlCol="0" anchor="t"/>
          <a:lstStyle/>
          <a:p>
            <a:pPr algn="ctr" indent="0" marL="0">
              <a:buNone/>
            </a:pPr>
            <a:r>
              <a:rPr lang="en-US" sz="1600" b="1" dirty="0">
                <a:solidFill>
                  <a:schemeClr val="tx1"/>
                </a:solidFill>
              </a:rPr>
              <a:t>Fine-tune</a:t>
            </a:r>
            <a:endParaRPr lang="en-US" sz="1600" dirty="0"/>
          </a:p>
        </p:txBody>
      </p:sp>
      <p:sp>
        <p:nvSpPr>
          <p:cNvPr id="26" name="Text 20"/>
          <p:cNvSpPr txBox="1"/>
          <p:nvPr/>
        </p:nvSpPr>
        <p:spPr>
          <a:xfrm>
            <a:off x="7406640" y="3291840"/>
            <a:ext cx="1737360" cy="1005840"/>
          </a:xfrm>
          <a:prstGeom prst="rect">
            <a:avLst/>
          </a:prstGeom>
          <a:noFill/>
          <a:ln/>
        </p:spPr>
        <p:txBody>
          <a:bodyPr wrap="square" lIns="0" tIns="0" rIns="0" bIns="0" rtlCol="0" anchor="t"/>
          <a:lstStyle/>
          <a:p>
            <a:pPr algn="ctr" indent="0" marL="0">
              <a:buNone/>
            </a:pPr>
            <a:r>
              <a:rPr lang="en-US" sz="1300" dirty="0">
                <a:solidFill>
                  <a:schemeClr val="accent5"/>
                </a:solidFill>
              </a:rPr>
              <a:t>NLLB-200 on a Colab T4 GPU</a:t>
            </a:r>
            <a:endParaRPr lang="en-US" sz="1300" dirty="0"/>
          </a:p>
        </p:txBody>
      </p:sp>
      <p:sp>
        <p:nvSpPr>
          <p:cNvPr id="27" name="Flow arrow"/>
          <p:cNvSpPr/>
          <p:nvPr/>
        </p:nvSpPr>
        <p:spPr>
          <a:xfrm>
            <a:off x="9290304" y="2788920"/>
            <a:ext cx="201168" cy="256032"/>
          </a:xfrm>
          <a:prstGeom prst="rightArrow">
            <a:avLst/>
          </a:prstGeom>
          <a:solidFill>
            <a:schemeClr val="accent1"/>
          </a:solidFill>
          <a:ln w="12700">
            <a:solidFill>
              <a:schemeClr val="accent1"/>
            </a:solidFill>
            <a:prstDash val="solid"/>
          </a:ln>
        </p:spPr>
      </p:sp>
      <p:sp>
        <p:nvSpPr>
          <p:cNvPr id="28" name="Pipeline step"/>
          <p:cNvSpPr/>
          <p:nvPr/>
        </p:nvSpPr>
        <p:spPr>
          <a:xfrm>
            <a:off x="9509760" y="1645920"/>
            <a:ext cx="2011680" cy="2743200"/>
          </a:xfrm>
          <a:prstGeom prst="roundRect">
            <a:avLst>
              <a:gd name="adj" fmla="val 5455"/>
            </a:avLst>
          </a:prstGeom>
          <a:solidFill>
            <a:schemeClr val="bg2"/>
          </a:solidFill>
          <a:ln w="12700">
            <a:solidFill>
              <a:schemeClr val="bg2"/>
            </a:solidFill>
            <a:prstDash val="solid"/>
          </a:ln>
        </p:spPr>
      </p:sp>
      <p:sp>
        <p:nvSpPr>
          <p:cNvPr id="29" name="Icon circle"/>
          <p:cNvSpPr/>
          <p:nvPr/>
        </p:nvSpPr>
        <p:spPr>
          <a:xfrm>
            <a:off x="10168128" y="1874520"/>
            <a:ext cx="685800" cy="685800"/>
          </a:xfrm>
          <a:prstGeom prst="ellipse">
            <a:avLst/>
          </a:prstGeom>
          <a:solidFill>
            <a:schemeClr val="accent1"/>
          </a:solidFill>
          <a:ln w="12700">
            <a:solidFill>
              <a:schemeClr val="accent1"/>
            </a:solidFill>
            <a:prstDash val="solid"/>
          </a:ln>
        </p:spPr>
      </p:sp>
      <p:pic>
        <p:nvPicPr>
          <p:cNvPr id="30" name="Image 4" descr="Laptop icon">    </p:cNvPr>
          <p:cNvPicPr>
            <a:picLocks noChangeAspect="1"/>
          </p:cNvPicPr>
          <p:nvPr/>
        </p:nvPicPr>
        <p:blipFill>
          <a:blip r:embed="rId5"/>
          <a:stretch>
            <a:fillRect/>
          </a:stretch>
        </p:blipFill>
        <p:spPr>
          <a:xfrm>
            <a:off x="10353294" y="2059686"/>
            <a:ext cx="315468" cy="315468"/>
          </a:xfrm>
          <a:prstGeom prst="rect">
            <a:avLst/>
          </a:prstGeom>
        </p:spPr>
      </p:pic>
      <p:sp>
        <p:nvSpPr>
          <p:cNvPr id="31" name="Text 24"/>
          <p:cNvSpPr txBox="1"/>
          <p:nvPr/>
        </p:nvSpPr>
        <p:spPr>
          <a:xfrm>
            <a:off x="9646920" y="2743200"/>
            <a:ext cx="1737360" cy="502920"/>
          </a:xfrm>
          <a:prstGeom prst="rect">
            <a:avLst/>
          </a:prstGeom>
          <a:noFill/>
          <a:ln/>
        </p:spPr>
        <p:txBody>
          <a:bodyPr wrap="square" lIns="0" tIns="0" rIns="0" bIns="0" rtlCol="0" anchor="t"/>
          <a:lstStyle/>
          <a:p>
            <a:pPr algn="ctr" indent="0" marL="0">
              <a:buNone/>
            </a:pPr>
            <a:r>
              <a:rPr lang="en-US" sz="1600" b="1" dirty="0">
                <a:solidFill>
                  <a:schemeClr val="tx1"/>
                </a:solidFill>
              </a:rPr>
              <a:t>Evaluate and serve</a:t>
            </a:r>
            <a:endParaRPr lang="en-US" sz="1600" dirty="0"/>
          </a:p>
        </p:txBody>
      </p:sp>
      <p:sp>
        <p:nvSpPr>
          <p:cNvPr id="32" name="Text 25"/>
          <p:cNvSpPr txBox="1"/>
          <p:nvPr/>
        </p:nvSpPr>
        <p:spPr>
          <a:xfrm>
            <a:off x="9646920" y="3291840"/>
            <a:ext cx="1737360" cy="1005840"/>
          </a:xfrm>
          <a:prstGeom prst="rect">
            <a:avLst/>
          </a:prstGeom>
          <a:noFill/>
          <a:ln/>
        </p:spPr>
        <p:txBody>
          <a:bodyPr wrap="square" lIns="0" tIns="0" rIns="0" bIns="0" rtlCol="0" anchor="t"/>
          <a:lstStyle/>
          <a:p>
            <a:pPr algn="ctr" indent="0" marL="0">
              <a:buNone/>
            </a:pPr>
            <a:r>
              <a:rPr lang="en-US" sz="1300" dirty="0">
                <a:solidFill>
                  <a:schemeClr val="accent5"/>
                </a:solidFill>
              </a:rPr>
              <a:t>Three test sets, local app, Colab demo</a:t>
            </a:r>
            <a:endParaRPr lang="en-US" sz="1300" dirty="0"/>
          </a:p>
        </p:txBody>
      </p:sp>
      <p:sp>
        <p:nvSpPr>
          <p:cNvPr id="33" name="Tools card"/>
          <p:cNvSpPr/>
          <p:nvPr/>
        </p:nvSpPr>
        <p:spPr>
          <a:xfrm>
            <a:off x="548640" y="4754880"/>
            <a:ext cx="11091672" cy="1371600"/>
          </a:xfrm>
          <a:prstGeom prst="roundRect">
            <a:avLst>
              <a:gd name="adj" fmla="val 8000"/>
            </a:avLst>
          </a:prstGeom>
          <a:solidFill>
            <a:schemeClr val="tx2"/>
          </a:solidFill>
          <a:ln w="12700">
            <a:solidFill>
              <a:schemeClr val="tx2"/>
            </a:solidFill>
            <a:prstDash val="solid"/>
          </a:ln>
        </p:spPr>
      </p:sp>
      <p:sp>
        <p:nvSpPr>
          <p:cNvPr id="34" name="Text 27"/>
          <p:cNvSpPr txBox="1"/>
          <p:nvPr/>
        </p:nvSpPr>
        <p:spPr>
          <a:xfrm>
            <a:off x="822960" y="4892040"/>
            <a:ext cx="2743200" cy="320040"/>
          </a:xfrm>
          <a:prstGeom prst="rect">
            <a:avLst/>
          </a:prstGeom>
          <a:noFill/>
          <a:ln/>
        </p:spPr>
        <p:txBody>
          <a:bodyPr wrap="square" lIns="0" tIns="0" rIns="0" bIns="0" rtlCol="0" anchor="t"/>
          <a:lstStyle/>
          <a:p>
            <a:pPr indent="0" marL="0">
              <a:buNone/>
            </a:pPr>
            <a:r>
              <a:rPr lang="en-US" sz="1400" b="1" dirty="0">
                <a:solidFill>
                  <a:schemeClr val="accent2"/>
                </a:solidFill>
              </a:rPr>
              <a:t>Tools used</a:t>
            </a:r>
            <a:endParaRPr lang="en-US" sz="1400" dirty="0"/>
          </a:p>
        </p:txBody>
      </p:sp>
      <p:sp>
        <p:nvSpPr>
          <p:cNvPr id="35" name="Text 28"/>
          <p:cNvSpPr txBox="1"/>
          <p:nvPr/>
        </p:nvSpPr>
        <p:spPr>
          <a:xfrm>
            <a:off x="822960" y="5257800"/>
            <a:ext cx="10515600" cy="731520"/>
          </a:xfrm>
          <a:prstGeom prst="rect">
            <a:avLst/>
          </a:prstGeom>
          <a:noFill/>
          <a:ln/>
        </p:spPr>
        <p:txBody>
          <a:bodyPr wrap="square" lIns="0" tIns="0" rIns="0" bIns="0" rtlCol="0" anchor="t"/>
          <a:lstStyle/>
          <a:p>
            <a:pPr indent="0" marL="0">
              <a:buNone/>
            </a:pPr>
            <a:r>
              <a:rPr lang="en-US" sz="1500" dirty="0">
                <a:solidFill>
                  <a:schemeClr val="bg1"/>
                </a:solidFill>
              </a:rPr>
              <a:t>PyMuPDF and RapidOCR (scanned books)  ·  rapidfuzz and datasketch (duplicates)  ·  Hugging Face Transformers and PyTorch (training)  ·  sacreBLEU (scoring)  ·  Gradio (app)  ·  Google Colab T4 GPU</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Parallel data we collected</a:t>
            </a:r>
            <a:endParaRPr lang="en-US" sz="3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331720"/>
                <a:gridCol w="4572000"/>
                <a:gridCol w="2377440"/>
                <a:gridCol w="1810512"/>
              </a:tblGrid>
              <a:tr h="411480">
                <a:tc>
                  <a:txBody>
                    <a:bodyPr/>
                    <a:lstStyle/>
                    <a:p>
                      <a:pPr algn="l" indent="0" marL="0">
                        <a:buNone/>
                      </a:pPr>
                      <a:r>
                        <a:rPr lang="en-US" sz="1100" b="1" dirty="0">
                          <a:solidFill>
                            <a:srgbClr val="FFFFFF"/>
                          </a:solidFill>
                        </a:rPr>
                        <a:t>Source</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What it is</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Pairs used</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Licence / origin</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r>
              <a:tr h="566928">
                <a:tc>
                  <a:txBody>
                    <a:bodyPr/>
                    <a:lstStyle/>
                    <a:p>
                      <a:pPr indent="0" marL="0">
                        <a:buNone/>
                      </a:pPr>
                      <a:r>
                        <a:rPr lang="en-US" sz="1200" b="1" dirty="0">
                          <a:solidFill>
                            <a:srgbClr val="12303A"/>
                          </a:solidFill>
                        </a:rPr>
                        <a:t>NusaX-MT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Human Acehnese–Indonesian translations (IndoNLP)</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500 train, 100 val, 400 test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CC-BY-SA 4.0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FLORES-200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Meta's professional translations of Wikipedia-style sentences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797 train, 200 val, 1,012 test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CC-BY-SA 4.0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Hikayat Abu Sammah</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Verse story with Indonesian translation; scanned book (Depdikbud)</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1,432 train, 79 val, 143 test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Government book, credited</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Hikayat Malik Mawot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Verse edition with translation (Inayati, UIN Ar-Raniry, 2017)</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350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Thesis, credited</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Quran translation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Tgk. Mahjiddin Jusuf (Acehnese) with Kemenag (Indonesian)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5,466 verse pairs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Credited</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Wikipedia (OPUS)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Aligned Acehnese and Indonesian article sentences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375 of 557</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CC-BY-SA 4.0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NLLB-Seed pivot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Meta/OLDI: 6,193 human Acehnese sentences with English</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About 5,700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CC-BY-SA 4.0</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Team translations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Andrie's file (5,000 rows) and five short stories (103 pairs)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2,798 and 96</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Our team's work</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17,547-pair training mix</a:t>
            </a:r>
            <a:endParaRPr lang="en-US" sz="3600" dirty="0"/>
          </a:p>
        </p:txBody>
      </p:sp>
      <p:sp>
        <p:nvSpPr>
          <p:cNvPr id="4" name="Text 2"/>
          <p:cNvSpPr txBox="1"/>
          <p:nvPr/>
        </p:nvSpPr>
        <p:spPr>
          <a:xfrm>
            <a:off x="548640" y="147391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Quran verses</a:t>
            </a:r>
            <a:endParaRPr lang="en-US" sz="1300" dirty="0"/>
          </a:p>
        </p:txBody>
      </p:sp>
      <p:sp>
        <p:nvSpPr>
          <p:cNvPr id="5" name="Bar Quran verses"/>
          <p:cNvSpPr/>
          <p:nvPr/>
        </p:nvSpPr>
        <p:spPr>
          <a:xfrm>
            <a:off x="3154680" y="1473911"/>
            <a:ext cx="3305202" cy="333858"/>
          </a:xfrm>
          <a:prstGeom prst="rect">
            <a:avLst/>
          </a:prstGeom>
          <a:solidFill>
            <a:srgbClr val="0D9488"/>
          </a:solidFill>
          <a:ln w="12700">
            <a:solidFill>
              <a:srgbClr val="0D9488"/>
            </a:solidFill>
            <a:prstDash val="solid"/>
          </a:ln>
        </p:spPr>
      </p:sp>
      <p:sp>
        <p:nvSpPr>
          <p:cNvPr id="6" name="Text 4"/>
          <p:cNvSpPr txBox="1"/>
          <p:nvPr/>
        </p:nvSpPr>
        <p:spPr>
          <a:xfrm>
            <a:off x="6551322" y="147391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5,466</a:t>
            </a:r>
            <a:endParaRPr lang="en-US" sz="1300" dirty="0"/>
          </a:p>
        </p:txBody>
      </p:sp>
      <p:sp>
        <p:nvSpPr>
          <p:cNvPr id="7" name="Text 5"/>
          <p:cNvSpPr txBox="1"/>
          <p:nvPr/>
        </p:nvSpPr>
        <p:spPr>
          <a:xfrm>
            <a:off x="548640" y="201239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NLLB-Seed pivot (about)</a:t>
            </a:r>
            <a:endParaRPr lang="en-US" sz="1300" dirty="0"/>
          </a:p>
        </p:txBody>
      </p:sp>
      <p:sp>
        <p:nvSpPr>
          <p:cNvPr id="8" name="Bar NLLB-Seed pivot (about)"/>
          <p:cNvSpPr/>
          <p:nvPr/>
        </p:nvSpPr>
        <p:spPr>
          <a:xfrm>
            <a:off x="3154680" y="2012391"/>
            <a:ext cx="3466653" cy="333858"/>
          </a:xfrm>
          <a:prstGeom prst="rect">
            <a:avLst/>
          </a:prstGeom>
          <a:solidFill>
            <a:srgbClr val="0D9488"/>
          </a:solidFill>
          <a:ln w="12700">
            <a:solidFill>
              <a:srgbClr val="0D9488"/>
            </a:solidFill>
            <a:prstDash val="solid"/>
          </a:ln>
        </p:spPr>
      </p:sp>
      <p:sp>
        <p:nvSpPr>
          <p:cNvPr id="9" name="Text 7"/>
          <p:cNvSpPr txBox="1"/>
          <p:nvPr/>
        </p:nvSpPr>
        <p:spPr>
          <a:xfrm>
            <a:off x="6712773" y="201239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5,733</a:t>
            </a:r>
            <a:endParaRPr lang="en-US" sz="1300" dirty="0"/>
          </a:p>
        </p:txBody>
      </p:sp>
      <p:sp>
        <p:nvSpPr>
          <p:cNvPr id="10" name="Text 8"/>
          <p:cNvSpPr txBox="1"/>
          <p:nvPr/>
        </p:nvSpPr>
        <p:spPr>
          <a:xfrm>
            <a:off x="548640" y="255087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Team: Andrie's pairs</a:t>
            </a:r>
            <a:endParaRPr lang="en-US" sz="1300" dirty="0"/>
          </a:p>
        </p:txBody>
      </p:sp>
      <p:sp>
        <p:nvSpPr>
          <p:cNvPr id="11" name="Bar Team: Andrie's pairs"/>
          <p:cNvSpPr/>
          <p:nvPr/>
        </p:nvSpPr>
        <p:spPr>
          <a:xfrm>
            <a:off x="3154680" y="2550871"/>
            <a:ext cx="1691905" cy="333858"/>
          </a:xfrm>
          <a:prstGeom prst="rect">
            <a:avLst/>
          </a:prstGeom>
          <a:solidFill>
            <a:srgbClr val="0D9488"/>
          </a:solidFill>
          <a:ln w="12700">
            <a:solidFill>
              <a:srgbClr val="0D9488"/>
            </a:solidFill>
            <a:prstDash val="solid"/>
          </a:ln>
        </p:spPr>
      </p:sp>
      <p:sp>
        <p:nvSpPr>
          <p:cNvPr id="12" name="Text 10"/>
          <p:cNvSpPr txBox="1"/>
          <p:nvPr/>
        </p:nvSpPr>
        <p:spPr>
          <a:xfrm>
            <a:off x="4938025" y="255087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2,798</a:t>
            </a:r>
            <a:endParaRPr lang="en-US" sz="1300" dirty="0"/>
          </a:p>
        </p:txBody>
      </p:sp>
      <p:sp>
        <p:nvSpPr>
          <p:cNvPr id="13" name="Text 11"/>
          <p:cNvSpPr txBox="1"/>
          <p:nvPr/>
        </p:nvSpPr>
        <p:spPr>
          <a:xfrm>
            <a:off x="548640" y="308935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Hikayat Abu Sammah</a:t>
            </a:r>
            <a:endParaRPr lang="en-US" sz="1300" dirty="0"/>
          </a:p>
        </p:txBody>
      </p:sp>
      <p:sp>
        <p:nvSpPr>
          <p:cNvPr id="14" name="Bar Hikayat Abu Sammah"/>
          <p:cNvSpPr/>
          <p:nvPr/>
        </p:nvSpPr>
        <p:spPr>
          <a:xfrm>
            <a:off x="3154680" y="3089351"/>
            <a:ext cx="865907" cy="333858"/>
          </a:xfrm>
          <a:prstGeom prst="rect">
            <a:avLst/>
          </a:prstGeom>
          <a:solidFill>
            <a:srgbClr val="0D9488"/>
          </a:solidFill>
          <a:ln w="12700">
            <a:solidFill>
              <a:srgbClr val="0D9488"/>
            </a:solidFill>
            <a:prstDash val="solid"/>
          </a:ln>
        </p:spPr>
      </p:sp>
      <p:sp>
        <p:nvSpPr>
          <p:cNvPr id="15" name="Text 13"/>
          <p:cNvSpPr txBox="1"/>
          <p:nvPr/>
        </p:nvSpPr>
        <p:spPr>
          <a:xfrm>
            <a:off x="4112027" y="308935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1,432</a:t>
            </a:r>
            <a:endParaRPr lang="en-US" sz="1300" dirty="0"/>
          </a:p>
        </p:txBody>
      </p:sp>
      <p:sp>
        <p:nvSpPr>
          <p:cNvPr id="16" name="Text 14"/>
          <p:cNvSpPr txBox="1"/>
          <p:nvPr/>
        </p:nvSpPr>
        <p:spPr>
          <a:xfrm>
            <a:off x="548640" y="362783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FLORES dev</a:t>
            </a:r>
            <a:endParaRPr lang="en-US" sz="1300" dirty="0"/>
          </a:p>
        </p:txBody>
      </p:sp>
      <p:sp>
        <p:nvSpPr>
          <p:cNvPr id="17" name="Bar FLORES dev"/>
          <p:cNvSpPr/>
          <p:nvPr/>
        </p:nvSpPr>
        <p:spPr>
          <a:xfrm>
            <a:off x="3154680" y="3627831"/>
            <a:ext cx="481933" cy="333858"/>
          </a:xfrm>
          <a:prstGeom prst="rect">
            <a:avLst/>
          </a:prstGeom>
          <a:solidFill>
            <a:srgbClr val="0D9488"/>
          </a:solidFill>
          <a:ln w="12700">
            <a:solidFill>
              <a:srgbClr val="0D9488"/>
            </a:solidFill>
            <a:prstDash val="solid"/>
          </a:ln>
        </p:spPr>
      </p:sp>
      <p:sp>
        <p:nvSpPr>
          <p:cNvPr id="18" name="Text 16"/>
          <p:cNvSpPr txBox="1"/>
          <p:nvPr/>
        </p:nvSpPr>
        <p:spPr>
          <a:xfrm>
            <a:off x="3728053" y="362783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797</a:t>
            </a:r>
            <a:endParaRPr lang="en-US" sz="1300" dirty="0"/>
          </a:p>
        </p:txBody>
      </p:sp>
      <p:sp>
        <p:nvSpPr>
          <p:cNvPr id="19" name="Text 17"/>
          <p:cNvSpPr txBox="1"/>
          <p:nvPr/>
        </p:nvSpPr>
        <p:spPr>
          <a:xfrm>
            <a:off x="548640" y="416631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NusaX train</a:t>
            </a:r>
            <a:endParaRPr lang="en-US" sz="1300" dirty="0"/>
          </a:p>
        </p:txBody>
      </p:sp>
      <p:sp>
        <p:nvSpPr>
          <p:cNvPr id="20" name="Bar NusaX train"/>
          <p:cNvSpPr/>
          <p:nvPr/>
        </p:nvSpPr>
        <p:spPr>
          <a:xfrm>
            <a:off x="3154680" y="4166311"/>
            <a:ext cx="302342" cy="333858"/>
          </a:xfrm>
          <a:prstGeom prst="rect">
            <a:avLst/>
          </a:prstGeom>
          <a:solidFill>
            <a:srgbClr val="0D9488"/>
          </a:solidFill>
          <a:ln w="12700">
            <a:solidFill>
              <a:srgbClr val="0D9488"/>
            </a:solidFill>
            <a:prstDash val="solid"/>
          </a:ln>
        </p:spPr>
      </p:sp>
      <p:sp>
        <p:nvSpPr>
          <p:cNvPr id="21" name="Text 19"/>
          <p:cNvSpPr txBox="1"/>
          <p:nvPr/>
        </p:nvSpPr>
        <p:spPr>
          <a:xfrm>
            <a:off x="3548462" y="416631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500</a:t>
            </a:r>
            <a:endParaRPr lang="en-US" sz="1300" dirty="0"/>
          </a:p>
        </p:txBody>
      </p:sp>
      <p:sp>
        <p:nvSpPr>
          <p:cNvPr id="22" name="Text 20"/>
          <p:cNvSpPr txBox="1"/>
          <p:nvPr/>
        </p:nvSpPr>
        <p:spPr>
          <a:xfrm>
            <a:off x="548640" y="470479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Wikipedia</a:t>
            </a:r>
            <a:endParaRPr lang="en-US" sz="1300" dirty="0"/>
          </a:p>
        </p:txBody>
      </p:sp>
      <p:sp>
        <p:nvSpPr>
          <p:cNvPr id="23" name="Bar Wikipedia"/>
          <p:cNvSpPr/>
          <p:nvPr/>
        </p:nvSpPr>
        <p:spPr>
          <a:xfrm>
            <a:off x="3154680" y="4704791"/>
            <a:ext cx="226756" cy="333858"/>
          </a:xfrm>
          <a:prstGeom prst="rect">
            <a:avLst/>
          </a:prstGeom>
          <a:solidFill>
            <a:srgbClr val="0D9488"/>
          </a:solidFill>
          <a:ln w="12700">
            <a:solidFill>
              <a:srgbClr val="0D9488"/>
            </a:solidFill>
            <a:prstDash val="solid"/>
          </a:ln>
        </p:spPr>
      </p:sp>
      <p:sp>
        <p:nvSpPr>
          <p:cNvPr id="24" name="Text 22"/>
          <p:cNvSpPr txBox="1"/>
          <p:nvPr/>
        </p:nvSpPr>
        <p:spPr>
          <a:xfrm>
            <a:off x="3472876" y="470479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375</a:t>
            </a:r>
            <a:endParaRPr lang="en-US" sz="1300" dirty="0"/>
          </a:p>
        </p:txBody>
      </p:sp>
      <p:sp>
        <p:nvSpPr>
          <p:cNvPr id="25" name="Text 23"/>
          <p:cNvSpPr txBox="1"/>
          <p:nvPr/>
        </p:nvSpPr>
        <p:spPr>
          <a:xfrm>
            <a:off x="548640" y="524327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Hikayat Malik Mawot</a:t>
            </a:r>
            <a:endParaRPr lang="en-US" sz="1300" dirty="0"/>
          </a:p>
        </p:txBody>
      </p:sp>
      <p:sp>
        <p:nvSpPr>
          <p:cNvPr id="26" name="Bar Hikayat Malik Mawot"/>
          <p:cNvSpPr/>
          <p:nvPr/>
        </p:nvSpPr>
        <p:spPr>
          <a:xfrm>
            <a:off x="3154680" y="5243271"/>
            <a:ext cx="211639" cy="333858"/>
          </a:xfrm>
          <a:prstGeom prst="rect">
            <a:avLst/>
          </a:prstGeom>
          <a:solidFill>
            <a:srgbClr val="0D9488"/>
          </a:solidFill>
          <a:ln w="12700">
            <a:solidFill>
              <a:srgbClr val="0D9488"/>
            </a:solidFill>
            <a:prstDash val="solid"/>
          </a:ln>
        </p:spPr>
      </p:sp>
      <p:sp>
        <p:nvSpPr>
          <p:cNvPr id="27" name="Text 25"/>
          <p:cNvSpPr txBox="1"/>
          <p:nvPr/>
        </p:nvSpPr>
        <p:spPr>
          <a:xfrm>
            <a:off x="3457759" y="524327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350</a:t>
            </a:r>
            <a:endParaRPr lang="en-US" sz="1300" dirty="0"/>
          </a:p>
        </p:txBody>
      </p:sp>
      <p:sp>
        <p:nvSpPr>
          <p:cNvPr id="28" name="Text 26"/>
          <p:cNvSpPr txBox="1"/>
          <p:nvPr/>
        </p:nvSpPr>
        <p:spPr>
          <a:xfrm>
            <a:off x="548640" y="5781751"/>
            <a:ext cx="2468880" cy="333858"/>
          </a:xfrm>
          <a:prstGeom prst="rect">
            <a:avLst/>
          </a:prstGeom>
          <a:noFill/>
          <a:ln/>
        </p:spPr>
        <p:txBody>
          <a:bodyPr wrap="square" lIns="0" tIns="0" rIns="0" bIns="0" rtlCol="0" anchor="ctr"/>
          <a:lstStyle/>
          <a:p>
            <a:pPr algn="r" indent="0" marL="0">
              <a:buNone/>
            </a:pPr>
            <a:r>
              <a:rPr lang="en-US" sz="1300" dirty="0">
                <a:solidFill>
                  <a:schemeClr val="tx1"/>
                </a:solidFill>
              </a:rPr>
              <a:t>Team: stories</a:t>
            </a:r>
            <a:endParaRPr lang="en-US" sz="1300" dirty="0"/>
          </a:p>
        </p:txBody>
      </p:sp>
      <p:sp>
        <p:nvSpPr>
          <p:cNvPr id="29" name="Bar Team: stories"/>
          <p:cNvSpPr/>
          <p:nvPr/>
        </p:nvSpPr>
        <p:spPr>
          <a:xfrm>
            <a:off x="3154680" y="5781751"/>
            <a:ext cx="58050" cy="333858"/>
          </a:xfrm>
          <a:prstGeom prst="rect">
            <a:avLst/>
          </a:prstGeom>
          <a:solidFill>
            <a:srgbClr val="0D9488"/>
          </a:solidFill>
          <a:ln w="12700">
            <a:solidFill>
              <a:srgbClr val="0D9488"/>
            </a:solidFill>
            <a:prstDash val="solid"/>
          </a:ln>
        </p:spPr>
      </p:sp>
      <p:sp>
        <p:nvSpPr>
          <p:cNvPr id="30" name="Text 28"/>
          <p:cNvSpPr txBox="1"/>
          <p:nvPr/>
        </p:nvSpPr>
        <p:spPr>
          <a:xfrm>
            <a:off x="3304170" y="5781751"/>
            <a:ext cx="777240" cy="333858"/>
          </a:xfrm>
          <a:prstGeom prst="rect">
            <a:avLst/>
          </a:prstGeom>
          <a:noFill/>
          <a:ln/>
        </p:spPr>
        <p:txBody>
          <a:bodyPr wrap="square" lIns="0" tIns="0" rIns="0" bIns="0" rtlCol="0" anchor="ctr"/>
          <a:lstStyle/>
          <a:p>
            <a:pPr indent="0" marL="0">
              <a:buNone/>
            </a:pPr>
            <a:r>
              <a:rPr lang="en-US" sz="1300" b="1" dirty="0">
                <a:solidFill>
                  <a:schemeClr val="tx1"/>
                </a:solidFill>
              </a:rPr>
              <a:t>96</a:t>
            </a:r>
            <a:endParaRPr lang="en-US" sz="1300" dirty="0"/>
          </a:p>
        </p:txBody>
      </p:sp>
      <p:sp>
        <p:nvSpPr>
          <p:cNvPr id="31" name="Stat card"/>
          <p:cNvSpPr/>
          <p:nvPr/>
        </p:nvSpPr>
        <p:spPr>
          <a:xfrm>
            <a:off x="8138160" y="1463040"/>
            <a:ext cx="3502152" cy="1371600"/>
          </a:xfrm>
          <a:prstGeom prst="roundRect">
            <a:avLst>
              <a:gd name="adj" fmla="val 8000"/>
            </a:avLst>
          </a:prstGeom>
          <a:solidFill>
            <a:schemeClr val="bg2"/>
          </a:solidFill>
          <a:ln w="12700">
            <a:solidFill>
              <a:schemeClr val="bg2"/>
            </a:solidFill>
            <a:prstDash val="solid"/>
          </a:ln>
        </p:spPr>
      </p:sp>
      <p:sp>
        <p:nvSpPr>
          <p:cNvPr id="32" name="Stat validation sentences (pick the best epoch)"/>
          <p:cNvSpPr txBox="1"/>
          <p:nvPr/>
        </p:nvSpPr>
        <p:spPr>
          <a:xfrm>
            <a:off x="8366760" y="1554480"/>
            <a:ext cx="3108960" cy="731520"/>
          </a:xfrm>
          <a:prstGeom prst="rect">
            <a:avLst/>
          </a:prstGeom>
          <a:noFill/>
          <a:ln/>
        </p:spPr>
        <p:txBody>
          <a:bodyPr wrap="square" lIns="0" tIns="0" rIns="0" bIns="0" rtlCol="0" anchor="t"/>
          <a:lstStyle/>
          <a:p>
            <a:pPr indent="0" marL="0">
              <a:buNone/>
            </a:pPr>
            <a:r>
              <a:rPr lang="en-US" sz="3600" b="1" dirty="0">
                <a:solidFill>
                  <a:schemeClr val="accent1"/>
                </a:solidFill>
                <a:latin typeface="Georgia" pitchFamily="34" charset="0"/>
                <a:ea typeface="Georgia" pitchFamily="34" charset="-122"/>
                <a:cs typeface="Georgia" pitchFamily="34" charset="-120"/>
              </a:rPr>
              <a:t>379</a:t>
            </a:r>
            <a:endParaRPr lang="en-US" sz="3600" dirty="0"/>
          </a:p>
        </p:txBody>
      </p:sp>
      <p:sp>
        <p:nvSpPr>
          <p:cNvPr id="33" name="Text 31"/>
          <p:cNvSpPr txBox="1"/>
          <p:nvPr/>
        </p:nvSpPr>
        <p:spPr>
          <a:xfrm>
            <a:off x="8366760" y="2103120"/>
            <a:ext cx="3108960" cy="640080"/>
          </a:xfrm>
          <a:prstGeom prst="rect">
            <a:avLst/>
          </a:prstGeom>
          <a:noFill/>
          <a:ln/>
        </p:spPr>
        <p:txBody>
          <a:bodyPr wrap="square" lIns="0" tIns="0" rIns="0" bIns="0" rtlCol="0" anchor="t"/>
          <a:lstStyle/>
          <a:p>
            <a:pPr indent="0" marL="0">
              <a:buNone/>
            </a:pPr>
            <a:r>
              <a:rPr lang="en-US" sz="1400" dirty="0">
                <a:solidFill>
                  <a:schemeClr val="accent5"/>
                </a:solidFill>
              </a:rPr>
              <a:t>validation sentences (pick the best epoch)</a:t>
            </a:r>
            <a:endParaRPr lang="en-US" sz="1400" dirty="0"/>
          </a:p>
        </p:txBody>
      </p:sp>
      <p:sp>
        <p:nvSpPr>
          <p:cNvPr id="34" name="Stat card"/>
          <p:cNvSpPr/>
          <p:nvPr/>
        </p:nvSpPr>
        <p:spPr>
          <a:xfrm>
            <a:off x="8138160" y="3017520"/>
            <a:ext cx="3502152" cy="3108960"/>
          </a:xfrm>
          <a:prstGeom prst="roundRect">
            <a:avLst>
              <a:gd name="adj" fmla="val 3529"/>
            </a:avLst>
          </a:prstGeom>
          <a:solidFill>
            <a:schemeClr val="bg2"/>
          </a:solidFill>
          <a:ln w="12700">
            <a:solidFill>
              <a:schemeClr val="bg2"/>
            </a:solidFill>
            <a:prstDash val="solid"/>
          </a:ln>
        </p:spPr>
      </p:sp>
      <p:sp>
        <p:nvSpPr>
          <p:cNvPr id="35" name="Text 33"/>
          <p:cNvSpPr txBox="1"/>
          <p:nvPr/>
        </p:nvSpPr>
        <p:spPr>
          <a:xfrm>
            <a:off x="8366760" y="3154680"/>
            <a:ext cx="3108960" cy="365760"/>
          </a:xfrm>
          <a:prstGeom prst="rect">
            <a:avLst/>
          </a:prstGeom>
          <a:noFill/>
          <a:ln/>
        </p:spPr>
        <p:txBody>
          <a:bodyPr wrap="square" lIns="0" tIns="0" rIns="0" bIns="0" rtlCol="0" anchor="t"/>
          <a:lstStyle/>
          <a:p>
            <a:pPr indent="0" marL="0">
              <a:buNone/>
            </a:pPr>
            <a:r>
              <a:rPr lang="en-US" sz="1600" b="1" dirty="0">
                <a:solidFill>
                  <a:schemeClr val="tx1"/>
                </a:solidFill>
              </a:rPr>
              <a:t>Held-out test sets</a:t>
            </a:r>
            <a:endParaRPr lang="en-US" sz="1600" dirty="0"/>
          </a:p>
        </p:txBody>
      </p:sp>
      <p:sp>
        <p:nvSpPr>
          <p:cNvPr id="36" name="Text 34"/>
          <p:cNvSpPr txBox="1"/>
          <p:nvPr/>
        </p:nvSpPr>
        <p:spPr>
          <a:xfrm>
            <a:off x="8366760" y="3611880"/>
            <a:ext cx="1188720" cy="548640"/>
          </a:xfrm>
          <a:prstGeom prst="rect">
            <a:avLst/>
          </a:prstGeom>
          <a:noFill/>
          <a:ln/>
        </p:spPr>
        <p:txBody>
          <a:bodyPr wrap="square" lIns="0" tIns="0" rIns="0" bIns="0" rtlCol="0" anchor="t"/>
          <a:lstStyle/>
          <a:p>
            <a:pPr indent="0" marL="0">
              <a:buNone/>
            </a:pPr>
            <a:r>
              <a:rPr lang="en-US" sz="2800" b="1" dirty="0">
                <a:solidFill>
                  <a:schemeClr val="accent1"/>
                </a:solidFill>
                <a:latin typeface="Georgia" pitchFamily="34" charset="0"/>
                <a:ea typeface="Georgia" pitchFamily="34" charset="-122"/>
                <a:cs typeface="Georgia" pitchFamily="34" charset="-120"/>
              </a:rPr>
              <a:t>400</a:t>
            </a:r>
            <a:endParaRPr lang="en-US" sz="2800" dirty="0"/>
          </a:p>
        </p:txBody>
      </p:sp>
      <p:sp>
        <p:nvSpPr>
          <p:cNvPr id="37" name="Text 35"/>
          <p:cNvSpPr txBox="1"/>
          <p:nvPr/>
        </p:nvSpPr>
        <p:spPr>
          <a:xfrm>
            <a:off x="9555480" y="3703320"/>
            <a:ext cx="2011680" cy="548640"/>
          </a:xfrm>
          <a:prstGeom prst="rect">
            <a:avLst/>
          </a:prstGeom>
          <a:noFill/>
          <a:ln/>
        </p:spPr>
        <p:txBody>
          <a:bodyPr wrap="square" lIns="0" tIns="0" rIns="0" bIns="0" rtlCol="0" anchor="t"/>
          <a:lstStyle/>
          <a:p>
            <a:pPr indent="0" marL="0">
              <a:buNone/>
            </a:pPr>
            <a:r>
              <a:rPr lang="en-US" sz="1300" dirty="0">
                <a:solidFill>
                  <a:schemeClr val="accent5"/>
                </a:solidFill>
              </a:rPr>
              <a:t>NusaX: everyday text</a:t>
            </a:r>
            <a:endParaRPr lang="en-US" sz="1300" dirty="0"/>
          </a:p>
        </p:txBody>
      </p:sp>
      <p:sp>
        <p:nvSpPr>
          <p:cNvPr id="38" name="Text 36"/>
          <p:cNvSpPr txBox="1"/>
          <p:nvPr/>
        </p:nvSpPr>
        <p:spPr>
          <a:xfrm>
            <a:off x="8366760" y="4434840"/>
            <a:ext cx="1188720" cy="548640"/>
          </a:xfrm>
          <a:prstGeom prst="rect">
            <a:avLst/>
          </a:prstGeom>
          <a:noFill/>
          <a:ln/>
        </p:spPr>
        <p:txBody>
          <a:bodyPr wrap="square" lIns="0" tIns="0" rIns="0" bIns="0" rtlCol="0" anchor="t"/>
          <a:lstStyle/>
          <a:p>
            <a:pPr indent="0" marL="0">
              <a:buNone/>
            </a:pPr>
            <a:r>
              <a:rPr lang="en-US" sz="2800" b="1" dirty="0">
                <a:solidFill>
                  <a:schemeClr val="accent1"/>
                </a:solidFill>
                <a:latin typeface="Georgia" pitchFamily="34" charset="0"/>
                <a:ea typeface="Georgia" pitchFamily="34" charset="-122"/>
                <a:cs typeface="Georgia" pitchFamily="34" charset="-120"/>
              </a:rPr>
              <a:t>1,012</a:t>
            </a:r>
            <a:endParaRPr lang="en-US" sz="2800" dirty="0"/>
          </a:p>
        </p:txBody>
      </p:sp>
      <p:sp>
        <p:nvSpPr>
          <p:cNvPr id="39" name="Text 37"/>
          <p:cNvSpPr txBox="1"/>
          <p:nvPr/>
        </p:nvSpPr>
        <p:spPr>
          <a:xfrm>
            <a:off x="9555480" y="4526280"/>
            <a:ext cx="2011680" cy="548640"/>
          </a:xfrm>
          <a:prstGeom prst="rect">
            <a:avLst/>
          </a:prstGeom>
          <a:noFill/>
          <a:ln/>
        </p:spPr>
        <p:txBody>
          <a:bodyPr wrap="square" lIns="0" tIns="0" rIns="0" bIns="0" rtlCol="0" anchor="t"/>
          <a:lstStyle/>
          <a:p>
            <a:pPr indent="0" marL="0">
              <a:buNone/>
            </a:pPr>
            <a:r>
              <a:rPr lang="en-US" sz="1300" dirty="0">
                <a:solidFill>
                  <a:schemeClr val="accent5"/>
                </a:solidFill>
              </a:rPr>
              <a:t>FLORES: Wikipedia style</a:t>
            </a:r>
            <a:endParaRPr lang="en-US" sz="1300" dirty="0"/>
          </a:p>
        </p:txBody>
      </p:sp>
      <p:sp>
        <p:nvSpPr>
          <p:cNvPr id="40" name="Text 38"/>
          <p:cNvSpPr txBox="1"/>
          <p:nvPr/>
        </p:nvSpPr>
        <p:spPr>
          <a:xfrm>
            <a:off x="8366760" y="5257800"/>
            <a:ext cx="1188720" cy="548640"/>
          </a:xfrm>
          <a:prstGeom prst="rect">
            <a:avLst/>
          </a:prstGeom>
          <a:noFill/>
          <a:ln/>
        </p:spPr>
        <p:txBody>
          <a:bodyPr wrap="square" lIns="0" tIns="0" rIns="0" bIns="0" rtlCol="0" anchor="t"/>
          <a:lstStyle/>
          <a:p>
            <a:pPr indent="0" marL="0">
              <a:buNone/>
            </a:pPr>
            <a:r>
              <a:rPr lang="en-US" sz="2800" b="1" dirty="0">
                <a:solidFill>
                  <a:schemeClr val="accent1"/>
                </a:solidFill>
                <a:latin typeface="Georgia" pitchFamily="34" charset="0"/>
                <a:ea typeface="Georgia" pitchFamily="34" charset="-122"/>
                <a:cs typeface="Georgia" pitchFamily="34" charset="-120"/>
              </a:rPr>
              <a:t>143</a:t>
            </a:r>
            <a:endParaRPr lang="en-US" sz="2800" dirty="0"/>
          </a:p>
        </p:txBody>
      </p:sp>
      <p:sp>
        <p:nvSpPr>
          <p:cNvPr id="41" name="Text 39"/>
          <p:cNvSpPr txBox="1"/>
          <p:nvPr/>
        </p:nvSpPr>
        <p:spPr>
          <a:xfrm>
            <a:off x="9555480" y="5349240"/>
            <a:ext cx="2011680" cy="548640"/>
          </a:xfrm>
          <a:prstGeom prst="rect">
            <a:avLst/>
          </a:prstGeom>
          <a:noFill/>
          <a:ln/>
        </p:spPr>
        <p:txBody>
          <a:bodyPr wrap="square" lIns="0" tIns="0" rIns="0" bIns="0" rtlCol="0" anchor="t"/>
          <a:lstStyle/>
          <a:p>
            <a:pPr indent="0" marL="0">
              <a:buNone/>
            </a:pPr>
            <a:r>
              <a:rPr lang="en-US" sz="1300" dirty="0">
                <a:solidFill>
                  <a:schemeClr val="accent5"/>
                </a:solidFill>
              </a:rPr>
              <a:t>Hikayat: old verse (pages 50–53)</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From a scanned book to pairs</a:t>
            </a:r>
            <a:endParaRPr lang="en-US" sz="3600" dirty="0"/>
          </a:p>
        </p:txBody>
      </p:sp>
      <p:sp>
        <p:nvSpPr>
          <p:cNvPr id="4" name="Step number"/>
          <p:cNvSpPr/>
          <p:nvPr/>
        </p:nvSpPr>
        <p:spPr>
          <a:xfrm>
            <a:off x="548640" y="141732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548640" y="14173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34440" y="1399032"/>
            <a:ext cx="5394960" cy="594360"/>
          </a:xfrm>
          <a:prstGeom prst="rect">
            <a:avLst/>
          </a:prstGeom>
          <a:noFill/>
          <a:ln/>
        </p:spPr>
        <p:txBody>
          <a:bodyPr wrap="square" lIns="0" tIns="0" rIns="0" bIns="0" rtlCol="0" anchor="ctr"/>
          <a:lstStyle/>
          <a:p>
            <a:pPr indent="0" marL="0">
              <a:buNone/>
            </a:pPr>
            <a:r>
              <a:rPr lang="en-US" sz="1500" dirty="0">
                <a:solidFill>
                  <a:schemeClr val="tx1"/>
                </a:solidFill>
              </a:rPr>
              <a:t>OCR every page at 300 dpi (RapidOCR)</a:t>
            </a:r>
            <a:endParaRPr lang="en-US" sz="1500" dirty="0"/>
          </a:p>
        </p:txBody>
      </p:sp>
      <p:sp>
        <p:nvSpPr>
          <p:cNvPr id="7" name="Step number"/>
          <p:cNvSpPr/>
          <p:nvPr/>
        </p:nvSpPr>
        <p:spPr>
          <a:xfrm>
            <a:off x="548640" y="2194560"/>
            <a:ext cx="502920" cy="502920"/>
          </a:xfrm>
          <a:prstGeom prst="ellipse">
            <a:avLst/>
          </a:prstGeom>
          <a:solidFill>
            <a:schemeClr val="accent1"/>
          </a:solidFill>
          <a:ln w="12700">
            <a:solidFill>
              <a:schemeClr val="accent1"/>
            </a:solidFill>
            <a:prstDash val="solid"/>
          </a:ln>
        </p:spPr>
      </p:sp>
      <p:sp>
        <p:nvSpPr>
          <p:cNvPr id="8" name="Text 6"/>
          <p:cNvSpPr txBox="1"/>
          <p:nvPr/>
        </p:nvSpPr>
        <p:spPr>
          <a:xfrm>
            <a:off x="548640" y="21945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234440" y="2176272"/>
            <a:ext cx="5394960" cy="594360"/>
          </a:xfrm>
          <a:prstGeom prst="rect">
            <a:avLst/>
          </a:prstGeom>
          <a:noFill/>
          <a:ln/>
        </p:spPr>
        <p:txBody>
          <a:bodyPr wrap="square" lIns="0" tIns="0" rIns="0" bIns="0" rtlCol="0" anchor="ctr"/>
          <a:lstStyle/>
          <a:p>
            <a:pPr indent="0" marL="0">
              <a:buNone/>
            </a:pPr>
            <a:r>
              <a:rPr lang="en-US" sz="1500" dirty="0">
                <a:solidFill>
                  <a:schemeClr val="tx1"/>
                </a:solidFill>
              </a:rPr>
              <a:t>Remove page numbers, headings, footnotes and low-confidence lines</a:t>
            </a:r>
            <a:endParaRPr lang="en-US" sz="1500" dirty="0"/>
          </a:p>
        </p:txBody>
      </p:sp>
      <p:sp>
        <p:nvSpPr>
          <p:cNvPr id="10" name="Step number"/>
          <p:cNvSpPr/>
          <p:nvPr/>
        </p:nvSpPr>
        <p:spPr>
          <a:xfrm>
            <a:off x="548640" y="2971800"/>
            <a:ext cx="502920" cy="502920"/>
          </a:xfrm>
          <a:prstGeom prst="ellipse">
            <a:avLst/>
          </a:prstGeom>
          <a:solidFill>
            <a:schemeClr val="accent1"/>
          </a:solidFill>
          <a:ln w="12700">
            <a:solidFill>
              <a:schemeClr val="accent1"/>
            </a:solidFill>
            <a:prstDash val="solid"/>
          </a:ln>
        </p:spPr>
      </p:sp>
      <p:sp>
        <p:nvSpPr>
          <p:cNvPr id="11" name="Text 9"/>
          <p:cNvSpPr txBox="1"/>
          <p:nvPr/>
        </p:nvSpPr>
        <p:spPr>
          <a:xfrm>
            <a:off x="548640" y="2971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0"/>
          <p:cNvSpPr txBox="1"/>
          <p:nvPr/>
        </p:nvSpPr>
        <p:spPr>
          <a:xfrm>
            <a:off x="1234440" y="2953512"/>
            <a:ext cx="5394960" cy="594360"/>
          </a:xfrm>
          <a:prstGeom prst="rect">
            <a:avLst/>
          </a:prstGeom>
          <a:noFill/>
          <a:ln/>
        </p:spPr>
        <p:txBody>
          <a:bodyPr wrap="square" lIns="0" tIns="0" rIns="0" bIns="0" rtlCol="0" anchor="ctr"/>
          <a:lstStyle/>
          <a:p>
            <a:pPr indent="0" marL="0">
              <a:buNone/>
            </a:pPr>
            <a:r>
              <a:rPr lang="en-US" sz="1500" dirty="0">
                <a:solidFill>
                  <a:schemeClr val="tx1"/>
                </a:solidFill>
              </a:rPr>
              <a:t>Rejoin lines the layout split in two</a:t>
            </a:r>
            <a:endParaRPr lang="en-US" sz="1500" dirty="0"/>
          </a:p>
        </p:txBody>
      </p:sp>
      <p:sp>
        <p:nvSpPr>
          <p:cNvPr id="13" name="Step number"/>
          <p:cNvSpPr/>
          <p:nvPr/>
        </p:nvSpPr>
        <p:spPr>
          <a:xfrm>
            <a:off x="548640" y="3749040"/>
            <a:ext cx="502920" cy="502920"/>
          </a:xfrm>
          <a:prstGeom prst="ellipse">
            <a:avLst/>
          </a:prstGeom>
          <a:solidFill>
            <a:schemeClr val="accent1"/>
          </a:solidFill>
          <a:ln w="12700">
            <a:solidFill>
              <a:schemeClr val="accent1"/>
            </a:solidFill>
            <a:prstDash val="solid"/>
          </a:ln>
        </p:spPr>
      </p:sp>
      <p:sp>
        <p:nvSpPr>
          <p:cNvPr id="14" name="Text 12"/>
          <p:cNvSpPr txBox="1"/>
          <p:nvPr/>
        </p:nvSpPr>
        <p:spPr>
          <a:xfrm>
            <a:off x="548640" y="37490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 13"/>
          <p:cNvSpPr txBox="1"/>
          <p:nvPr/>
        </p:nvSpPr>
        <p:spPr>
          <a:xfrm>
            <a:off x="1234440" y="3730752"/>
            <a:ext cx="5394960" cy="594360"/>
          </a:xfrm>
          <a:prstGeom prst="rect">
            <a:avLst/>
          </a:prstGeom>
          <a:noFill/>
          <a:ln/>
        </p:spPr>
        <p:txBody>
          <a:bodyPr wrap="square" lIns="0" tIns="0" rIns="0" bIns="0" rtlCol="0" anchor="ctr"/>
          <a:lstStyle/>
          <a:p>
            <a:pPr indent="0" marL="0">
              <a:buNone/>
            </a:pPr>
            <a:r>
              <a:rPr lang="en-US" sz="1500" dirty="0">
                <a:solidFill>
                  <a:schemeClr val="tx1"/>
                </a:solidFill>
              </a:rPr>
              <a:t>Repair OCR letter mistakes, only when a reference text confirms the word</a:t>
            </a:r>
            <a:endParaRPr lang="en-US" sz="1500" dirty="0"/>
          </a:p>
        </p:txBody>
      </p:sp>
      <p:sp>
        <p:nvSpPr>
          <p:cNvPr id="16" name="Step number"/>
          <p:cNvSpPr/>
          <p:nvPr/>
        </p:nvSpPr>
        <p:spPr>
          <a:xfrm>
            <a:off x="548640" y="4526280"/>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548640" y="45262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Text 16"/>
          <p:cNvSpPr txBox="1"/>
          <p:nvPr/>
        </p:nvSpPr>
        <p:spPr>
          <a:xfrm>
            <a:off x="1234440" y="4507992"/>
            <a:ext cx="5394960" cy="594360"/>
          </a:xfrm>
          <a:prstGeom prst="rect">
            <a:avLst/>
          </a:prstGeom>
          <a:noFill/>
          <a:ln/>
        </p:spPr>
        <p:txBody>
          <a:bodyPr wrap="square" lIns="0" tIns="0" rIns="0" bIns="0" rtlCol="0" anchor="ctr"/>
          <a:lstStyle/>
          <a:p>
            <a:pPr indent="0" marL="0">
              <a:buNone/>
            </a:pPr>
            <a:r>
              <a:rPr lang="en-US" sz="1500" dirty="0">
                <a:solidFill>
                  <a:schemeClr val="tx1"/>
                </a:solidFill>
              </a:rPr>
              <a:t>Align Acehnese and Indonesian verses by dynamic programming</a:t>
            </a:r>
            <a:endParaRPr lang="en-US" sz="1500" dirty="0"/>
          </a:p>
        </p:txBody>
      </p:sp>
      <p:sp>
        <p:nvSpPr>
          <p:cNvPr id="19" name="Step number"/>
          <p:cNvSpPr/>
          <p:nvPr/>
        </p:nvSpPr>
        <p:spPr>
          <a:xfrm>
            <a:off x="548640" y="5303520"/>
            <a:ext cx="502920" cy="502920"/>
          </a:xfrm>
          <a:prstGeom prst="ellipse">
            <a:avLst/>
          </a:prstGeom>
          <a:solidFill>
            <a:schemeClr val="accent1"/>
          </a:solidFill>
          <a:ln w="12700">
            <a:solidFill>
              <a:schemeClr val="accent1"/>
            </a:solidFill>
            <a:prstDash val="solid"/>
          </a:ln>
        </p:spPr>
      </p:sp>
      <p:sp>
        <p:nvSpPr>
          <p:cNvPr id="20" name="Text 18"/>
          <p:cNvSpPr txBox="1"/>
          <p:nvPr/>
        </p:nvSpPr>
        <p:spPr>
          <a:xfrm>
            <a:off x="548640" y="5303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1" name="Text 19"/>
          <p:cNvSpPr txBox="1"/>
          <p:nvPr/>
        </p:nvSpPr>
        <p:spPr>
          <a:xfrm>
            <a:off x="1234440" y="5285232"/>
            <a:ext cx="5394960" cy="594360"/>
          </a:xfrm>
          <a:prstGeom prst="rect">
            <a:avLst/>
          </a:prstGeom>
          <a:noFill/>
          <a:ln/>
        </p:spPr>
        <p:txBody>
          <a:bodyPr wrap="square" lIns="0" tIns="0" rIns="0" bIns="0" rtlCol="0" anchor="ctr"/>
          <a:lstStyle/>
          <a:p>
            <a:pPr indent="0" marL="0">
              <a:buNone/>
            </a:pPr>
            <a:r>
              <a:rPr lang="en-US" sz="1500" dirty="0">
                <a:solidFill>
                  <a:schemeClr val="tx1"/>
                </a:solidFill>
              </a:rPr>
              <a:t>Label every pair KEEP or REVIEW; delete nothing</a:t>
            </a:r>
            <a:endParaRPr lang="en-US" sz="1500" dirty="0"/>
          </a:p>
        </p:txBody>
      </p:sp>
      <p:sp>
        <p:nvSpPr>
          <p:cNvPr id="22" name="Stat card"/>
          <p:cNvSpPr/>
          <p:nvPr/>
        </p:nvSpPr>
        <p:spPr>
          <a:xfrm>
            <a:off x="7040880" y="1417320"/>
            <a:ext cx="2240280" cy="2148840"/>
          </a:xfrm>
          <a:prstGeom prst="roundRect">
            <a:avLst>
              <a:gd name="adj" fmla="val 5106"/>
            </a:avLst>
          </a:prstGeom>
          <a:solidFill>
            <a:schemeClr val="bg2"/>
          </a:solidFill>
          <a:ln w="12700">
            <a:solidFill>
              <a:schemeClr val="bg2"/>
            </a:solidFill>
            <a:prstDash val="solid"/>
          </a:ln>
        </p:spPr>
      </p:sp>
      <p:sp>
        <p:nvSpPr>
          <p:cNvPr id="23" name="Text 21"/>
          <p:cNvSpPr txBox="1"/>
          <p:nvPr/>
        </p:nvSpPr>
        <p:spPr>
          <a:xfrm>
            <a:off x="7178040" y="1600200"/>
            <a:ext cx="1965960" cy="731520"/>
          </a:xfrm>
          <a:prstGeom prst="rect">
            <a:avLst/>
          </a:prstGeom>
          <a:noFill/>
          <a:ln/>
        </p:spPr>
        <p:txBody>
          <a:bodyPr wrap="square" lIns="0" tIns="0" rIns="0" bIns="0" rtlCol="0" anchor="ctr"/>
          <a:lstStyle/>
          <a:p>
            <a:pPr indent="0" marL="0">
              <a:buNone/>
            </a:pPr>
            <a:r>
              <a:rPr lang="en-US" sz="2000" b="1" dirty="0">
                <a:solidFill>
                  <a:schemeClr val="accent1"/>
                </a:solidFill>
                <a:latin typeface="Georgia" pitchFamily="34" charset="0"/>
                <a:ea typeface="Georgia" pitchFamily="34" charset="-122"/>
                <a:cs typeface="Georgia" pitchFamily="34" charset="-120"/>
              </a:rPr>
              <a:t>11.3% → 0.8%</a:t>
            </a:r>
            <a:endParaRPr lang="en-US" sz="2000" dirty="0"/>
          </a:p>
        </p:txBody>
      </p:sp>
      <p:sp>
        <p:nvSpPr>
          <p:cNvPr id="24" name="Text 22"/>
          <p:cNvSpPr txBox="1"/>
          <p:nvPr/>
        </p:nvSpPr>
        <p:spPr>
          <a:xfrm>
            <a:off x="7178040" y="2423160"/>
            <a:ext cx="1965960" cy="1005840"/>
          </a:xfrm>
          <a:prstGeom prst="rect">
            <a:avLst/>
          </a:prstGeom>
          <a:noFill/>
          <a:ln/>
        </p:spPr>
        <p:txBody>
          <a:bodyPr wrap="square" lIns="0" tIns="0" rIns="0" bIns="0" rtlCol="0" anchor="t"/>
          <a:lstStyle/>
          <a:p>
            <a:pPr indent="0" marL="0">
              <a:buNone/>
            </a:pPr>
            <a:r>
              <a:rPr lang="en-US" sz="1300" dirty="0">
                <a:solidFill>
                  <a:schemeClr val="accent5"/>
                </a:solidFill>
              </a:rPr>
              <a:t>word error: PDF text layer versus our OCR, on a hand-checked sample</a:t>
            </a:r>
            <a:endParaRPr lang="en-US" sz="1300" dirty="0"/>
          </a:p>
        </p:txBody>
      </p:sp>
      <p:sp>
        <p:nvSpPr>
          <p:cNvPr id="25" name="Stat card"/>
          <p:cNvSpPr/>
          <p:nvPr/>
        </p:nvSpPr>
        <p:spPr>
          <a:xfrm>
            <a:off x="9418320" y="1417320"/>
            <a:ext cx="2240280" cy="2148840"/>
          </a:xfrm>
          <a:prstGeom prst="roundRect">
            <a:avLst>
              <a:gd name="adj" fmla="val 5106"/>
            </a:avLst>
          </a:prstGeom>
          <a:solidFill>
            <a:schemeClr val="bg2"/>
          </a:solidFill>
          <a:ln w="12700">
            <a:solidFill>
              <a:schemeClr val="bg2"/>
            </a:solidFill>
            <a:prstDash val="solid"/>
          </a:ln>
        </p:spPr>
      </p:sp>
      <p:sp>
        <p:nvSpPr>
          <p:cNvPr id="26" name="Text 24"/>
          <p:cNvSpPr txBox="1"/>
          <p:nvPr/>
        </p:nvSpPr>
        <p:spPr>
          <a:xfrm>
            <a:off x="9555480" y="1600200"/>
            <a:ext cx="1965960" cy="731520"/>
          </a:xfrm>
          <a:prstGeom prst="rect">
            <a:avLst/>
          </a:prstGeom>
          <a:noFill/>
          <a:ln/>
        </p:spPr>
        <p:txBody>
          <a:bodyPr wrap="square" lIns="0" tIns="0" rIns="0" bIns="0" rtlCol="0" anchor="ctr"/>
          <a:lstStyle/>
          <a:p>
            <a:pPr indent="0" marL="0">
              <a:buNone/>
            </a:pPr>
            <a:r>
              <a:rPr lang="en-US" sz="3000" b="1" dirty="0">
                <a:solidFill>
                  <a:schemeClr val="accent1"/>
                </a:solidFill>
                <a:latin typeface="Georgia" pitchFamily="34" charset="0"/>
                <a:ea typeface="Georgia" pitchFamily="34" charset="-122"/>
                <a:cs typeface="Georgia" pitchFamily="34" charset="-120"/>
              </a:rPr>
              <a:t>1,856</a:t>
            </a:r>
            <a:endParaRPr lang="en-US" sz="3000" dirty="0"/>
          </a:p>
        </p:txBody>
      </p:sp>
      <p:sp>
        <p:nvSpPr>
          <p:cNvPr id="27" name="Text 25"/>
          <p:cNvSpPr txBox="1"/>
          <p:nvPr/>
        </p:nvSpPr>
        <p:spPr>
          <a:xfrm>
            <a:off x="9555480" y="2423160"/>
            <a:ext cx="1965960" cy="1005840"/>
          </a:xfrm>
          <a:prstGeom prst="rect">
            <a:avLst/>
          </a:prstGeom>
          <a:noFill/>
          <a:ln/>
        </p:spPr>
        <p:txBody>
          <a:bodyPr wrap="square" lIns="0" tIns="0" rIns="0" bIns="0" rtlCol="0" anchor="t"/>
          <a:lstStyle/>
          <a:p>
            <a:pPr indent="0" marL="0">
              <a:buNone/>
            </a:pPr>
            <a:r>
              <a:rPr lang="en-US" sz="1300" dirty="0">
                <a:solidFill>
                  <a:schemeClr val="accent5"/>
                </a:solidFill>
              </a:rPr>
              <a:t>verse pairs aligned from the book</a:t>
            </a:r>
            <a:endParaRPr lang="en-US" sz="1300" dirty="0"/>
          </a:p>
        </p:txBody>
      </p:sp>
      <p:sp>
        <p:nvSpPr>
          <p:cNvPr id="28" name="Stat card"/>
          <p:cNvSpPr/>
          <p:nvPr/>
        </p:nvSpPr>
        <p:spPr>
          <a:xfrm>
            <a:off x="7040880" y="3749040"/>
            <a:ext cx="2240280" cy="2148840"/>
          </a:xfrm>
          <a:prstGeom prst="roundRect">
            <a:avLst>
              <a:gd name="adj" fmla="val 5106"/>
            </a:avLst>
          </a:prstGeom>
          <a:solidFill>
            <a:schemeClr val="bg2"/>
          </a:solidFill>
          <a:ln w="12700">
            <a:solidFill>
              <a:schemeClr val="bg2"/>
            </a:solidFill>
            <a:prstDash val="solid"/>
          </a:ln>
        </p:spPr>
      </p:sp>
      <p:sp>
        <p:nvSpPr>
          <p:cNvPr id="29" name="Text 27"/>
          <p:cNvSpPr txBox="1"/>
          <p:nvPr/>
        </p:nvSpPr>
        <p:spPr>
          <a:xfrm>
            <a:off x="7178040" y="3931920"/>
            <a:ext cx="1965960" cy="731520"/>
          </a:xfrm>
          <a:prstGeom prst="rect">
            <a:avLst/>
          </a:prstGeom>
          <a:noFill/>
          <a:ln/>
        </p:spPr>
        <p:txBody>
          <a:bodyPr wrap="square" lIns="0" tIns="0" rIns="0" bIns="0" rtlCol="0" anchor="ctr"/>
          <a:lstStyle/>
          <a:p>
            <a:pPr indent="0" marL="0">
              <a:buNone/>
            </a:pPr>
            <a:r>
              <a:rPr lang="en-US" sz="3000" b="1" dirty="0">
                <a:solidFill>
                  <a:schemeClr val="accent1"/>
                </a:solidFill>
                <a:latin typeface="Georgia" pitchFamily="34" charset="0"/>
                <a:ea typeface="Georgia" pitchFamily="34" charset="-122"/>
                <a:cs typeface="Georgia" pitchFamily="34" charset="-120"/>
              </a:rPr>
              <a:t>1,654</a:t>
            </a:r>
            <a:endParaRPr lang="en-US" sz="3000" dirty="0"/>
          </a:p>
        </p:txBody>
      </p:sp>
      <p:sp>
        <p:nvSpPr>
          <p:cNvPr id="30" name="Text 28"/>
          <p:cNvSpPr txBox="1"/>
          <p:nvPr/>
        </p:nvSpPr>
        <p:spPr>
          <a:xfrm>
            <a:off x="7178040" y="4754880"/>
            <a:ext cx="1965960" cy="1005840"/>
          </a:xfrm>
          <a:prstGeom prst="rect">
            <a:avLst/>
          </a:prstGeom>
          <a:noFill/>
          <a:ln/>
        </p:spPr>
        <p:txBody>
          <a:bodyPr wrap="square" lIns="0" tIns="0" rIns="0" bIns="0" rtlCol="0" anchor="t"/>
          <a:lstStyle/>
          <a:p>
            <a:pPr indent="0" marL="0">
              <a:buNone/>
            </a:pPr>
            <a:r>
              <a:rPr lang="en-US" sz="1300" dirty="0">
                <a:solidFill>
                  <a:schemeClr val="accent5"/>
                </a:solidFill>
              </a:rPr>
              <a:t>pairs labelled KEEP (199 marked REVIEW)</a:t>
            </a:r>
            <a:endParaRPr lang="en-US" sz="1300" dirty="0"/>
          </a:p>
        </p:txBody>
      </p:sp>
      <p:sp>
        <p:nvSpPr>
          <p:cNvPr id="31" name="Stat card"/>
          <p:cNvSpPr/>
          <p:nvPr/>
        </p:nvSpPr>
        <p:spPr>
          <a:xfrm>
            <a:off x="9418320" y="3749040"/>
            <a:ext cx="2240280" cy="2148840"/>
          </a:xfrm>
          <a:prstGeom prst="roundRect">
            <a:avLst>
              <a:gd name="adj" fmla="val 5106"/>
            </a:avLst>
          </a:prstGeom>
          <a:solidFill>
            <a:schemeClr val="bg2"/>
          </a:solidFill>
          <a:ln w="12700">
            <a:solidFill>
              <a:schemeClr val="bg2"/>
            </a:solidFill>
            <a:prstDash val="solid"/>
          </a:ln>
        </p:spPr>
      </p:sp>
      <p:sp>
        <p:nvSpPr>
          <p:cNvPr id="32" name="Text 30"/>
          <p:cNvSpPr txBox="1"/>
          <p:nvPr/>
        </p:nvSpPr>
        <p:spPr>
          <a:xfrm>
            <a:off x="9555480" y="3931920"/>
            <a:ext cx="1965960" cy="731520"/>
          </a:xfrm>
          <a:prstGeom prst="rect">
            <a:avLst/>
          </a:prstGeom>
          <a:noFill/>
          <a:ln/>
        </p:spPr>
        <p:txBody>
          <a:bodyPr wrap="square" lIns="0" tIns="0" rIns="0" bIns="0" rtlCol="0" anchor="ctr"/>
          <a:lstStyle/>
          <a:p>
            <a:pPr indent="0" marL="0">
              <a:buNone/>
            </a:pPr>
            <a:r>
              <a:rPr lang="en-US" sz="3000" b="1" dirty="0">
                <a:solidFill>
                  <a:schemeClr val="accent1"/>
                </a:solidFill>
                <a:latin typeface="Georgia" pitchFamily="34" charset="0"/>
                <a:ea typeface="Georgia" pitchFamily="34" charset="-122"/>
                <a:cs typeface="Georgia" pitchFamily="34" charset="-120"/>
              </a:rPr>
              <a:t>40 of 40</a:t>
            </a:r>
            <a:endParaRPr lang="en-US" sz="3000" dirty="0"/>
          </a:p>
        </p:txBody>
      </p:sp>
      <p:sp>
        <p:nvSpPr>
          <p:cNvPr id="33" name="Text 31"/>
          <p:cNvSpPr txBox="1"/>
          <p:nvPr/>
        </p:nvSpPr>
        <p:spPr>
          <a:xfrm>
            <a:off x="9555480" y="4754880"/>
            <a:ext cx="1965960" cy="1005840"/>
          </a:xfrm>
          <a:prstGeom prst="rect">
            <a:avLst/>
          </a:prstGeom>
          <a:noFill/>
          <a:ln/>
        </p:spPr>
        <p:txBody>
          <a:bodyPr wrap="square" lIns="0" tIns="0" rIns="0" bIns="0" rtlCol="0" anchor="t"/>
          <a:lstStyle/>
          <a:p>
            <a:pPr indent="0" marL="0">
              <a:buNone/>
            </a:pPr>
            <a:r>
              <a:rPr lang="en-US" sz="1300" dirty="0">
                <a:solidFill>
                  <a:schemeClr val="accent5"/>
                </a:solidFill>
              </a:rPr>
              <a:t>random KEEP pairs checked by hand were correct</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Thesis, stories and team translations</a:t>
            </a:r>
            <a:endParaRPr lang="en-US" sz="3600" dirty="0"/>
          </a:p>
        </p:txBody>
      </p:sp>
      <p:sp>
        <p:nvSpPr>
          <p:cNvPr id="4" name="Source card"/>
          <p:cNvSpPr/>
          <p:nvPr/>
        </p:nvSpPr>
        <p:spPr>
          <a:xfrm>
            <a:off x="548640" y="1417320"/>
            <a:ext cx="3593592" cy="4754880"/>
          </a:xfrm>
          <a:prstGeom prst="roundRect">
            <a:avLst>
              <a:gd name="adj" fmla="val 3053"/>
            </a:avLst>
          </a:prstGeom>
          <a:solidFill>
            <a:schemeClr val="bg2"/>
          </a:solidFill>
          <a:ln w="12700">
            <a:solidFill>
              <a:schemeClr val="bg2"/>
            </a:solidFill>
            <a:prstDash val="solid"/>
          </a:ln>
        </p:spPr>
      </p:sp>
      <p:sp>
        <p:nvSpPr>
          <p:cNvPr id="5" name="Icon circle"/>
          <p:cNvSpPr/>
          <p:nvPr/>
        </p:nvSpPr>
        <p:spPr>
          <a:xfrm>
            <a:off x="822960" y="1645920"/>
            <a:ext cx="731520" cy="731520"/>
          </a:xfrm>
          <a:prstGeom prst="ellipse">
            <a:avLst/>
          </a:prstGeom>
          <a:solidFill>
            <a:schemeClr val="accent1"/>
          </a:solidFill>
          <a:ln w="12700">
            <a:solidFill>
              <a:schemeClr val="accent1"/>
            </a:solidFill>
            <a:prstDash val="solid"/>
          </a:ln>
        </p:spPr>
      </p:sp>
      <p:pic>
        <p:nvPicPr>
          <p:cNvPr id="6" name="Image 0" descr="BookOpen icon">    </p:cNvPr>
          <p:cNvPicPr>
            <a:picLocks noChangeAspect="1"/>
          </p:cNvPicPr>
          <p:nvPr/>
        </p:nvPicPr>
        <p:blipFill>
          <a:blip r:embed="rId1"/>
          <a:stretch>
            <a:fillRect/>
          </a:stretch>
        </p:blipFill>
        <p:spPr>
          <a:xfrm>
            <a:off x="1020470" y="1843430"/>
            <a:ext cx="336499" cy="336499"/>
          </a:xfrm>
          <a:prstGeom prst="rect">
            <a:avLst/>
          </a:prstGeom>
        </p:spPr>
      </p:pic>
      <p:sp>
        <p:nvSpPr>
          <p:cNvPr id="7" name="Text 4"/>
          <p:cNvSpPr txBox="1"/>
          <p:nvPr/>
        </p:nvSpPr>
        <p:spPr>
          <a:xfrm>
            <a:off x="1691640" y="169164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Hikayat Malik Mawot</a:t>
            </a:r>
            <a:endParaRPr lang="en-US" sz="1800" dirty="0"/>
          </a:p>
        </p:txBody>
      </p:sp>
      <p:sp>
        <p:nvSpPr>
          <p:cNvPr id="8" name="Text 5"/>
          <p:cNvSpPr txBox="1"/>
          <p:nvPr/>
        </p:nvSpPr>
        <p:spPr>
          <a:xfrm>
            <a:off x="822960" y="2651760"/>
            <a:ext cx="1554480" cy="640080"/>
          </a:xfrm>
          <a:prstGeom prst="rect">
            <a:avLst/>
          </a:prstGeom>
          <a:noFill/>
          <a:ln/>
        </p:spPr>
        <p:txBody>
          <a:bodyPr wrap="square" lIns="0" tIns="0" rIns="0" bIns="0" rtlCol="0" anchor="ctr"/>
          <a:lstStyle/>
          <a:p>
            <a:pPr indent="0" marL="0">
              <a:buNone/>
            </a:pPr>
            <a:r>
              <a:rPr lang="en-US" sz="3400" b="1" dirty="0">
                <a:solidFill>
                  <a:schemeClr val="accent5"/>
                </a:solidFill>
                <a:latin typeface="Georgia" pitchFamily="34" charset="0"/>
                <a:ea typeface="Georgia" pitchFamily="34" charset="-122"/>
                <a:cs typeface="Georgia" pitchFamily="34" charset="-120"/>
              </a:rPr>
              <a:t>1,030</a:t>
            </a:r>
            <a:endParaRPr lang="en-US" sz="3400" dirty="0"/>
          </a:p>
        </p:txBody>
      </p:sp>
      <p:sp>
        <p:nvSpPr>
          <p:cNvPr id="9" name="Text 6"/>
          <p:cNvSpPr txBox="1"/>
          <p:nvPr/>
        </p:nvSpPr>
        <p:spPr>
          <a:xfrm>
            <a:off x="2377440" y="2651760"/>
            <a:ext cx="1600200" cy="640080"/>
          </a:xfrm>
          <a:prstGeom prst="rect">
            <a:avLst/>
          </a:prstGeom>
          <a:noFill/>
          <a:ln/>
        </p:spPr>
        <p:txBody>
          <a:bodyPr wrap="square" lIns="0" tIns="0" rIns="0" bIns="0" rtlCol="0" anchor="ctr"/>
          <a:lstStyle/>
          <a:p>
            <a:pPr indent="0" marL="0">
              <a:buNone/>
            </a:pPr>
            <a:r>
              <a:rPr lang="en-US" sz="1300" dirty="0">
                <a:solidFill>
                  <a:schemeClr val="accent5"/>
                </a:solidFill>
              </a:rPr>
              <a:t>alternating verse lines</a:t>
            </a:r>
            <a:endParaRPr lang="en-US" sz="1300" dirty="0"/>
          </a:p>
        </p:txBody>
      </p:sp>
      <p:sp>
        <p:nvSpPr>
          <p:cNvPr id="10" name="Text 7"/>
          <p:cNvSpPr txBox="1"/>
          <p:nvPr/>
        </p:nvSpPr>
        <p:spPr>
          <a:xfrm>
            <a:off x="822960" y="3611880"/>
            <a:ext cx="1554480" cy="640080"/>
          </a:xfrm>
          <a:prstGeom prst="rect">
            <a:avLst/>
          </a:prstGeom>
          <a:noFill/>
          <a:ln/>
        </p:spPr>
        <p:txBody>
          <a:bodyPr wrap="square" lIns="0" tIns="0" rIns="0" bIns="0" rtlCol="0" anchor="ctr"/>
          <a:lstStyle/>
          <a:p>
            <a:pPr indent="0" marL="0">
              <a:buNone/>
            </a:pPr>
            <a:r>
              <a:rPr lang="en-US" sz="3400" b="1" dirty="0">
                <a:solidFill>
                  <a:schemeClr val="accent1"/>
                </a:solidFill>
                <a:latin typeface="Georgia" pitchFamily="34" charset="0"/>
                <a:ea typeface="Georgia" pitchFamily="34" charset="-122"/>
                <a:cs typeface="Georgia" pitchFamily="34" charset="-120"/>
              </a:rPr>
              <a:t>350</a:t>
            </a:r>
            <a:endParaRPr lang="en-US" sz="3400" dirty="0"/>
          </a:p>
        </p:txBody>
      </p:sp>
      <p:sp>
        <p:nvSpPr>
          <p:cNvPr id="11" name="Text 8"/>
          <p:cNvSpPr txBox="1"/>
          <p:nvPr/>
        </p:nvSpPr>
        <p:spPr>
          <a:xfrm>
            <a:off x="2377440" y="3611880"/>
            <a:ext cx="1600200" cy="640080"/>
          </a:xfrm>
          <a:prstGeom prst="rect">
            <a:avLst/>
          </a:prstGeom>
          <a:noFill/>
          <a:ln/>
        </p:spPr>
        <p:txBody>
          <a:bodyPr wrap="square" lIns="0" tIns="0" rIns="0" bIns="0" rtlCol="0" anchor="ctr"/>
          <a:lstStyle/>
          <a:p>
            <a:pPr indent="0" marL="0">
              <a:buNone/>
            </a:pPr>
            <a:r>
              <a:rPr lang="en-US" sz="1300" dirty="0">
                <a:solidFill>
                  <a:schemeClr val="accent5"/>
                </a:solidFill>
              </a:rPr>
              <a:t>pairs kept</a:t>
            </a:r>
            <a:endParaRPr lang="en-US" sz="1300" dirty="0"/>
          </a:p>
        </p:txBody>
      </p:sp>
      <p:sp>
        <p:nvSpPr>
          <p:cNvPr id="12" name="Text 9"/>
          <p:cNvSpPr txBox="1"/>
          <p:nvPr/>
        </p:nvSpPr>
        <p:spPr>
          <a:xfrm>
            <a:off x="822960" y="4754880"/>
            <a:ext cx="3063240" cy="1280160"/>
          </a:xfrm>
          <a:prstGeom prst="rect">
            <a:avLst/>
          </a:prstGeom>
          <a:noFill/>
          <a:ln/>
        </p:spPr>
        <p:txBody>
          <a:bodyPr wrap="square" lIns="0" tIns="0" rIns="0" bIns="0" rtlCol="0" anchor="t"/>
          <a:lstStyle/>
          <a:p>
            <a:pPr indent="0" marL="0">
              <a:buNone/>
            </a:pPr>
            <a:r>
              <a:rPr lang="en-US" sz="1400" dirty="0">
                <a:solidFill>
                  <a:schemeClr val="tx1"/>
                </a:solidFill>
              </a:rPr>
              <a:t>Footnotes cut, then every pair checked for line similarity and Acehnese language.</a:t>
            </a:r>
            <a:endParaRPr lang="en-US" sz="1400" dirty="0"/>
          </a:p>
        </p:txBody>
      </p:sp>
      <p:sp>
        <p:nvSpPr>
          <p:cNvPr id="13" name="Source card"/>
          <p:cNvSpPr/>
          <p:nvPr/>
        </p:nvSpPr>
        <p:spPr>
          <a:xfrm>
            <a:off x="4297680" y="1417320"/>
            <a:ext cx="3593592" cy="4754880"/>
          </a:xfrm>
          <a:prstGeom prst="roundRect">
            <a:avLst>
              <a:gd name="adj" fmla="val 3053"/>
            </a:avLst>
          </a:prstGeom>
          <a:solidFill>
            <a:schemeClr val="bg2"/>
          </a:solidFill>
          <a:ln w="12700">
            <a:solidFill>
              <a:schemeClr val="bg2"/>
            </a:solidFill>
            <a:prstDash val="solid"/>
          </a:ln>
        </p:spPr>
      </p:sp>
      <p:sp>
        <p:nvSpPr>
          <p:cNvPr id="14" name="Icon circle"/>
          <p:cNvSpPr/>
          <p:nvPr/>
        </p:nvSpPr>
        <p:spPr>
          <a:xfrm>
            <a:off x="4572000" y="1645920"/>
            <a:ext cx="731520" cy="731520"/>
          </a:xfrm>
          <a:prstGeom prst="ellipse">
            <a:avLst/>
          </a:prstGeom>
          <a:solidFill>
            <a:schemeClr val="accent1"/>
          </a:solidFill>
          <a:ln w="12700">
            <a:solidFill>
              <a:schemeClr val="accent1"/>
            </a:solidFill>
            <a:prstDash val="solid"/>
          </a:ln>
        </p:spPr>
      </p:sp>
      <p:pic>
        <p:nvPicPr>
          <p:cNvPr id="15" name="Image 1" descr="ListOl icon">    </p:cNvPr>
          <p:cNvPicPr>
            <a:picLocks noChangeAspect="1"/>
          </p:cNvPicPr>
          <p:nvPr/>
        </p:nvPicPr>
        <p:blipFill>
          <a:blip r:embed="rId2"/>
          <a:stretch>
            <a:fillRect/>
          </a:stretch>
        </p:blipFill>
        <p:spPr>
          <a:xfrm>
            <a:off x="4769510" y="1843430"/>
            <a:ext cx="336499" cy="336499"/>
          </a:xfrm>
          <a:prstGeom prst="rect">
            <a:avLst/>
          </a:prstGeom>
        </p:spPr>
      </p:pic>
      <p:sp>
        <p:nvSpPr>
          <p:cNvPr id="16" name="Text 12"/>
          <p:cNvSpPr txBox="1"/>
          <p:nvPr/>
        </p:nvSpPr>
        <p:spPr>
          <a:xfrm>
            <a:off x="5440680" y="169164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Andrie's team file</a:t>
            </a:r>
            <a:endParaRPr lang="en-US" sz="1800" dirty="0"/>
          </a:p>
        </p:txBody>
      </p:sp>
      <p:sp>
        <p:nvSpPr>
          <p:cNvPr id="17" name="Text 13"/>
          <p:cNvSpPr txBox="1"/>
          <p:nvPr/>
        </p:nvSpPr>
        <p:spPr>
          <a:xfrm>
            <a:off x="4572000" y="2651760"/>
            <a:ext cx="1554480" cy="640080"/>
          </a:xfrm>
          <a:prstGeom prst="rect">
            <a:avLst/>
          </a:prstGeom>
          <a:noFill/>
          <a:ln/>
        </p:spPr>
        <p:txBody>
          <a:bodyPr wrap="square" lIns="0" tIns="0" rIns="0" bIns="0" rtlCol="0" anchor="ctr"/>
          <a:lstStyle/>
          <a:p>
            <a:pPr indent="0" marL="0">
              <a:buNone/>
            </a:pPr>
            <a:r>
              <a:rPr lang="en-US" sz="3400" b="1" dirty="0">
                <a:solidFill>
                  <a:schemeClr val="accent5"/>
                </a:solidFill>
                <a:latin typeface="Georgia" pitchFamily="34" charset="0"/>
                <a:ea typeface="Georgia" pitchFamily="34" charset="-122"/>
                <a:cs typeface="Georgia" pitchFamily="34" charset="-120"/>
              </a:rPr>
              <a:t>5,000</a:t>
            </a:r>
            <a:endParaRPr lang="en-US" sz="3400" dirty="0"/>
          </a:p>
        </p:txBody>
      </p:sp>
      <p:sp>
        <p:nvSpPr>
          <p:cNvPr id="18" name="Text 14"/>
          <p:cNvSpPr txBox="1"/>
          <p:nvPr/>
        </p:nvSpPr>
        <p:spPr>
          <a:xfrm>
            <a:off x="6126480" y="2651760"/>
            <a:ext cx="1600200" cy="640080"/>
          </a:xfrm>
          <a:prstGeom prst="rect">
            <a:avLst/>
          </a:prstGeom>
          <a:noFill/>
          <a:ln/>
        </p:spPr>
        <p:txBody>
          <a:bodyPr wrap="square" lIns="0" tIns="0" rIns="0" bIns="0" rtlCol="0" anchor="ctr"/>
          <a:lstStyle/>
          <a:p>
            <a:pPr indent="0" marL="0">
              <a:buNone/>
            </a:pPr>
            <a:r>
              <a:rPr lang="en-US" sz="1300" dirty="0">
                <a:solidFill>
                  <a:schemeClr val="accent5"/>
                </a:solidFill>
              </a:rPr>
              <a:t>rows received</a:t>
            </a:r>
            <a:endParaRPr lang="en-US" sz="1300" dirty="0"/>
          </a:p>
        </p:txBody>
      </p:sp>
      <p:sp>
        <p:nvSpPr>
          <p:cNvPr id="19" name="Text 15"/>
          <p:cNvSpPr txBox="1"/>
          <p:nvPr/>
        </p:nvSpPr>
        <p:spPr>
          <a:xfrm>
            <a:off x="4572000" y="3611880"/>
            <a:ext cx="1554480" cy="640080"/>
          </a:xfrm>
          <a:prstGeom prst="rect">
            <a:avLst/>
          </a:prstGeom>
          <a:noFill/>
          <a:ln/>
        </p:spPr>
        <p:txBody>
          <a:bodyPr wrap="square" lIns="0" tIns="0" rIns="0" bIns="0" rtlCol="0" anchor="ctr"/>
          <a:lstStyle/>
          <a:p>
            <a:pPr indent="0" marL="0">
              <a:buNone/>
            </a:pPr>
            <a:r>
              <a:rPr lang="en-US" sz="3400" b="1" dirty="0">
                <a:solidFill>
                  <a:schemeClr val="accent1"/>
                </a:solidFill>
                <a:latin typeface="Georgia" pitchFamily="34" charset="0"/>
                <a:ea typeface="Georgia" pitchFamily="34" charset="-122"/>
                <a:cs typeface="Georgia" pitchFamily="34" charset="-120"/>
              </a:rPr>
              <a:t>2,798</a:t>
            </a:r>
            <a:endParaRPr lang="en-US" sz="3400" dirty="0"/>
          </a:p>
        </p:txBody>
      </p:sp>
      <p:sp>
        <p:nvSpPr>
          <p:cNvPr id="20" name="Text 16"/>
          <p:cNvSpPr txBox="1"/>
          <p:nvPr/>
        </p:nvSpPr>
        <p:spPr>
          <a:xfrm>
            <a:off x="6126480" y="3611880"/>
            <a:ext cx="1600200" cy="640080"/>
          </a:xfrm>
          <a:prstGeom prst="rect">
            <a:avLst/>
          </a:prstGeom>
          <a:noFill/>
          <a:ln/>
        </p:spPr>
        <p:txBody>
          <a:bodyPr wrap="square" lIns="0" tIns="0" rIns="0" bIns="0" rtlCol="0" anchor="ctr"/>
          <a:lstStyle/>
          <a:p>
            <a:pPr indent="0" marL="0">
              <a:buNone/>
            </a:pPr>
            <a:r>
              <a:rPr lang="en-US" sz="1300" dirty="0">
                <a:solidFill>
                  <a:schemeClr val="accent5"/>
                </a:solidFill>
              </a:rPr>
              <a:t>pairs after cleaning</a:t>
            </a:r>
            <a:endParaRPr lang="en-US" sz="1300" dirty="0"/>
          </a:p>
        </p:txBody>
      </p:sp>
      <p:sp>
        <p:nvSpPr>
          <p:cNvPr id="21" name="Text 17"/>
          <p:cNvSpPr txBox="1"/>
          <p:nvPr/>
        </p:nvSpPr>
        <p:spPr>
          <a:xfrm>
            <a:off x="4572000" y="4754880"/>
            <a:ext cx="3063240" cy="1280160"/>
          </a:xfrm>
          <a:prstGeom prst="rect">
            <a:avLst/>
          </a:prstGeom>
          <a:noFill/>
          <a:ln/>
        </p:spPr>
        <p:txBody>
          <a:bodyPr wrap="square" lIns="0" tIns="0" rIns="0" bIns="0" rtlCol="0" anchor="t"/>
          <a:lstStyle/>
          <a:p>
            <a:pPr indent="0" marL="0">
              <a:buNone/>
            </a:pPr>
            <a:r>
              <a:rPr lang="en-US" sz="1400" dirty="0">
                <a:solidFill>
                  <a:schemeClr val="tx1"/>
                </a:solidFill>
              </a:rPr>
              <a:t>Dropped heavy OCR errors, missing translations and rows overlapping our test sets.</a:t>
            </a:r>
            <a:endParaRPr lang="en-US" sz="1400" dirty="0"/>
          </a:p>
        </p:txBody>
      </p:sp>
      <p:sp>
        <p:nvSpPr>
          <p:cNvPr id="22" name="Source card"/>
          <p:cNvSpPr/>
          <p:nvPr/>
        </p:nvSpPr>
        <p:spPr>
          <a:xfrm>
            <a:off x="8046720" y="1417320"/>
            <a:ext cx="3593592" cy="4754880"/>
          </a:xfrm>
          <a:prstGeom prst="roundRect">
            <a:avLst>
              <a:gd name="adj" fmla="val 3053"/>
            </a:avLst>
          </a:prstGeom>
          <a:solidFill>
            <a:schemeClr val="bg2"/>
          </a:solidFill>
          <a:ln w="12700">
            <a:solidFill>
              <a:schemeClr val="bg2"/>
            </a:solidFill>
            <a:prstDash val="solid"/>
          </a:ln>
        </p:spPr>
      </p:sp>
      <p:sp>
        <p:nvSpPr>
          <p:cNvPr id="23" name="Icon circle"/>
          <p:cNvSpPr/>
          <p:nvPr/>
        </p:nvSpPr>
        <p:spPr>
          <a:xfrm>
            <a:off x="8321040" y="1645920"/>
            <a:ext cx="731520" cy="731520"/>
          </a:xfrm>
          <a:prstGeom prst="ellipse">
            <a:avLst/>
          </a:prstGeom>
          <a:solidFill>
            <a:schemeClr val="accent1"/>
          </a:solidFill>
          <a:ln w="12700">
            <a:solidFill>
              <a:schemeClr val="accent1"/>
            </a:solidFill>
            <a:prstDash val="solid"/>
          </a:ln>
        </p:spPr>
      </p:sp>
      <p:pic>
        <p:nvPicPr>
          <p:cNvPr id="24" name="Image 2" descr="FileAlt icon">    </p:cNvPr>
          <p:cNvPicPr>
            <a:picLocks noChangeAspect="1"/>
          </p:cNvPicPr>
          <p:nvPr/>
        </p:nvPicPr>
        <p:blipFill>
          <a:blip r:embed="rId3"/>
          <a:stretch>
            <a:fillRect/>
          </a:stretch>
        </p:blipFill>
        <p:spPr>
          <a:xfrm>
            <a:off x="8518550" y="1843430"/>
            <a:ext cx="336499" cy="336499"/>
          </a:xfrm>
          <a:prstGeom prst="rect">
            <a:avLst/>
          </a:prstGeom>
        </p:spPr>
      </p:pic>
      <p:sp>
        <p:nvSpPr>
          <p:cNvPr id="25" name="Text 20"/>
          <p:cNvSpPr txBox="1"/>
          <p:nvPr/>
        </p:nvSpPr>
        <p:spPr>
          <a:xfrm>
            <a:off x="9189720" y="169164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Five short stories</a:t>
            </a:r>
            <a:endParaRPr lang="en-US" sz="1800" dirty="0"/>
          </a:p>
        </p:txBody>
      </p:sp>
      <p:sp>
        <p:nvSpPr>
          <p:cNvPr id="26" name="Text 21"/>
          <p:cNvSpPr txBox="1"/>
          <p:nvPr/>
        </p:nvSpPr>
        <p:spPr>
          <a:xfrm>
            <a:off x="8321040" y="2651760"/>
            <a:ext cx="1554480" cy="640080"/>
          </a:xfrm>
          <a:prstGeom prst="rect">
            <a:avLst/>
          </a:prstGeom>
          <a:noFill/>
          <a:ln/>
        </p:spPr>
        <p:txBody>
          <a:bodyPr wrap="square" lIns="0" tIns="0" rIns="0" bIns="0" rtlCol="0" anchor="ctr"/>
          <a:lstStyle/>
          <a:p>
            <a:pPr indent="0" marL="0">
              <a:buNone/>
            </a:pPr>
            <a:r>
              <a:rPr lang="en-US" sz="3400" b="1" dirty="0">
                <a:solidFill>
                  <a:schemeClr val="accent5"/>
                </a:solidFill>
                <a:latin typeface="Georgia" pitchFamily="34" charset="0"/>
                <a:ea typeface="Georgia" pitchFamily="34" charset="-122"/>
                <a:cs typeface="Georgia" pitchFamily="34" charset="-120"/>
              </a:rPr>
              <a:t>103</a:t>
            </a:r>
            <a:endParaRPr lang="en-US" sz="3400" dirty="0"/>
          </a:p>
        </p:txBody>
      </p:sp>
      <p:sp>
        <p:nvSpPr>
          <p:cNvPr id="27" name="Text 22"/>
          <p:cNvSpPr txBox="1"/>
          <p:nvPr/>
        </p:nvSpPr>
        <p:spPr>
          <a:xfrm>
            <a:off x="9875520" y="2651760"/>
            <a:ext cx="1600200" cy="640080"/>
          </a:xfrm>
          <a:prstGeom prst="rect">
            <a:avLst/>
          </a:prstGeom>
          <a:noFill/>
          <a:ln/>
        </p:spPr>
        <p:txBody>
          <a:bodyPr wrap="square" lIns="0" tIns="0" rIns="0" bIns="0" rtlCol="0" anchor="ctr"/>
          <a:lstStyle/>
          <a:p>
            <a:pPr indent="0" marL="0">
              <a:buNone/>
            </a:pPr>
            <a:r>
              <a:rPr lang="en-US" sz="1300" dirty="0">
                <a:solidFill>
                  <a:schemeClr val="accent5"/>
                </a:solidFill>
              </a:rPr>
              <a:t>numbered sentence pairs</a:t>
            </a:r>
            <a:endParaRPr lang="en-US" sz="1300" dirty="0"/>
          </a:p>
        </p:txBody>
      </p:sp>
      <p:sp>
        <p:nvSpPr>
          <p:cNvPr id="28" name="Text 23"/>
          <p:cNvSpPr txBox="1"/>
          <p:nvPr/>
        </p:nvSpPr>
        <p:spPr>
          <a:xfrm>
            <a:off x="8321040" y="3611880"/>
            <a:ext cx="1554480" cy="640080"/>
          </a:xfrm>
          <a:prstGeom prst="rect">
            <a:avLst/>
          </a:prstGeom>
          <a:noFill/>
          <a:ln/>
        </p:spPr>
        <p:txBody>
          <a:bodyPr wrap="square" lIns="0" tIns="0" rIns="0" bIns="0" rtlCol="0" anchor="ctr"/>
          <a:lstStyle/>
          <a:p>
            <a:pPr indent="0" marL="0">
              <a:buNone/>
            </a:pPr>
            <a:r>
              <a:rPr lang="en-US" sz="3400" b="1" dirty="0">
                <a:solidFill>
                  <a:schemeClr val="accent1"/>
                </a:solidFill>
                <a:latin typeface="Georgia" pitchFamily="34" charset="0"/>
                <a:ea typeface="Georgia" pitchFamily="34" charset="-122"/>
                <a:cs typeface="Georgia" pitchFamily="34" charset="-120"/>
              </a:rPr>
              <a:t>96</a:t>
            </a:r>
            <a:endParaRPr lang="en-US" sz="3400" dirty="0"/>
          </a:p>
        </p:txBody>
      </p:sp>
      <p:sp>
        <p:nvSpPr>
          <p:cNvPr id="29" name="Text 24"/>
          <p:cNvSpPr txBox="1"/>
          <p:nvPr/>
        </p:nvSpPr>
        <p:spPr>
          <a:xfrm>
            <a:off x="9875520" y="3611880"/>
            <a:ext cx="1600200" cy="640080"/>
          </a:xfrm>
          <a:prstGeom prst="rect">
            <a:avLst/>
          </a:prstGeom>
          <a:noFill/>
          <a:ln/>
        </p:spPr>
        <p:txBody>
          <a:bodyPr wrap="square" lIns="0" tIns="0" rIns="0" bIns="0" rtlCol="0" anchor="ctr"/>
          <a:lstStyle/>
          <a:p>
            <a:pPr indent="0" marL="0">
              <a:buNone/>
            </a:pPr>
            <a:r>
              <a:rPr lang="en-US" sz="1300" dirty="0">
                <a:solidFill>
                  <a:schemeClr val="accent5"/>
                </a:solidFill>
              </a:rPr>
              <a:t>pairs kept</a:t>
            </a:r>
            <a:endParaRPr lang="en-US" sz="1300" dirty="0"/>
          </a:p>
        </p:txBody>
      </p:sp>
      <p:sp>
        <p:nvSpPr>
          <p:cNvPr id="30" name="Text 25"/>
          <p:cNvSpPr txBox="1"/>
          <p:nvPr/>
        </p:nvSpPr>
        <p:spPr>
          <a:xfrm>
            <a:off x="8321040" y="4754880"/>
            <a:ext cx="3063240" cy="1280160"/>
          </a:xfrm>
          <a:prstGeom prst="rect">
            <a:avLst/>
          </a:prstGeom>
          <a:noFill/>
          <a:ln/>
        </p:spPr>
        <p:txBody>
          <a:bodyPr wrap="square" lIns="0" tIns="0" rIns="0" bIns="0" rtlCol="0" anchor="t"/>
          <a:lstStyle/>
          <a:p>
            <a:pPr indent="0" marL="0">
              <a:buNone/>
            </a:pPr>
            <a:r>
              <a:rPr lang="en-US" sz="1400" dirty="0">
                <a:solidFill>
                  <a:schemeClr val="tx1"/>
                </a:solidFill>
              </a:rPr>
              <a:t>Human-aligned table; very short rows and unclear Acehnese rows removed.</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 AUGMENTATION</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Pivot translation adds about 5,700 pairs</a:t>
            </a:r>
            <a:endParaRPr lang="en-US" sz="3600" dirty="0"/>
          </a:p>
        </p:txBody>
      </p:sp>
      <p:sp>
        <p:nvSpPr>
          <p:cNvPr id="4" name="Flow box"/>
          <p:cNvSpPr/>
          <p:nvPr/>
        </p:nvSpPr>
        <p:spPr>
          <a:xfrm>
            <a:off x="548640" y="1508760"/>
            <a:ext cx="2560320" cy="1737360"/>
          </a:xfrm>
          <a:prstGeom prst="roundRect">
            <a:avLst>
              <a:gd name="adj" fmla="val 6316"/>
            </a:avLst>
          </a:prstGeom>
          <a:solidFill>
            <a:srgbClr val="0D9488"/>
          </a:solidFill>
          <a:ln w="12700">
            <a:solidFill>
              <a:srgbClr val="0D9488"/>
            </a:solidFill>
            <a:prstDash val="solid"/>
          </a:ln>
        </p:spPr>
      </p:sp>
      <p:sp>
        <p:nvSpPr>
          <p:cNvPr id="5" name="Text 3"/>
          <p:cNvSpPr txBox="1"/>
          <p:nvPr/>
        </p:nvSpPr>
        <p:spPr>
          <a:xfrm>
            <a:off x="685800" y="1645920"/>
            <a:ext cx="2286000" cy="640080"/>
          </a:xfrm>
          <a:prstGeom prst="rect">
            <a:avLst/>
          </a:prstGeom>
          <a:noFill/>
          <a:ln/>
        </p:spPr>
        <p:txBody>
          <a:bodyPr wrap="square" lIns="0" tIns="0" rIns="0" bIns="0" rtlCol="0" anchor="ctr"/>
          <a:lstStyle/>
          <a:p>
            <a:pPr indent="0" marL="0">
              <a:buNone/>
            </a:pPr>
            <a:r>
              <a:rPr lang="en-US" sz="1700" b="1" dirty="0">
                <a:solidFill>
                  <a:srgbClr val="FFFFFF"/>
                </a:solidFill>
              </a:rPr>
              <a:t>Acehnese</a:t>
            </a:r>
            <a:endParaRPr lang="en-US" sz="1700" dirty="0"/>
          </a:p>
        </p:txBody>
      </p:sp>
      <p:sp>
        <p:nvSpPr>
          <p:cNvPr id="6" name="Text 4"/>
          <p:cNvSpPr txBox="1"/>
          <p:nvPr/>
        </p:nvSpPr>
        <p:spPr>
          <a:xfrm>
            <a:off x="685800" y="2286000"/>
            <a:ext cx="2286000" cy="868680"/>
          </a:xfrm>
          <a:prstGeom prst="rect">
            <a:avLst/>
          </a:prstGeom>
          <a:noFill/>
          <a:ln/>
        </p:spPr>
        <p:txBody>
          <a:bodyPr wrap="square" lIns="0" tIns="0" rIns="0" bIns="0" rtlCol="0" anchor="t"/>
          <a:lstStyle/>
          <a:p>
            <a:pPr indent="0" marL="0">
              <a:buNone/>
            </a:pPr>
            <a:r>
              <a:rPr lang="en-US" sz="1300" dirty="0">
                <a:solidFill>
                  <a:srgbClr val="FFFFFF"/>
                </a:solidFill>
              </a:rPr>
              <a:t>6,193 human-written sentences (NLLB-Seed)</a:t>
            </a:r>
            <a:endParaRPr lang="en-US" sz="1300" dirty="0"/>
          </a:p>
        </p:txBody>
      </p:sp>
      <p:sp>
        <p:nvSpPr>
          <p:cNvPr id="7" name="Flow arrow"/>
          <p:cNvSpPr/>
          <p:nvPr/>
        </p:nvSpPr>
        <p:spPr>
          <a:xfrm>
            <a:off x="3118104" y="2194560"/>
            <a:ext cx="201168" cy="256032"/>
          </a:xfrm>
          <a:prstGeom prst="rightArrow">
            <a:avLst/>
          </a:prstGeom>
          <a:solidFill>
            <a:schemeClr val="accent1"/>
          </a:solidFill>
          <a:ln w="12700">
            <a:solidFill>
              <a:schemeClr val="accent1"/>
            </a:solidFill>
            <a:prstDash val="solid"/>
          </a:ln>
        </p:spPr>
      </p:sp>
      <p:sp>
        <p:nvSpPr>
          <p:cNvPr id="8" name="Flow box"/>
          <p:cNvSpPr/>
          <p:nvPr/>
        </p:nvSpPr>
        <p:spPr>
          <a:xfrm>
            <a:off x="3383280" y="1508760"/>
            <a:ext cx="2560320" cy="1737360"/>
          </a:xfrm>
          <a:prstGeom prst="roundRect">
            <a:avLst>
              <a:gd name="adj" fmla="val 6316"/>
            </a:avLst>
          </a:prstGeom>
          <a:solidFill>
            <a:srgbClr val="4F6F7A"/>
          </a:solidFill>
          <a:ln w="12700">
            <a:solidFill>
              <a:srgbClr val="4F6F7A"/>
            </a:solidFill>
            <a:prstDash val="solid"/>
          </a:ln>
        </p:spPr>
      </p:sp>
      <p:sp>
        <p:nvSpPr>
          <p:cNvPr id="9" name="Text 7"/>
          <p:cNvSpPr txBox="1"/>
          <p:nvPr/>
        </p:nvSpPr>
        <p:spPr>
          <a:xfrm>
            <a:off x="3520440" y="1645920"/>
            <a:ext cx="2286000" cy="640080"/>
          </a:xfrm>
          <a:prstGeom prst="rect">
            <a:avLst/>
          </a:prstGeom>
          <a:noFill/>
          <a:ln/>
        </p:spPr>
        <p:txBody>
          <a:bodyPr wrap="square" lIns="0" tIns="0" rIns="0" bIns="0" rtlCol="0" anchor="ctr"/>
          <a:lstStyle/>
          <a:p>
            <a:pPr indent="0" marL="0">
              <a:buNone/>
            </a:pPr>
            <a:r>
              <a:rPr lang="en-US" sz="1700" b="1" dirty="0">
                <a:solidFill>
                  <a:srgbClr val="FFFFFF"/>
                </a:solidFill>
              </a:rPr>
              <a:t>English</a:t>
            </a:r>
            <a:endParaRPr lang="en-US" sz="1700" dirty="0"/>
          </a:p>
        </p:txBody>
      </p:sp>
      <p:sp>
        <p:nvSpPr>
          <p:cNvPr id="10" name="Text 8"/>
          <p:cNvSpPr txBox="1"/>
          <p:nvPr/>
        </p:nvSpPr>
        <p:spPr>
          <a:xfrm>
            <a:off x="3520440" y="2286000"/>
            <a:ext cx="2286000" cy="868680"/>
          </a:xfrm>
          <a:prstGeom prst="rect">
            <a:avLst/>
          </a:prstGeom>
          <a:noFill/>
          <a:ln/>
        </p:spPr>
        <p:txBody>
          <a:bodyPr wrap="square" lIns="0" tIns="0" rIns="0" bIns="0" rtlCol="0" anchor="t"/>
          <a:lstStyle/>
          <a:p>
            <a:pPr indent="0" marL="0">
              <a:buNone/>
            </a:pPr>
            <a:r>
              <a:rPr lang="en-US" sz="1300" dirty="0">
                <a:solidFill>
                  <a:srgbClr val="FFFFFF"/>
                </a:solidFill>
              </a:rPr>
              <a:t>Same meaning, from the same dataset</a:t>
            </a:r>
            <a:endParaRPr lang="en-US" sz="1300" dirty="0"/>
          </a:p>
        </p:txBody>
      </p:sp>
      <p:sp>
        <p:nvSpPr>
          <p:cNvPr id="11" name="Flow arrow"/>
          <p:cNvSpPr/>
          <p:nvPr/>
        </p:nvSpPr>
        <p:spPr>
          <a:xfrm>
            <a:off x="5952744" y="2194560"/>
            <a:ext cx="201168" cy="256032"/>
          </a:xfrm>
          <a:prstGeom prst="rightArrow">
            <a:avLst/>
          </a:prstGeom>
          <a:solidFill>
            <a:schemeClr val="accent1"/>
          </a:solidFill>
          <a:ln w="12700">
            <a:solidFill>
              <a:schemeClr val="accent1"/>
            </a:solidFill>
            <a:prstDash val="solid"/>
          </a:ln>
        </p:spPr>
      </p:sp>
      <p:sp>
        <p:nvSpPr>
          <p:cNvPr id="12" name="Flow box"/>
          <p:cNvSpPr/>
          <p:nvPr/>
        </p:nvSpPr>
        <p:spPr>
          <a:xfrm>
            <a:off x="6217920" y="1508760"/>
            <a:ext cx="2560320" cy="1737360"/>
          </a:xfrm>
          <a:prstGeom prst="roundRect">
            <a:avLst>
              <a:gd name="adj" fmla="val 6316"/>
            </a:avLst>
          </a:prstGeom>
          <a:solidFill>
            <a:srgbClr val="0B3C49"/>
          </a:solidFill>
          <a:ln w="12700">
            <a:solidFill>
              <a:srgbClr val="0B3C49"/>
            </a:solidFill>
            <a:prstDash val="solid"/>
          </a:ln>
        </p:spPr>
      </p:sp>
      <p:sp>
        <p:nvSpPr>
          <p:cNvPr id="13" name="Text 11"/>
          <p:cNvSpPr txBox="1"/>
          <p:nvPr/>
        </p:nvSpPr>
        <p:spPr>
          <a:xfrm>
            <a:off x="6355080" y="1645920"/>
            <a:ext cx="2286000" cy="640080"/>
          </a:xfrm>
          <a:prstGeom prst="rect">
            <a:avLst/>
          </a:prstGeom>
          <a:noFill/>
          <a:ln/>
        </p:spPr>
        <p:txBody>
          <a:bodyPr wrap="square" lIns="0" tIns="0" rIns="0" bIns="0" rtlCol="0" anchor="ctr"/>
          <a:lstStyle/>
          <a:p>
            <a:pPr indent="0" marL="0">
              <a:buNone/>
            </a:pPr>
            <a:r>
              <a:rPr lang="en-US" sz="1700" b="1" dirty="0">
                <a:solidFill>
                  <a:srgbClr val="FFFFFF"/>
                </a:solidFill>
              </a:rPr>
              <a:t>NLLB English → Indonesian</a:t>
            </a:r>
            <a:endParaRPr lang="en-US" sz="1700" dirty="0"/>
          </a:p>
        </p:txBody>
      </p:sp>
      <p:sp>
        <p:nvSpPr>
          <p:cNvPr id="14" name="Text 12"/>
          <p:cNvSpPr txBox="1"/>
          <p:nvPr/>
        </p:nvSpPr>
        <p:spPr>
          <a:xfrm>
            <a:off x="6355080" y="2286000"/>
            <a:ext cx="2286000" cy="868680"/>
          </a:xfrm>
          <a:prstGeom prst="rect">
            <a:avLst/>
          </a:prstGeom>
          <a:noFill/>
          <a:ln/>
        </p:spPr>
        <p:txBody>
          <a:bodyPr wrap="square" lIns="0" tIns="0" rIns="0" bIns="0" rtlCol="0" anchor="t"/>
          <a:lstStyle/>
          <a:p>
            <a:pPr indent="0" marL="0">
              <a:buNone/>
            </a:pPr>
            <a:r>
              <a:rPr lang="en-US" sz="1300" dirty="0">
                <a:solidFill>
                  <a:srgbClr val="FFFFFF"/>
                </a:solidFill>
              </a:rPr>
              <a:t>A strong, high-resource direction</a:t>
            </a:r>
            <a:endParaRPr lang="en-US" sz="1300" dirty="0"/>
          </a:p>
        </p:txBody>
      </p:sp>
      <p:sp>
        <p:nvSpPr>
          <p:cNvPr id="15" name="Flow arrow"/>
          <p:cNvSpPr/>
          <p:nvPr/>
        </p:nvSpPr>
        <p:spPr>
          <a:xfrm>
            <a:off x="8787384" y="2194560"/>
            <a:ext cx="201168" cy="256032"/>
          </a:xfrm>
          <a:prstGeom prst="rightArrow">
            <a:avLst/>
          </a:prstGeom>
          <a:solidFill>
            <a:schemeClr val="accent1"/>
          </a:solidFill>
          <a:ln w="12700">
            <a:solidFill>
              <a:schemeClr val="accent1"/>
            </a:solidFill>
            <a:prstDash val="solid"/>
          </a:ln>
        </p:spPr>
      </p:sp>
      <p:sp>
        <p:nvSpPr>
          <p:cNvPr id="16" name="Flow box"/>
          <p:cNvSpPr/>
          <p:nvPr/>
        </p:nvSpPr>
        <p:spPr>
          <a:xfrm>
            <a:off x="9052560" y="1508760"/>
            <a:ext cx="2560320" cy="1737360"/>
          </a:xfrm>
          <a:prstGeom prst="roundRect">
            <a:avLst>
              <a:gd name="adj" fmla="val 6316"/>
            </a:avLst>
          </a:prstGeom>
          <a:solidFill>
            <a:srgbClr val="E9A23B"/>
          </a:solidFill>
          <a:ln w="12700">
            <a:solidFill>
              <a:srgbClr val="E9A23B"/>
            </a:solidFill>
            <a:prstDash val="solid"/>
          </a:ln>
        </p:spPr>
      </p:sp>
      <p:sp>
        <p:nvSpPr>
          <p:cNvPr id="17" name="Text 15"/>
          <p:cNvSpPr txBox="1"/>
          <p:nvPr/>
        </p:nvSpPr>
        <p:spPr>
          <a:xfrm>
            <a:off x="9189720" y="1645920"/>
            <a:ext cx="2286000" cy="640080"/>
          </a:xfrm>
          <a:prstGeom prst="rect">
            <a:avLst/>
          </a:prstGeom>
          <a:noFill/>
          <a:ln/>
        </p:spPr>
        <p:txBody>
          <a:bodyPr wrap="square" lIns="0" tIns="0" rIns="0" bIns="0" rtlCol="0" anchor="ctr"/>
          <a:lstStyle/>
          <a:p>
            <a:pPr indent="0" marL="0">
              <a:buNone/>
            </a:pPr>
            <a:r>
              <a:rPr lang="en-US" sz="1700" b="1" dirty="0">
                <a:solidFill>
                  <a:srgbClr val="12303A"/>
                </a:solidFill>
              </a:rPr>
              <a:t>Training pair</a:t>
            </a:r>
            <a:endParaRPr lang="en-US" sz="1700" dirty="0"/>
          </a:p>
        </p:txBody>
      </p:sp>
      <p:sp>
        <p:nvSpPr>
          <p:cNvPr id="18" name="Text 16"/>
          <p:cNvSpPr txBox="1"/>
          <p:nvPr/>
        </p:nvSpPr>
        <p:spPr>
          <a:xfrm>
            <a:off x="9189720" y="2286000"/>
            <a:ext cx="2286000" cy="868680"/>
          </a:xfrm>
          <a:prstGeom prst="rect">
            <a:avLst/>
          </a:prstGeom>
          <a:noFill/>
          <a:ln/>
        </p:spPr>
        <p:txBody>
          <a:bodyPr wrap="square" lIns="0" tIns="0" rIns="0" bIns="0" rtlCol="0" anchor="t"/>
          <a:lstStyle/>
          <a:p>
            <a:pPr indent="0" marL="0">
              <a:buNone/>
            </a:pPr>
            <a:r>
              <a:rPr lang="en-US" sz="1300" dirty="0">
                <a:solidFill>
                  <a:srgbClr val="12303A"/>
                </a:solidFill>
              </a:rPr>
              <a:t>Human Acehnese + machine Indonesian, labelled</a:t>
            </a:r>
            <a:endParaRPr lang="en-US" sz="1300" dirty="0"/>
          </a:p>
        </p:txBody>
      </p:sp>
      <p:sp>
        <p:nvSpPr>
          <p:cNvPr id="19" name="Filters card"/>
          <p:cNvSpPr/>
          <p:nvPr/>
        </p:nvSpPr>
        <p:spPr>
          <a:xfrm>
            <a:off x="548640" y="3611880"/>
            <a:ext cx="5394960" cy="2606040"/>
          </a:xfrm>
          <a:prstGeom prst="roundRect">
            <a:avLst>
              <a:gd name="adj" fmla="val 4211"/>
            </a:avLst>
          </a:prstGeom>
          <a:solidFill>
            <a:schemeClr val="bg2"/>
          </a:solidFill>
          <a:ln w="12700">
            <a:solidFill>
              <a:schemeClr val="bg2"/>
            </a:solidFill>
            <a:prstDash val="solid"/>
          </a:ln>
        </p:spPr>
      </p:sp>
      <p:sp>
        <p:nvSpPr>
          <p:cNvPr id="20" name="Text 18"/>
          <p:cNvSpPr txBox="1"/>
          <p:nvPr/>
        </p:nvSpPr>
        <p:spPr>
          <a:xfrm>
            <a:off x="822960" y="3749040"/>
            <a:ext cx="4937760" cy="365760"/>
          </a:xfrm>
          <a:prstGeom prst="rect">
            <a:avLst/>
          </a:prstGeom>
          <a:noFill/>
          <a:ln/>
        </p:spPr>
        <p:txBody>
          <a:bodyPr wrap="square" lIns="0" tIns="0" rIns="0" bIns="0" rtlCol="0" anchor="t"/>
          <a:lstStyle/>
          <a:p>
            <a:pPr indent="0" marL="0">
              <a:buNone/>
            </a:pPr>
            <a:r>
              <a:rPr lang="en-US" sz="1700" b="1" dirty="0">
                <a:solidFill>
                  <a:schemeClr val="tx1"/>
                </a:solidFill>
              </a:rPr>
              <a:t>Filters before a pair is kept</a:t>
            </a:r>
            <a:endParaRPr lang="en-US" sz="1700" dirty="0"/>
          </a:p>
        </p:txBody>
      </p:sp>
      <p:sp>
        <p:nvSpPr>
          <p:cNvPr id="21" name="Text 19"/>
          <p:cNvSpPr txBox="1"/>
          <p:nvPr/>
        </p:nvSpPr>
        <p:spPr>
          <a:xfrm>
            <a:off x="822960" y="4160520"/>
            <a:ext cx="4937760" cy="1965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4 to 60 words on each side</a:t>
            </a:r>
            <a:endParaRPr lang="en-US" sz="1600" dirty="0"/>
          </a:p>
          <a:p>
            <a:pPr marL="342900" indent="-342900">
              <a:spcAft>
                <a:spcPts val="800"/>
              </a:spcAft>
              <a:buSzPct val="100000"/>
              <a:buChar char="•"/>
            </a:pPr>
            <a:r>
              <a:rPr lang="en-US" sz="1600" dirty="0">
                <a:solidFill>
                  <a:schemeClr val="tx1"/>
                </a:solidFill>
              </a:rPr>
              <a:t>Word-count ratio between the two sides within 0.5 to 2</a:t>
            </a:r>
            <a:endParaRPr lang="en-US" sz="1600" dirty="0"/>
          </a:p>
          <a:p>
            <a:pPr marL="342900" indent="-342900">
              <a:spcAft>
                <a:spcPts val="800"/>
              </a:spcAft>
              <a:buSzPct val="100000"/>
              <a:buChar char="•"/>
            </a:pPr>
            <a:r>
              <a:rPr lang="en-US" sz="1600" dirty="0">
                <a:solidFill>
                  <a:schemeClr val="tx1"/>
                </a:solidFill>
              </a:rPr>
              <a:t>Acehnese side must pass the language check</a:t>
            </a:r>
            <a:endParaRPr lang="en-US" sz="1600" dirty="0"/>
          </a:p>
          <a:p>
            <a:pPr marL="342900" indent="-342900">
              <a:spcAft>
                <a:spcPts val="800"/>
              </a:spcAft>
              <a:buSzPct val="100000"/>
              <a:buChar char="•"/>
            </a:pPr>
            <a:r>
              <a:rPr lang="en-US" sz="1600" dirty="0">
                <a:solidFill>
                  <a:schemeClr val="tx1"/>
                </a:solidFill>
              </a:rPr>
              <a:t>Leak check against validation and test sets</a:t>
            </a:r>
            <a:endParaRPr lang="en-US" sz="1600" dirty="0"/>
          </a:p>
        </p:txBody>
      </p:sp>
      <p:sp>
        <p:nvSpPr>
          <p:cNvPr id="22" name="Result card"/>
          <p:cNvSpPr/>
          <p:nvPr/>
        </p:nvSpPr>
        <p:spPr>
          <a:xfrm>
            <a:off x="6245352" y="3611880"/>
            <a:ext cx="5394960" cy="2606040"/>
          </a:xfrm>
          <a:prstGeom prst="roundRect">
            <a:avLst>
              <a:gd name="adj" fmla="val 4211"/>
            </a:avLst>
          </a:prstGeom>
          <a:solidFill>
            <a:schemeClr val="bg2"/>
          </a:solidFill>
          <a:ln w="12700">
            <a:solidFill>
              <a:schemeClr val="bg2"/>
            </a:solidFill>
            <a:prstDash val="solid"/>
          </a:ln>
        </p:spPr>
      </p:sp>
      <p:sp>
        <p:nvSpPr>
          <p:cNvPr id="23" name="Stat candidates after filtering"/>
          <p:cNvSpPr txBox="1"/>
          <p:nvPr/>
        </p:nvSpPr>
        <p:spPr>
          <a:xfrm>
            <a:off x="6519672" y="3749040"/>
            <a:ext cx="2377440" cy="731520"/>
          </a:xfrm>
          <a:prstGeom prst="rect">
            <a:avLst/>
          </a:prstGeom>
          <a:noFill/>
          <a:ln/>
        </p:spPr>
        <p:txBody>
          <a:bodyPr wrap="square" lIns="0" tIns="0" rIns="0" bIns="0" rtlCol="0" anchor="t"/>
          <a:lstStyle/>
          <a:p>
            <a:pPr indent="0" marL="0">
              <a:buNone/>
            </a:pPr>
            <a:r>
              <a:rPr lang="en-US" sz="4000" b="1" dirty="0">
                <a:solidFill>
                  <a:schemeClr val="accent1"/>
                </a:solidFill>
                <a:latin typeface="Georgia" pitchFamily="34" charset="0"/>
                <a:ea typeface="Georgia" pitchFamily="34" charset="-122"/>
                <a:cs typeface="Georgia" pitchFamily="34" charset="-120"/>
              </a:rPr>
              <a:t>5,750</a:t>
            </a:r>
            <a:endParaRPr lang="en-US" sz="4000" dirty="0"/>
          </a:p>
        </p:txBody>
      </p:sp>
      <p:sp>
        <p:nvSpPr>
          <p:cNvPr id="24" name="Text 22"/>
          <p:cNvSpPr txBox="1"/>
          <p:nvPr/>
        </p:nvSpPr>
        <p:spPr>
          <a:xfrm>
            <a:off x="6519672" y="4358640"/>
            <a:ext cx="2377440" cy="548640"/>
          </a:xfrm>
          <a:prstGeom prst="rect">
            <a:avLst/>
          </a:prstGeom>
          <a:noFill/>
          <a:ln/>
        </p:spPr>
        <p:txBody>
          <a:bodyPr wrap="square" lIns="0" tIns="0" rIns="0" bIns="0" rtlCol="0" anchor="t"/>
          <a:lstStyle/>
          <a:p>
            <a:pPr indent="0" marL="0">
              <a:buNone/>
            </a:pPr>
            <a:r>
              <a:rPr lang="en-US" sz="1400" dirty="0">
                <a:solidFill>
                  <a:schemeClr val="accent5"/>
                </a:solidFill>
              </a:rPr>
              <a:t>candidates after filtering</a:t>
            </a:r>
            <a:endParaRPr lang="en-US" sz="1400" dirty="0"/>
          </a:p>
        </p:txBody>
      </p:sp>
      <p:sp>
        <p:nvSpPr>
          <p:cNvPr id="25" name="Stat pairs in the final training mix (about)"/>
          <p:cNvSpPr txBox="1"/>
          <p:nvPr/>
        </p:nvSpPr>
        <p:spPr>
          <a:xfrm>
            <a:off x="9144000" y="3749040"/>
            <a:ext cx="2377440" cy="731520"/>
          </a:xfrm>
          <a:prstGeom prst="rect">
            <a:avLst/>
          </a:prstGeom>
          <a:noFill/>
          <a:ln/>
        </p:spPr>
        <p:txBody>
          <a:bodyPr wrap="square" lIns="0" tIns="0" rIns="0" bIns="0" rtlCol="0" anchor="t"/>
          <a:lstStyle/>
          <a:p>
            <a:pPr indent="0" marL="0">
              <a:buNone/>
            </a:pPr>
            <a:r>
              <a:rPr lang="en-US" sz="4000" b="1" dirty="0">
                <a:solidFill>
                  <a:schemeClr val="accent1"/>
                </a:solidFill>
                <a:latin typeface="Georgia" pitchFamily="34" charset="0"/>
                <a:ea typeface="Georgia" pitchFamily="34" charset="-122"/>
                <a:cs typeface="Georgia" pitchFamily="34" charset="-120"/>
              </a:rPr>
              <a:t>5,733</a:t>
            </a:r>
            <a:endParaRPr lang="en-US" sz="4000" dirty="0"/>
          </a:p>
        </p:txBody>
      </p:sp>
      <p:sp>
        <p:nvSpPr>
          <p:cNvPr id="26" name="Text 24"/>
          <p:cNvSpPr txBox="1"/>
          <p:nvPr/>
        </p:nvSpPr>
        <p:spPr>
          <a:xfrm>
            <a:off x="9144000" y="4358640"/>
            <a:ext cx="2377440" cy="731520"/>
          </a:xfrm>
          <a:prstGeom prst="rect">
            <a:avLst/>
          </a:prstGeom>
          <a:noFill/>
          <a:ln/>
        </p:spPr>
        <p:txBody>
          <a:bodyPr wrap="square" lIns="0" tIns="0" rIns="0" bIns="0" rtlCol="0" anchor="t"/>
          <a:lstStyle/>
          <a:p>
            <a:pPr indent="0" marL="0">
              <a:buNone/>
            </a:pPr>
            <a:r>
              <a:rPr lang="en-US" sz="1400" dirty="0">
                <a:solidFill>
                  <a:schemeClr val="accent5"/>
                </a:solidFill>
              </a:rPr>
              <a:t>pairs in the final training mix (about)</a:t>
            </a:r>
            <a:endParaRPr lang="en-US" sz="1400" dirty="0"/>
          </a:p>
        </p:txBody>
      </p:sp>
      <p:sp>
        <p:nvSpPr>
          <p:cNvPr id="27" name="Text 25"/>
          <p:cNvSpPr txBox="1"/>
          <p:nvPr/>
        </p:nvSpPr>
        <p:spPr>
          <a:xfrm>
            <a:off x="6519672" y="5349240"/>
            <a:ext cx="4937760" cy="777240"/>
          </a:xfrm>
          <a:prstGeom prst="rect">
            <a:avLst/>
          </a:prstGeom>
          <a:noFill/>
          <a:ln/>
        </p:spPr>
        <p:txBody>
          <a:bodyPr wrap="square" lIns="0" tIns="0" rIns="0" bIns="0" rtlCol="0" anchor="t"/>
          <a:lstStyle/>
          <a:p>
            <a:pPr indent="0" marL="0">
              <a:buNone/>
            </a:pPr>
            <a:r>
              <a:rPr lang="en-US" sz="1400" dirty="0">
                <a:solidFill>
                  <a:schemeClr val="tx1"/>
                </a:solidFill>
              </a:rPr>
              <a:t>Also broadening the data: Wikipedia aligned sentences (375) and Quran verses (5,466).</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DATA</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Preparing and checking the text</a:t>
            </a:r>
            <a:endParaRPr lang="en-US" sz="3600" dirty="0"/>
          </a:p>
        </p:txBody>
      </p:sp>
      <p:sp>
        <p:nvSpPr>
          <p:cNvPr id="4" name="Check card"/>
          <p:cNvSpPr/>
          <p:nvPr/>
        </p:nvSpPr>
        <p:spPr>
          <a:xfrm>
            <a:off x="548640" y="1417320"/>
            <a:ext cx="3593592" cy="4754880"/>
          </a:xfrm>
          <a:prstGeom prst="roundRect">
            <a:avLst>
              <a:gd name="adj" fmla="val 3053"/>
            </a:avLst>
          </a:prstGeom>
          <a:solidFill>
            <a:schemeClr val="bg2"/>
          </a:solidFill>
          <a:ln w="12700">
            <a:solidFill>
              <a:schemeClr val="bg2"/>
            </a:solidFill>
            <a:prstDash val="solid"/>
          </a:ln>
        </p:spPr>
      </p:sp>
      <p:sp>
        <p:nvSpPr>
          <p:cNvPr id="5" name="Icon circle"/>
          <p:cNvSpPr/>
          <p:nvPr/>
        </p:nvSpPr>
        <p:spPr>
          <a:xfrm>
            <a:off x="822960" y="1645920"/>
            <a:ext cx="685800" cy="685800"/>
          </a:xfrm>
          <a:prstGeom prst="ellipse">
            <a:avLst/>
          </a:prstGeom>
          <a:solidFill>
            <a:schemeClr val="accent1"/>
          </a:solidFill>
          <a:ln w="12700">
            <a:solidFill>
              <a:schemeClr val="accent1"/>
            </a:solidFill>
            <a:prstDash val="solid"/>
          </a:ln>
        </p:spPr>
      </p:sp>
      <p:pic>
        <p:nvPicPr>
          <p:cNvPr id="6" name="Image 0" descr="Language icon">    </p:cNvPr>
          <p:cNvPicPr>
            <a:picLocks noChangeAspect="1"/>
          </p:cNvPicPr>
          <p:nvPr/>
        </p:nvPicPr>
        <p:blipFill>
          <a:blip r:embed="rId1"/>
          <a:stretch>
            <a:fillRect/>
          </a:stretch>
        </p:blipFill>
        <p:spPr>
          <a:xfrm>
            <a:off x="1008126" y="1831086"/>
            <a:ext cx="315468" cy="315468"/>
          </a:xfrm>
          <a:prstGeom prst="rect">
            <a:avLst/>
          </a:prstGeom>
        </p:spPr>
      </p:pic>
      <p:sp>
        <p:nvSpPr>
          <p:cNvPr id="7" name="Text 4"/>
          <p:cNvSpPr txBox="1"/>
          <p:nvPr/>
        </p:nvSpPr>
        <p:spPr>
          <a:xfrm>
            <a:off x="1691640" y="1645920"/>
            <a:ext cx="2286000" cy="365760"/>
          </a:xfrm>
          <a:prstGeom prst="rect">
            <a:avLst/>
          </a:prstGeom>
          <a:noFill/>
          <a:ln/>
        </p:spPr>
        <p:txBody>
          <a:bodyPr wrap="square" lIns="0" tIns="0" rIns="0" bIns="0" rtlCol="0" anchor="t"/>
          <a:lstStyle/>
          <a:p>
            <a:pPr indent="0" marL="0">
              <a:buNone/>
            </a:pPr>
            <a:r>
              <a:rPr lang="en-US" sz="1800" b="1" dirty="0">
                <a:solidFill>
                  <a:schemeClr val="tx1"/>
                </a:solidFill>
              </a:rPr>
              <a:t>Normalization</a:t>
            </a:r>
            <a:endParaRPr lang="en-US" sz="1800" dirty="0"/>
          </a:p>
        </p:txBody>
      </p:sp>
      <p:sp>
        <p:nvSpPr>
          <p:cNvPr id="8" name="Text 5"/>
          <p:cNvSpPr txBox="1"/>
          <p:nvPr/>
        </p:nvSpPr>
        <p:spPr>
          <a:xfrm>
            <a:off x="1691640" y="2011680"/>
            <a:ext cx="2286000" cy="411480"/>
          </a:xfrm>
          <a:prstGeom prst="rect">
            <a:avLst/>
          </a:prstGeom>
          <a:noFill/>
          <a:ln/>
        </p:spPr>
        <p:txBody>
          <a:bodyPr wrap="square" lIns="0" tIns="0" rIns="0" bIns="0" rtlCol="0" anchor="t"/>
          <a:lstStyle/>
          <a:p>
            <a:pPr indent="0" marL="0">
              <a:buNone/>
            </a:pPr>
            <a:r>
              <a:rPr lang="en-US" sz="1200" dirty="0">
                <a:solidFill>
                  <a:schemeClr val="accent5"/>
                </a:solidFill>
              </a:rPr>
              <a:t>Same rules in training and in the app</a:t>
            </a:r>
            <a:endParaRPr lang="en-US" sz="1200" dirty="0"/>
          </a:p>
        </p:txBody>
      </p:sp>
      <p:sp>
        <p:nvSpPr>
          <p:cNvPr id="9" name="Text 6"/>
          <p:cNvSpPr txBox="1"/>
          <p:nvPr/>
        </p:nvSpPr>
        <p:spPr>
          <a:xfrm>
            <a:off x="822960" y="2788920"/>
            <a:ext cx="3108960" cy="32918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Unicode NFC and straight quotes</a:t>
            </a:r>
            <a:endParaRPr lang="en-US" sz="1600" dirty="0"/>
          </a:p>
          <a:p>
            <a:pPr marL="342900" indent="-342900">
              <a:spcAft>
                <a:spcPts val="1200"/>
              </a:spcAft>
              <a:buSzPct val="100000"/>
              <a:buChar char="•"/>
            </a:pPr>
            <a:r>
              <a:rPr lang="en-US" sz="1600" dirty="0">
                <a:solidFill>
                  <a:schemeClr val="tx1"/>
                </a:solidFill>
              </a:rPr>
              <a:t>Dutch-era spellings: njang → nyang, djipeugot → jipeugot</a:t>
            </a:r>
            <a:endParaRPr lang="en-US" sz="1600" dirty="0"/>
          </a:p>
          <a:p>
            <a:pPr marL="342900" indent="-342900">
              <a:spcAft>
                <a:spcPts val="1200"/>
              </a:spcAft>
              <a:buSzPct val="100000"/>
              <a:buChar char="•"/>
            </a:pPr>
            <a:r>
              <a:rPr lang="en-US" sz="1600" dirty="0">
                <a:solidFill>
                  <a:schemeClr val="tx1"/>
                </a:solidFill>
              </a:rPr>
              <a:t>Diaeresis removed: löen → loen</a:t>
            </a:r>
            <a:endParaRPr lang="en-US" sz="1600" dirty="0"/>
          </a:p>
          <a:p>
            <a:pPr marL="342900" indent="-342900">
              <a:spcAft>
                <a:spcPts val="1200"/>
              </a:spcAft>
              <a:buSzPct val="100000"/>
              <a:buChar char="•"/>
            </a:pPr>
            <a:r>
              <a:rPr lang="en-US" sz="1600" dirty="0">
                <a:solidFill>
                  <a:schemeClr val="tx1"/>
                </a:solidFill>
              </a:rPr>
              <a:t>Original text always kept beside the normalized text</a:t>
            </a:r>
            <a:endParaRPr lang="en-US" sz="1600" dirty="0"/>
          </a:p>
        </p:txBody>
      </p:sp>
      <p:sp>
        <p:nvSpPr>
          <p:cNvPr id="10" name="Check card"/>
          <p:cNvSpPr/>
          <p:nvPr/>
        </p:nvSpPr>
        <p:spPr>
          <a:xfrm>
            <a:off x="4297680" y="1417320"/>
            <a:ext cx="3593592" cy="4754880"/>
          </a:xfrm>
          <a:prstGeom prst="roundRect">
            <a:avLst>
              <a:gd name="adj" fmla="val 3053"/>
            </a:avLst>
          </a:prstGeom>
          <a:solidFill>
            <a:schemeClr val="bg2"/>
          </a:solidFill>
          <a:ln w="12700">
            <a:solidFill>
              <a:schemeClr val="bg2"/>
            </a:solidFill>
            <a:prstDash val="solid"/>
          </a:ln>
        </p:spPr>
      </p:sp>
      <p:sp>
        <p:nvSpPr>
          <p:cNvPr id="11" name="Icon circle"/>
          <p:cNvSpPr/>
          <p:nvPr/>
        </p:nvSpPr>
        <p:spPr>
          <a:xfrm>
            <a:off x="4572000" y="1645920"/>
            <a:ext cx="685800" cy="685800"/>
          </a:xfrm>
          <a:prstGeom prst="ellipse">
            <a:avLst/>
          </a:prstGeom>
          <a:solidFill>
            <a:schemeClr val="accent1"/>
          </a:solidFill>
          <a:ln w="12700">
            <a:solidFill>
              <a:schemeClr val="accent1"/>
            </a:solidFill>
            <a:prstDash val="solid"/>
          </a:ln>
        </p:spPr>
      </p:sp>
      <p:pic>
        <p:nvPicPr>
          <p:cNvPr id="12" name="Image 1" descr="Search icon">    </p:cNvPr>
          <p:cNvPicPr>
            <a:picLocks noChangeAspect="1"/>
          </p:cNvPicPr>
          <p:nvPr/>
        </p:nvPicPr>
        <p:blipFill>
          <a:blip r:embed="rId2"/>
          <a:stretch>
            <a:fillRect/>
          </a:stretch>
        </p:blipFill>
        <p:spPr>
          <a:xfrm>
            <a:off x="4757166" y="1831086"/>
            <a:ext cx="315468" cy="315468"/>
          </a:xfrm>
          <a:prstGeom prst="rect">
            <a:avLst/>
          </a:prstGeom>
        </p:spPr>
      </p:pic>
      <p:sp>
        <p:nvSpPr>
          <p:cNvPr id="13" name="Text 9"/>
          <p:cNvSpPr txBox="1"/>
          <p:nvPr/>
        </p:nvSpPr>
        <p:spPr>
          <a:xfrm>
            <a:off x="5440680" y="1645920"/>
            <a:ext cx="2286000" cy="365760"/>
          </a:xfrm>
          <a:prstGeom prst="rect">
            <a:avLst/>
          </a:prstGeom>
          <a:noFill/>
          <a:ln/>
        </p:spPr>
        <p:txBody>
          <a:bodyPr wrap="square" lIns="0" tIns="0" rIns="0" bIns="0" rtlCol="0" anchor="t"/>
          <a:lstStyle/>
          <a:p>
            <a:pPr indent="0" marL="0">
              <a:buNone/>
            </a:pPr>
            <a:r>
              <a:rPr lang="en-US" sz="1800" b="1" dirty="0">
                <a:solidFill>
                  <a:schemeClr val="tx1"/>
                </a:solidFill>
              </a:rPr>
              <a:t>Language check</a:t>
            </a:r>
            <a:endParaRPr lang="en-US" sz="1800" dirty="0"/>
          </a:p>
        </p:txBody>
      </p:sp>
      <p:sp>
        <p:nvSpPr>
          <p:cNvPr id="14" name="Text 10"/>
          <p:cNvSpPr txBox="1"/>
          <p:nvPr/>
        </p:nvSpPr>
        <p:spPr>
          <a:xfrm>
            <a:off x="5440680" y="2011680"/>
            <a:ext cx="2286000" cy="411480"/>
          </a:xfrm>
          <a:prstGeom prst="rect">
            <a:avLst/>
          </a:prstGeom>
          <a:noFill/>
          <a:ln/>
        </p:spPr>
        <p:txBody>
          <a:bodyPr wrap="square" lIns="0" tIns="0" rIns="0" bIns="0" rtlCol="0" anchor="t"/>
          <a:lstStyle/>
          <a:p>
            <a:pPr indent="0" marL="0">
              <a:buNone/>
            </a:pPr>
            <a:r>
              <a:rPr lang="en-US" sz="1200" dirty="0">
                <a:solidFill>
                  <a:schemeClr val="accent5"/>
                </a:solidFill>
              </a:rPr>
              <a:t>Character n-gram model (naive Bayes)</a:t>
            </a:r>
            <a:endParaRPr lang="en-US" sz="1200" dirty="0"/>
          </a:p>
        </p:txBody>
      </p:sp>
      <p:sp>
        <p:nvSpPr>
          <p:cNvPr id="15" name="Text 11"/>
          <p:cNvSpPr txBox="1"/>
          <p:nvPr/>
        </p:nvSpPr>
        <p:spPr>
          <a:xfrm>
            <a:off x="4572000" y="2788920"/>
            <a:ext cx="3108960" cy="32918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Trained on AcehX and NusaX train</a:t>
            </a:r>
            <a:endParaRPr lang="en-US" sz="1600" dirty="0"/>
          </a:p>
          <a:p>
            <a:pPr marL="342900" indent="-342900">
              <a:spcAft>
                <a:spcPts val="1200"/>
              </a:spcAft>
              <a:buSzPct val="100000"/>
              <a:buChar char="•"/>
            </a:pPr>
            <a:r>
              <a:rPr lang="en-US" sz="1600" dirty="0">
                <a:solidFill>
                  <a:schemeClr val="tx1"/>
                </a:solidFill>
              </a:rPr>
              <a:t>Acehnese recognised 96–98%</a:t>
            </a:r>
            <a:endParaRPr lang="en-US" sz="1600" dirty="0"/>
          </a:p>
          <a:p>
            <a:pPr marL="342900" indent="-342900">
              <a:spcAft>
                <a:spcPts val="1200"/>
              </a:spcAft>
              <a:buSzPct val="100000"/>
              <a:buChar char="•"/>
            </a:pPr>
            <a:r>
              <a:rPr lang="en-US" sz="1600" dirty="0">
                <a:solidFill>
                  <a:schemeClr val="tx1"/>
                </a:solidFill>
              </a:rPr>
              <a:t>Indonesian recognised 99.5–100%</a:t>
            </a:r>
            <a:endParaRPr lang="en-US" sz="1600" dirty="0"/>
          </a:p>
          <a:p>
            <a:pPr marL="342900" indent="-342900">
              <a:spcAft>
                <a:spcPts val="1200"/>
              </a:spcAft>
              <a:buSzPct val="100000"/>
              <a:buChar char="•"/>
            </a:pPr>
            <a:r>
              <a:rPr lang="en-US" sz="1600" dirty="0">
                <a:solidFill>
                  <a:schemeClr val="tx1"/>
                </a:solidFill>
              </a:rPr>
              <a:t>Filters foreign or noisy lines</a:t>
            </a:r>
            <a:endParaRPr lang="en-US" sz="1600" dirty="0"/>
          </a:p>
        </p:txBody>
      </p:sp>
      <p:sp>
        <p:nvSpPr>
          <p:cNvPr id="16" name="Check card"/>
          <p:cNvSpPr/>
          <p:nvPr/>
        </p:nvSpPr>
        <p:spPr>
          <a:xfrm>
            <a:off x="8046720" y="1417320"/>
            <a:ext cx="3593592" cy="4754880"/>
          </a:xfrm>
          <a:prstGeom prst="roundRect">
            <a:avLst>
              <a:gd name="adj" fmla="val 3053"/>
            </a:avLst>
          </a:prstGeom>
          <a:solidFill>
            <a:schemeClr val="bg2"/>
          </a:solidFill>
          <a:ln w="12700">
            <a:solidFill>
              <a:schemeClr val="bg2"/>
            </a:solidFill>
            <a:prstDash val="solid"/>
          </a:ln>
        </p:spPr>
      </p:sp>
      <p:sp>
        <p:nvSpPr>
          <p:cNvPr id="17" name="Icon circle"/>
          <p:cNvSpPr/>
          <p:nvPr/>
        </p:nvSpPr>
        <p:spPr>
          <a:xfrm>
            <a:off x="8321040" y="1645920"/>
            <a:ext cx="685800" cy="685800"/>
          </a:xfrm>
          <a:prstGeom prst="ellipse">
            <a:avLst/>
          </a:prstGeom>
          <a:solidFill>
            <a:schemeClr val="accent1"/>
          </a:solidFill>
          <a:ln w="12700">
            <a:solidFill>
              <a:schemeClr val="accent1"/>
            </a:solidFill>
            <a:prstDash val="solid"/>
          </a:ln>
        </p:spPr>
      </p:sp>
      <p:pic>
        <p:nvPicPr>
          <p:cNvPr id="18" name="Image 2" descr="Clone icon">    </p:cNvPr>
          <p:cNvPicPr>
            <a:picLocks noChangeAspect="1"/>
          </p:cNvPicPr>
          <p:nvPr/>
        </p:nvPicPr>
        <p:blipFill>
          <a:blip r:embed="rId3"/>
          <a:stretch>
            <a:fillRect/>
          </a:stretch>
        </p:blipFill>
        <p:spPr>
          <a:xfrm>
            <a:off x="8506206" y="1831086"/>
            <a:ext cx="315468" cy="315468"/>
          </a:xfrm>
          <a:prstGeom prst="rect">
            <a:avLst/>
          </a:prstGeom>
        </p:spPr>
      </p:pic>
      <p:sp>
        <p:nvSpPr>
          <p:cNvPr id="19" name="Text 14"/>
          <p:cNvSpPr txBox="1"/>
          <p:nvPr/>
        </p:nvSpPr>
        <p:spPr>
          <a:xfrm>
            <a:off x="9189720" y="1645920"/>
            <a:ext cx="2286000" cy="365760"/>
          </a:xfrm>
          <a:prstGeom prst="rect">
            <a:avLst/>
          </a:prstGeom>
          <a:noFill/>
          <a:ln/>
        </p:spPr>
        <p:txBody>
          <a:bodyPr wrap="square" lIns="0" tIns="0" rIns="0" bIns="0" rtlCol="0" anchor="t"/>
          <a:lstStyle/>
          <a:p>
            <a:pPr indent="0" marL="0">
              <a:buNone/>
            </a:pPr>
            <a:r>
              <a:rPr lang="en-US" sz="1800" b="1" dirty="0">
                <a:solidFill>
                  <a:schemeClr val="tx1"/>
                </a:solidFill>
              </a:rPr>
              <a:t>Duplicate control</a:t>
            </a:r>
            <a:endParaRPr lang="en-US" sz="1800" dirty="0"/>
          </a:p>
        </p:txBody>
      </p:sp>
      <p:sp>
        <p:nvSpPr>
          <p:cNvPr id="20" name="Text 15"/>
          <p:cNvSpPr txBox="1"/>
          <p:nvPr/>
        </p:nvSpPr>
        <p:spPr>
          <a:xfrm>
            <a:off x="9189720" y="2011680"/>
            <a:ext cx="2286000" cy="411480"/>
          </a:xfrm>
          <a:prstGeom prst="rect">
            <a:avLst/>
          </a:prstGeom>
          <a:noFill/>
          <a:ln/>
        </p:spPr>
        <p:txBody>
          <a:bodyPr wrap="square" lIns="0" tIns="0" rIns="0" bIns="0" rtlCol="0" anchor="t"/>
          <a:lstStyle/>
          <a:p>
            <a:pPr indent="0" marL="0">
              <a:buNone/>
            </a:pPr>
            <a:r>
              <a:rPr lang="en-US" sz="1200" dirty="0">
                <a:solidFill>
                  <a:schemeClr val="accent5"/>
                </a:solidFill>
              </a:rPr>
              <a:t>Exact and near-duplicate matching</a:t>
            </a:r>
            <a:endParaRPr lang="en-US" sz="1200" dirty="0"/>
          </a:p>
        </p:txBody>
      </p:sp>
      <p:sp>
        <p:nvSpPr>
          <p:cNvPr id="21" name="Text 16"/>
          <p:cNvSpPr txBox="1"/>
          <p:nvPr/>
        </p:nvSpPr>
        <p:spPr>
          <a:xfrm>
            <a:off x="8321040" y="2788920"/>
            <a:ext cx="3108960" cy="32918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Match key ignores case, accents, punctuation, old spelling</a:t>
            </a:r>
            <a:endParaRPr lang="en-US" sz="1600" dirty="0"/>
          </a:p>
          <a:p>
            <a:pPr marL="342900" indent="-342900">
              <a:spcAft>
                <a:spcPts val="1200"/>
              </a:spcAft>
              <a:buSzPct val="100000"/>
              <a:buChar char="•"/>
            </a:pPr>
            <a:r>
              <a:rPr lang="en-US" sz="1600" dirty="0">
                <a:solidFill>
                  <a:schemeClr val="tx1"/>
                </a:solidFill>
              </a:rPr>
              <a:t>Near duplicates: 90% similarity or more (rapidfuzz)</a:t>
            </a:r>
            <a:endParaRPr lang="en-US" sz="1600" dirty="0"/>
          </a:p>
          <a:p>
            <a:pPr marL="342900" indent="-342900">
              <a:spcAft>
                <a:spcPts val="1200"/>
              </a:spcAft>
              <a:buSzPct val="100000"/>
              <a:buChar char="•"/>
            </a:pPr>
            <a:r>
              <a:rPr lang="en-US" sz="1600" dirty="0">
                <a:solidFill>
                  <a:schemeClr val="tx1"/>
                </a:solidFill>
              </a:rPr>
              <a:t>MinHash-LSH against AcehX (164,778 lines)</a:t>
            </a:r>
            <a:endParaRPr lang="en-US" sz="1600" dirty="0"/>
          </a:p>
          <a:p>
            <a:pPr marL="342900" indent="-342900">
              <a:spcAft>
                <a:spcPts val="1200"/>
              </a:spcAft>
              <a:buSzPct val="100000"/>
              <a:buChar char="•"/>
            </a:pPr>
            <a:r>
              <a:rPr lang="en-US" sz="1600" dirty="0">
                <a:solidFill>
                  <a:schemeClr val="tx1"/>
                </a:solidFill>
              </a:rPr>
              <a:t>Duplicates marked, not silently dropped</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EVALUATION DESIGN</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Keeping the test honest</a:t>
            </a:r>
            <a:endParaRPr lang="en-US" sz="3600" dirty="0"/>
          </a:p>
        </p:txBody>
      </p:sp>
      <p:sp>
        <p:nvSpPr>
          <p:cNvPr id="4" name="Rule card"/>
          <p:cNvSpPr/>
          <p:nvPr/>
        </p:nvSpPr>
        <p:spPr>
          <a:xfrm>
            <a:off x="548640" y="1463040"/>
            <a:ext cx="6675120" cy="822960"/>
          </a:xfrm>
          <a:prstGeom prst="roundRect">
            <a:avLst>
              <a:gd name="adj" fmla="val 13333"/>
            </a:avLst>
          </a:prstGeom>
          <a:solidFill>
            <a:schemeClr val="bg2"/>
          </a:solidFill>
          <a:ln w="12700">
            <a:solidFill>
              <a:schemeClr val="bg2"/>
            </a:solidFill>
            <a:prstDash val="solid"/>
          </a:ln>
        </p:spPr>
      </p:sp>
      <p:sp>
        <p:nvSpPr>
          <p:cNvPr id="5" name="Text 3"/>
          <p:cNvSpPr txBox="1"/>
          <p:nvPr/>
        </p:nvSpPr>
        <p:spPr>
          <a:xfrm>
            <a:off x="731520" y="1463040"/>
            <a:ext cx="457200" cy="822960"/>
          </a:xfrm>
          <a:prstGeom prst="rect">
            <a:avLst/>
          </a:prstGeom>
          <a:noFill/>
          <a:ln/>
        </p:spPr>
        <p:txBody>
          <a:bodyPr wrap="square" lIns="0" tIns="0" rIns="0" bIns="0" rtlCol="0" anchor="ctr"/>
          <a:lstStyle/>
          <a:p>
            <a:pPr indent="0" marL="0">
              <a:buNone/>
            </a:pPr>
            <a:r>
              <a:rPr lang="en-US" sz="2400" b="1" dirty="0">
                <a:solidFill>
                  <a:schemeClr val="accent1"/>
                </a:solidFill>
                <a:latin typeface="Georgia" pitchFamily="34" charset="0"/>
                <a:ea typeface="Georgia" pitchFamily="34" charset="-122"/>
                <a:cs typeface="Georgia" pitchFamily="34" charset="-120"/>
              </a:rPr>
              <a:t>1</a:t>
            </a:r>
            <a:endParaRPr lang="en-US" sz="2400" dirty="0"/>
          </a:p>
        </p:txBody>
      </p:sp>
      <p:sp>
        <p:nvSpPr>
          <p:cNvPr id="6" name="Text 4"/>
          <p:cNvSpPr txBox="1"/>
          <p:nvPr/>
        </p:nvSpPr>
        <p:spPr>
          <a:xfrm>
            <a:off x="1280160" y="1463040"/>
            <a:ext cx="5806440" cy="822960"/>
          </a:xfrm>
          <a:prstGeom prst="rect">
            <a:avLst/>
          </a:prstGeom>
          <a:noFill/>
          <a:ln/>
        </p:spPr>
        <p:txBody>
          <a:bodyPr wrap="square" lIns="0" tIns="0" rIns="0" bIns="0" rtlCol="0" anchor="ctr"/>
          <a:lstStyle/>
          <a:p>
            <a:pPr indent="0" marL="0">
              <a:buNone/>
            </a:pPr>
            <a:r>
              <a:rPr lang="en-US" sz="1400" dirty="0">
                <a:solidFill>
                  <a:schemeClr val="tx1"/>
                </a:solidFill>
              </a:rPr>
              <a:t>Test and validation pages are kept as whole blocks, so neighbouring verses never land on both sides</a:t>
            </a:r>
            <a:endParaRPr lang="en-US" sz="1400" dirty="0"/>
          </a:p>
        </p:txBody>
      </p:sp>
      <p:sp>
        <p:nvSpPr>
          <p:cNvPr id="7" name="Rule card"/>
          <p:cNvSpPr/>
          <p:nvPr/>
        </p:nvSpPr>
        <p:spPr>
          <a:xfrm>
            <a:off x="548640" y="2423160"/>
            <a:ext cx="6675120" cy="822960"/>
          </a:xfrm>
          <a:prstGeom prst="roundRect">
            <a:avLst>
              <a:gd name="adj" fmla="val 13333"/>
            </a:avLst>
          </a:prstGeom>
          <a:solidFill>
            <a:schemeClr val="bg2"/>
          </a:solidFill>
          <a:ln w="12700">
            <a:solidFill>
              <a:schemeClr val="bg2"/>
            </a:solidFill>
            <a:prstDash val="solid"/>
          </a:ln>
        </p:spPr>
      </p:sp>
      <p:sp>
        <p:nvSpPr>
          <p:cNvPr id="8" name="Text 6"/>
          <p:cNvSpPr txBox="1"/>
          <p:nvPr/>
        </p:nvSpPr>
        <p:spPr>
          <a:xfrm>
            <a:off x="731520" y="2423160"/>
            <a:ext cx="457200" cy="822960"/>
          </a:xfrm>
          <a:prstGeom prst="rect">
            <a:avLst/>
          </a:prstGeom>
          <a:noFill/>
          <a:ln/>
        </p:spPr>
        <p:txBody>
          <a:bodyPr wrap="square" lIns="0" tIns="0" rIns="0" bIns="0" rtlCol="0" anchor="ctr"/>
          <a:lstStyle/>
          <a:p>
            <a:pPr indent="0" marL="0">
              <a:buNone/>
            </a:pPr>
            <a:r>
              <a:rPr lang="en-US" sz="2400" b="1" dirty="0">
                <a:solidFill>
                  <a:schemeClr val="accent1"/>
                </a:solidFill>
                <a:latin typeface="Georgia" pitchFamily="34" charset="0"/>
                <a:ea typeface="Georgia" pitchFamily="34" charset="-122"/>
                <a:cs typeface="Georgia" pitchFamily="34" charset="-120"/>
              </a:rPr>
              <a:t>2</a:t>
            </a:r>
            <a:endParaRPr lang="en-US" sz="2400" dirty="0"/>
          </a:p>
        </p:txBody>
      </p:sp>
      <p:sp>
        <p:nvSpPr>
          <p:cNvPr id="9" name="Text 7"/>
          <p:cNvSpPr txBox="1"/>
          <p:nvPr/>
        </p:nvSpPr>
        <p:spPr>
          <a:xfrm>
            <a:off x="1280160" y="2423160"/>
            <a:ext cx="5806440" cy="822960"/>
          </a:xfrm>
          <a:prstGeom prst="rect">
            <a:avLst/>
          </a:prstGeom>
          <a:noFill/>
          <a:ln/>
        </p:spPr>
        <p:txBody>
          <a:bodyPr wrap="square" lIns="0" tIns="0" rIns="0" bIns="0" rtlCol="0" anchor="ctr"/>
          <a:lstStyle/>
          <a:p>
            <a:pPr indent="0" marL="0">
              <a:buNone/>
            </a:pPr>
            <a:r>
              <a:rPr lang="en-US" sz="1400" dirty="0">
                <a:solidFill>
                  <a:schemeClr val="tx1"/>
                </a:solidFill>
              </a:rPr>
              <a:t>Any training pair matching a validation or test sentence is removed, ignoring case, accents, punctuation and old spelling</a:t>
            </a:r>
            <a:endParaRPr lang="en-US" sz="1400" dirty="0"/>
          </a:p>
        </p:txBody>
      </p:sp>
      <p:sp>
        <p:nvSpPr>
          <p:cNvPr id="10" name="Rule card"/>
          <p:cNvSpPr/>
          <p:nvPr/>
        </p:nvSpPr>
        <p:spPr>
          <a:xfrm>
            <a:off x="548640" y="3383280"/>
            <a:ext cx="6675120" cy="822960"/>
          </a:xfrm>
          <a:prstGeom prst="roundRect">
            <a:avLst>
              <a:gd name="adj" fmla="val 13333"/>
            </a:avLst>
          </a:prstGeom>
          <a:solidFill>
            <a:schemeClr val="bg2"/>
          </a:solidFill>
          <a:ln w="12700">
            <a:solidFill>
              <a:schemeClr val="bg2"/>
            </a:solidFill>
            <a:prstDash val="solid"/>
          </a:ln>
        </p:spPr>
      </p:sp>
      <p:sp>
        <p:nvSpPr>
          <p:cNvPr id="11" name="Text 9"/>
          <p:cNvSpPr txBox="1"/>
          <p:nvPr/>
        </p:nvSpPr>
        <p:spPr>
          <a:xfrm>
            <a:off x="731520" y="3383280"/>
            <a:ext cx="457200" cy="822960"/>
          </a:xfrm>
          <a:prstGeom prst="rect">
            <a:avLst/>
          </a:prstGeom>
          <a:noFill/>
          <a:ln/>
        </p:spPr>
        <p:txBody>
          <a:bodyPr wrap="square" lIns="0" tIns="0" rIns="0" bIns="0" rtlCol="0" anchor="ctr"/>
          <a:lstStyle/>
          <a:p>
            <a:pPr indent="0" marL="0">
              <a:buNone/>
            </a:pPr>
            <a:r>
              <a:rPr lang="en-US" sz="2400" b="1" dirty="0">
                <a:solidFill>
                  <a:schemeClr val="accent1"/>
                </a:solidFill>
                <a:latin typeface="Georgia" pitchFamily="34" charset="0"/>
                <a:ea typeface="Georgia" pitchFamily="34" charset="-122"/>
                <a:cs typeface="Georgia" pitchFamily="34" charset="-120"/>
              </a:rPr>
              <a:t>3</a:t>
            </a:r>
            <a:endParaRPr lang="en-US" sz="2400" dirty="0"/>
          </a:p>
        </p:txBody>
      </p:sp>
      <p:sp>
        <p:nvSpPr>
          <p:cNvPr id="12" name="Text 10"/>
          <p:cNvSpPr txBox="1"/>
          <p:nvPr/>
        </p:nvSpPr>
        <p:spPr>
          <a:xfrm>
            <a:off x="1280160" y="3383280"/>
            <a:ext cx="5806440" cy="822960"/>
          </a:xfrm>
          <a:prstGeom prst="rect">
            <a:avLst/>
          </a:prstGeom>
          <a:noFill/>
          <a:ln/>
        </p:spPr>
        <p:txBody>
          <a:bodyPr wrap="square" lIns="0" tIns="0" rIns="0" bIns="0" rtlCol="0" anchor="ctr"/>
          <a:lstStyle/>
          <a:p>
            <a:pPr indent="0" marL="0">
              <a:buNone/>
            </a:pPr>
            <a:r>
              <a:rPr lang="en-US" sz="1400" dirty="0">
                <a:solidFill>
                  <a:schemeClr val="tx1"/>
                </a:solidFill>
              </a:rPr>
              <a:t>Any training pair 90% or more similar to a test sentence on the Acehnese side is removed</a:t>
            </a:r>
            <a:endParaRPr lang="en-US" sz="1400" dirty="0"/>
          </a:p>
        </p:txBody>
      </p:sp>
      <p:sp>
        <p:nvSpPr>
          <p:cNvPr id="13" name="Rule card"/>
          <p:cNvSpPr/>
          <p:nvPr/>
        </p:nvSpPr>
        <p:spPr>
          <a:xfrm>
            <a:off x="548640" y="4343400"/>
            <a:ext cx="6675120" cy="822960"/>
          </a:xfrm>
          <a:prstGeom prst="roundRect">
            <a:avLst>
              <a:gd name="adj" fmla="val 13333"/>
            </a:avLst>
          </a:prstGeom>
          <a:solidFill>
            <a:schemeClr val="bg2"/>
          </a:solidFill>
          <a:ln w="12700">
            <a:solidFill>
              <a:schemeClr val="bg2"/>
            </a:solidFill>
            <a:prstDash val="solid"/>
          </a:ln>
        </p:spPr>
      </p:sp>
      <p:sp>
        <p:nvSpPr>
          <p:cNvPr id="14" name="Text 12"/>
          <p:cNvSpPr txBox="1"/>
          <p:nvPr/>
        </p:nvSpPr>
        <p:spPr>
          <a:xfrm>
            <a:off x="731520" y="4343400"/>
            <a:ext cx="457200" cy="822960"/>
          </a:xfrm>
          <a:prstGeom prst="rect">
            <a:avLst/>
          </a:prstGeom>
          <a:noFill/>
          <a:ln/>
        </p:spPr>
        <p:txBody>
          <a:bodyPr wrap="square" lIns="0" tIns="0" rIns="0" bIns="0" rtlCol="0" anchor="ctr"/>
          <a:lstStyle/>
          <a:p>
            <a:pPr indent="0" marL="0">
              <a:buNone/>
            </a:pPr>
            <a:r>
              <a:rPr lang="en-US" sz="2400" b="1" dirty="0">
                <a:solidFill>
                  <a:schemeClr val="accent1"/>
                </a:solidFill>
                <a:latin typeface="Georgia" pitchFamily="34" charset="0"/>
                <a:ea typeface="Georgia" pitchFamily="34" charset="-122"/>
                <a:cs typeface="Georgia" pitchFamily="34" charset="-120"/>
              </a:rPr>
              <a:t>4</a:t>
            </a:r>
            <a:endParaRPr lang="en-US" sz="2400" dirty="0"/>
          </a:p>
        </p:txBody>
      </p:sp>
      <p:sp>
        <p:nvSpPr>
          <p:cNvPr id="15" name="Text 13"/>
          <p:cNvSpPr txBox="1"/>
          <p:nvPr/>
        </p:nvSpPr>
        <p:spPr>
          <a:xfrm>
            <a:off x="1280160" y="4343400"/>
            <a:ext cx="5806440" cy="822960"/>
          </a:xfrm>
          <a:prstGeom prst="rect">
            <a:avLst/>
          </a:prstGeom>
          <a:noFill/>
          <a:ln/>
        </p:spPr>
        <p:txBody>
          <a:bodyPr wrap="square" lIns="0" tIns="0" rIns="0" bIns="0" rtlCol="0" anchor="ctr"/>
          <a:lstStyle/>
          <a:p>
            <a:pPr indent="0" marL="0">
              <a:buNone/>
            </a:pPr>
            <a:r>
              <a:rPr lang="en-US" sz="1400" dirty="0">
                <a:solidFill>
                  <a:schemeClr val="tx1"/>
                </a:solidFill>
              </a:rPr>
              <a:t>The training script refuses to start if a single leak remains</a:t>
            </a:r>
            <a:endParaRPr lang="en-US" sz="1400" dirty="0"/>
          </a:p>
        </p:txBody>
      </p:sp>
      <p:sp>
        <p:nvSpPr>
          <p:cNvPr id="16" name="Rule card"/>
          <p:cNvSpPr/>
          <p:nvPr/>
        </p:nvSpPr>
        <p:spPr>
          <a:xfrm>
            <a:off x="548640" y="5303520"/>
            <a:ext cx="6675120" cy="822960"/>
          </a:xfrm>
          <a:prstGeom prst="roundRect">
            <a:avLst>
              <a:gd name="adj" fmla="val 13333"/>
            </a:avLst>
          </a:prstGeom>
          <a:solidFill>
            <a:schemeClr val="bg2"/>
          </a:solidFill>
          <a:ln w="12700">
            <a:solidFill>
              <a:schemeClr val="bg2"/>
            </a:solidFill>
            <a:prstDash val="solid"/>
          </a:ln>
        </p:spPr>
      </p:sp>
      <p:sp>
        <p:nvSpPr>
          <p:cNvPr id="17" name="Text 15"/>
          <p:cNvSpPr txBox="1"/>
          <p:nvPr/>
        </p:nvSpPr>
        <p:spPr>
          <a:xfrm>
            <a:off x="731520" y="5303520"/>
            <a:ext cx="457200" cy="822960"/>
          </a:xfrm>
          <a:prstGeom prst="rect">
            <a:avLst/>
          </a:prstGeom>
          <a:noFill/>
          <a:ln/>
        </p:spPr>
        <p:txBody>
          <a:bodyPr wrap="square" lIns="0" tIns="0" rIns="0" bIns="0" rtlCol="0" anchor="ctr"/>
          <a:lstStyle/>
          <a:p>
            <a:pPr indent="0" marL="0">
              <a:buNone/>
            </a:pPr>
            <a:r>
              <a:rPr lang="en-US" sz="2400" b="1" dirty="0">
                <a:solidFill>
                  <a:schemeClr val="accent1"/>
                </a:solidFill>
                <a:latin typeface="Georgia" pitchFamily="34" charset="0"/>
                <a:ea typeface="Georgia" pitchFamily="34" charset="-122"/>
                <a:cs typeface="Georgia" pitchFamily="34" charset="-120"/>
              </a:rPr>
              <a:t>5</a:t>
            </a:r>
            <a:endParaRPr lang="en-US" sz="2400" dirty="0"/>
          </a:p>
        </p:txBody>
      </p:sp>
      <p:sp>
        <p:nvSpPr>
          <p:cNvPr id="18" name="Text 16"/>
          <p:cNvSpPr txBox="1"/>
          <p:nvPr/>
        </p:nvSpPr>
        <p:spPr>
          <a:xfrm>
            <a:off x="1280160" y="5303520"/>
            <a:ext cx="5806440" cy="822960"/>
          </a:xfrm>
          <a:prstGeom prst="rect">
            <a:avLst/>
          </a:prstGeom>
          <a:noFill/>
          <a:ln/>
        </p:spPr>
        <p:txBody>
          <a:bodyPr wrap="square" lIns="0" tIns="0" rIns="0" bIns="0" rtlCol="0" anchor="ctr"/>
          <a:lstStyle/>
          <a:p>
            <a:pPr indent="0" marL="0">
              <a:buNone/>
            </a:pPr>
            <a:r>
              <a:rPr lang="en-US" sz="1400" dirty="0">
                <a:solidFill>
                  <a:schemeClr val="tx1"/>
                </a:solidFill>
              </a:rPr>
              <a:t>The best epoch is chosen on validation only, never on the test sets</a:t>
            </a:r>
            <a:endParaRPr lang="en-US" sz="1400" dirty="0"/>
          </a:p>
        </p:txBody>
      </p:sp>
      <p:sp>
        <p:nvSpPr>
          <p:cNvPr id="19" name="Split box"/>
          <p:cNvSpPr/>
          <p:nvPr/>
        </p:nvSpPr>
        <p:spPr>
          <a:xfrm>
            <a:off x="7772400" y="1463040"/>
            <a:ext cx="3867912" cy="1417320"/>
          </a:xfrm>
          <a:prstGeom prst="roundRect">
            <a:avLst>
              <a:gd name="adj" fmla="val 7742"/>
            </a:avLst>
          </a:prstGeom>
          <a:solidFill>
            <a:srgbClr val="0D9488"/>
          </a:solidFill>
          <a:ln w="12700">
            <a:solidFill>
              <a:srgbClr val="0D9488"/>
            </a:solidFill>
            <a:prstDash val="solid"/>
          </a:ln>
        </p:spPr>
      </p:sp>
      <p:sp>
        <p:nvSpPr>
          <p:cNvPr id="20" name="Text 18"/>
          <p:cNvSpPr txBox="1"/>
          <p:nvPr/>
        </p:nvSpPr>
        <p:spPr>
          <a:xfrm>
            <a:off x="8046720" y="1600200"/>
            <a:ext cx="3291840" cy="73152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17,547</a:t>
            </a:r>
            <a:endParaRPr lang="en-US" sz="4000" dirty="0"/>
          </a:p>
        </p:txBody>
      </p:sp>
      <p:sp>
        <p:nvSpPr>
          <p:cNvPr id="21" name="Text 19"/>
          <p:cNvSpPr txBox="1"/>
          <p:nvPr/>
        </p:nvSpPr>
        <p:spPr>
          <a:xfrm>
            <a:off x="8046720" y="2331720"/>
            <a:ext cx="3291840" cy="411480"/>
          </a:xfrm>
          <a:prstGeom prst="rect">
            <a:avLst/>
          </a:prstGeom>
          <a:noFill/>
          <a:ln/>
        </p:spPr>
        <p:txBody>
          <a:bodyPr wrap="square" lIns="0" tIns="0" rIns="0" bIns="0" rtlCol="0" anchor="t"/>
          <a:lstStyle/>
          <a:p>
            <a:pPr indent="0" marL="0">
              <a:buNone/>
            </a:pPr>
            <a:r>
              <a:rPr lang="en-US" sz="1400" dirty="0">
                <a:solidFill>
                  <a:srgbClr val="FFFFFF"/>
                </a:solidFill>
              </a:rPr>
              <a:t>Training</a:t>
            </a:r>
            <a:endParaRPr lang="en-US" sz="1400" dirty="0"/>
          </a:p>
        </p:txBody>
      </p:sp>
      <p:sp>
        <p:nvSpPr>
          <p:cNvPr id="22" name="Split box"/>
          <p:cNvSpPr/>
          <p:nvPr/>
        </p:nvSpPr>
        <p:spPr>
          <a:xfrm>
            <a:off x="7772400" y="3063240"/>
            <a:ext cx="3867912" cy="1417320"/>
          </a:xfrm>
          <a:prstGeom prst="roundRect">
            <a:avLst>
              <a:gd name="adj" fmla="val 7742"/>
            </a:avLst>
          </a:prstGeom>
          <a:solidFill>
            <a:srgbClr val="E9A23B"/>
          </a:solidFill>
          <a:ln w="12700">
            <a:solidFill>
              <a:srgbClr val="E9A23B"/>
            </a:solidFill>
            <a:prstDash val="solid"/>
          </a:ln>
        </p:spPr>
      </p:sp>
      <p:sp>
        <p:nvSpPr>
          <p:cNvPr id="23" name="Text 21"/>
          <p:cNvSpPr txBox="1"/>
          <p:nvPr/>
        </p:nvSpPr>
        <p:spPr>
          <a:xfrm>
            <a:off x="8046720" y="3200400"/>
            <a:ext cx="3291840" cy="731520"/>
          </a:xfrm>
          <a:prstGeom prst="rect">
            <a:avLst/>
          </a:prstGeom>
          <a:noFill/>
          <a:ln/>
        </p:spPr>
        <p:txBody>
          <a:bodyPr wrap="square" lIns="0" tIns="0" rIns="0" bIns="0" rtlCol="0" anchor="t"/>
          <a:lstStyle/>
          <a:p>
            <a:pPr indent="0" marL="0">
              <a:buNone/>
            </a:pPr>
            <a:r>
              <a:rPr lang="en-US" sz="4000" b="1" dirty="0">
                <a:solidFill>
                  <a:srgbClr val="12303A"/>
                </a:solidFill>
                <a:latin typeface="Georgia" pitchFamily="34" charset="0"/>
                <a:ea typeface="Georgia" pitchFamily="34" charset="-122"/>
                <a:cs typeface="Georgia" pitchFamily="34" charset="-120"/>
              </a:rPr>
              <a:t>379</a:t>
            </a:r>
            <a:endParaRPr lang="en-US" sz="4000" dirty="0"/>
          </a:p>
        </p:txBody>
      </p:sp>
      <p:sp>
        <p:nvSpPr>
          <p:cNvPr id="24" name="Text 22"/>
          <p:cNvSpPr txBox="1"/>
          <p:nvPr/>
        </p:nvSpPr>
        <p:spPr>
          <a:xfrm>
            <a:off x="8046720" y="3931920"/>
            <a:ext cx="3291840" cy="411480"/>
          </a:xfrm>
          <a:prstGeom prst="rect">
            <a:avLst/>
          </a:prstGeom>
          <a:noFill/>
          <a:ln/>
        </p:spPr>
        <p:txBody>
          <a:bodyPr wrap="square" lIns="0" tIns="0" rIns="0" bIns="0" rtlCol="0" anchor="t"/>
          <a:lstStyle/>
          <a:p>
            <a:pPr indent="0" marL="0">
              <a:buNone/>
            </a:pPr>
            <a:r>
              <a:rPr lang="en-US" sz="1400" dirty="0">
                <a:solidFill>
                  <a:srgbClr val="12303A"/>
                </a:solidFill>
              </a:rPr>
              <a:t>Validation</a:t>
            </a:r>
            <a:endParaRPr lang="en-US" sz="1400" dirty="0"/>
          </a:p>
        </p:txBody>
      </p:sp>
      <p:sp>
        <p:nvSpPr>
          <p:cNvPr id="25" name="Split box"/>
          <p:cNvSpPr/>
          <p:nvPr/>
        </p:nvSpPr>
        <p:spPr>
          <a:xfrm>
            <a:off x="7772400" y="4663440"/>
            <a:ext cx="3867912" cy="1417320"/>
          </a:xfrm>
          <a:prstGeom prst="roundRect">
            <a:avLst>
              <a:gd name="adj" fmla="val 7742"/>
            </a:avLst>
          </a:prstGeom>
          <a:solidFill>
            <a:srgbClr val="0B3C49"/>
          </a:solidFill>
          <a:ln w="12700">
            <a:solidFill>
              <a:srgbClr val="0B3C49"/>
            </a:solidFill>
            <a:prstDash val="solid"/>
          </a:ln>
        </p:spPr>
      </p:sp>
      <p:sp>
        <p:nvSpPr>
          <p:cNvPr id="26" name="Text 24"/>
          <p:cNvSpPr txBox="1"/>
          <p:nvPr/>
        </p:nvSpPr>
        <p:spPr>
          <a:xfrm>
            <a:off x="8046720" y="4800600"/>
            <a:ext cx="3291840" cy="731520"/>
          </a:xfrm>
          <a:prstGeom prst="rect">
            <a:avLst/>
          </a:prstGeom>
          <a:noFill/>
          <a:ln/>
        </p:spPr>
        <p:txBody>
          <a:bodyPr wrap="square" lIns="0" tIns="0" rIns="0" bIns="0" rtlCol="0" anchor="t"/>
          <a:lstStyle/>
          <a:p>
            <a:pPr indent="0" marL="0">
              <a:buNone/>
            </a:pPr>
            <a:r>
              <a:rPr lang="en-US" sz="4000" b="1" dirty="0">
                <a:solidFill>
                  <a:srgbClr val="FFFFFF"/>
                </a:solidFill>
                <a:latin typeface="Georgia" pitchFamily="34" charset="0"/>
                <a:ea typeface="Georgia" pitchFamily="34" charset="-122"/>
                <a:cs typeface="Georgia" pitchFamily="34" charset="-120"/>
              </a:rPr>
              <a:t>1,555</a:t>
            </a:r>
            <a:endParaRPr lang="en-US" sz="4000" dirty="0"/>
          </a:p>
        </p:txBody>
      </p:sp>
      <p:sp>
        <p:nvSpPr>
          <p:cNvPr id="27" name="Text 25"/>
          <p:cNvSpPr txBox="1"/>
          <p:nvPr/>
        </p:nvSpPr>
        <p:spPr>
          <a:xfrm>
            <a:off x="8046720" y="5532120"/>
            <a:ext cx="3291840" cy="411480"/>
          </a:xfrm>
          <a:prstGeom prst="rect">
            <a:avLst/>
          </a:prstGeom>
          <a:noFill/>
          <a:ln/>
        </p:spPr>
        <p:txBody>
          <a:bodyPr wrap="square" lIns="0" tIns="0" rIns="0" bIns="0" rtlCol="0" anchor="t"/>
          <a:lstStyle/>
          <a:p>
            <a:pPr indent="0" marL="0">
              <a:buNone/>
            </a:pPr>
            <a:r>
              <a:rPr lang="en-US" sz="1400" dirty="0">
                <a:solidFill>
                  <a:srgbClr val="FFFFFF"/>
                </a:solidFill>
              </a:rPr>
              <a:t>Test (400 + 1,012 + 143)</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METHOD</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Model and training recipe</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377440"/>
                <a:gridCol w="4846320"/>
                <a:gridCol w="3867912"/>
              </a:tblGrid>
              <a:tr h="384048">
                <a:tc>
                  <a:txBody>
                    <a:bodyPr/>
                    <a:lstStyle/>
                    <a:p>
                      <a:pPr algn="l" indent="0" marL="0">
                        <a:buNone/>
                      </a:pPr>
                      <a:r>
                        <a:rPr lang="en-US" sz="1100" b="1" dirty="0">
                          <a:solidFill>
                            <a:srgbClr val="FFFFFF"/>
                          </a:solidFill>
                        </a:rPr>
                        <a:t>Setting</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Value</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l" indent="0" marL="0">
                        <a:buNone/>
                      </a:pPr>
                      <a:r>
                        <a:rPr lang="en-US" sz="1100" b="1" dirty="0">
                          <a:solidFill>
                            <a:srgbClr val="FFFFFF"/>
                          </a:solidFill>
                        </a:rPr>
                        <a:t>Why</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r>
              <a:tr h="566928">
                <a:tc>
                  <a:txBody>
                    <a:bodyPr/>
                    <a:lstStyle/>
                    <a:p>
                      <a:pPr indent="0" marL="0">
                        <a:buNone/>
                      </a:pPr>
                      <a:r>
                        <a:rPr lang="en-US" sz="1200" b="1" dirty="0">
                          <a:solidFill>
                            <a:srgbClr val="12303A"/>
                          </a:solidFill>
                        </a:rPr>
                        <a:t>Base model</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NLLB-200 distilled, 600M parameters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Already includes Acehnese (ace_Latn)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Trained</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All weights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Adapts the whole model to our data</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Optimiser</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Adafactor, learning rate 1e-4, 10% warm-up</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Low memory: fits a Colab T4 GPU</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Batch and length</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8 pairs, up to 128 tokens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Fits GPU memory</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Label smoothing</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0.1</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Less overconfidence on a small corpus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Stopping</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Up to 10 epochs, patience 2</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Stops when validation stops improving</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Selection</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Best epoch on validation chrF++</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Test sets never choose the model</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2303A"/>
                          </a:solidFill>
                        </a:rPr>
                        <a:t>Saved model</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Half precision, 1.2 GB</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indent="0" marL="0">
                        <a:buNone/>
                      </a:pPr>
                      <a:r>
                        <a:rPr lang="en-US" sz="1200" dirty="0">
                          <a:solidFill>
                            <a:srgbClr val="12303A"/>
                          </a:solidFill>
                        </a:rPr>
                        <a:t>Same translations, half the size</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METHOD</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training run</a:t>
            </a:r>
            <a:endParaRPr lang="en-US" sz="3600" dirty="0"/>
          </a:p>
        </p:txBody>
      </p:sp>
      <p:sp>
        <p:nvSpPr>
          <p:cNvPr id="4" name="Text 2"/>
          <p:cNvSpPr txBox="1"/>
          <p:nvPr/>
        </p:nvSpPr>
        <p:spPr>
          <a:xfrm>
            <a:off x="548640" y="1371600"/>
            <a:ext cx="7223760" cy="365760"/>
          </a:xfrm>
          <a:prstGeom prst="rect">
            <a:avLst/>
          </a:prstGeom>
          <a:noFill/>
          <a:ln/>
        </p:spPr>
        <p:txBody>
          <a:bodyPr wrap="square" lIns="0" tIns="0" rIns="0" bIns="0" rtlCol="0" anchor="ctr"/>
          <a:lstStyle/>
          <a:p>
            <a:pPr indent="0" marL="0">
              <a:buNone/>
            </a:pPr>
            <a:r>
              <a:rPr lang="en-US" sz="1400" b="1" dirty="0">
                <a:solidFill>
                  <a:schemeClr val="tx1"/>
                </a:solidFill>
              </a:rPr>
              <a:t>Validation chrF++ by epoch</a:t>
            </a:r>
            <a:endParaRPr lang="en-US" sz="1400" dirty="0"/>
          </a:p>
        </p:txBody>
      </p:sp>
      <p:sp>
        <p:nvSpPr>
          <p:cNvPr id="5" name="Gridline"/>
          <p:cNvSpPr/>
          <p:nvPr/>
        </p:nvSpPr>
        <p:spPr>
          <a:xfrm>
            <a:off x="1097280" y="5760720"/>
            <a:ext cx="6675120" cy="0"/>
          </a:xfrm>
          <a:prstGeom prst="line">
            <a:avLst/>
          </a:prstGeom>
          <a:noFill/>
          <a:ln w="9525">
            <a:solidFill>
              <a:srgbClr val="D5E3E3"/>
            </a:solidFill>
            <a:prstDash val="solid"/>
          </a:ln>
        </p:spPr>
      </p:sp>
      <p:sp>
        <p:nvSpPr>
          <p:cNvPr id="6" name="Text 4"/>
          <p:cNvSpPr txBox="1"/>
          <p:nvPr/>
        </p:nvSpPr>
        <p:spPr>
          <a:xfrm>
            <a:off x="548640" y="562356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50</a:t>
            </a:r>
            <a:endParaRPr lang="en-US" sz="1100" dirty="0"/>
          </a:p>
        </p:txBody>
      </p:sp>
      <p:sp>
        <p:nvSpPr>
          <p:cNvPr id="7" name="Gridline"/>
          <p:cNvSpPr/>
          <p:nvPr/>
        </p:nvSpPr>
        <p:spPr>
          <a:xfrm>
            <a:off x="1097280" y="4880610"/>
            <a:ext cx="6675120" cy="0"/>
          </a:xfrm>
          <a:prstGeom prst="line">
            <a:avLst/>
          </a:prstGeom>
          <a:noFill/>
          <a:ln w="9525">
            <a:solidFill>
              <a:srgbClr val="D5E3E3"/>
            </a:solidFill>
            <a:prstDash val="solid"/>
          </a:ln>
        </p:spPr>
      </p:sp>
      <p:sp>
        <p:nvSpPr>
          <p:cNvPr id="8" name="Text 6"/>
          <p:cNvSpPr txBox="1"/>
          <p:nvPr/>
        </p:nvSpPr>
        <p:spPr>
          <a:xfrm>
            <a:off x="548640" y="474345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52</a:t>
            </a:r>
            <a:endParaRPr lang="en-US" sz="1100" dirty="0"/>
          </a:p>
        </p:txBody>
      </p:sp>
      <p:sp>
        <p:nvSpPr>
          <p:cNvPr id="9" name="Gridline"/>
          <p:cNvSpPr/>
          <p:nvPr/>
        </p:nvSpPr>
        <p:spPr>
          <a:xfrm>
            <a:off x="1097280" y="4000500"/>
            <a:ext cx="6675120" cy="0"/>
          </a:xfrm>
          <a:prstGeom prst="line">
            <a:avLst/>
          </a:prstGeom>
          <a:noFill/>
          <a:ln w="9525">
            <a:solidFill>
              <a:srgbClr val="D5E3E3"/>
            </a:solidFill>
            <a:prstDash val="solid"/>
          </a:ln>
        </p:spPr>
      </p:sp>
      <p:sp>
        <p:nvSpPr>
          <p:cNvPr id="10" name="Text 8"/>
          <p:cNvSpPr txBox="1"/>
          <p:nvPr/>
        </p:nvSpPr>
        <p:spPr>
          <a:xfrm>
            <a:off x="548640" y="386334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54</a:t>
            </a:r>
            <a:endParaRPr lang="en-US" sz="1100" dirty="0"/>
          </a:p>
        </p:txBody>
      </p:sp>
      <p:sp>
        <p:nvSpPr>
          <p:cNvPr id="11" name="Gridline"/>
          <p:cNvSpPr/>
          <p:nvPr/>
        </p:nvSpPr>
        <p:spPr>
          <a:xfrm>
            <a:off x="1097280" y="3120390"/>
            <a:ext cx="6675120" cy="0"/>
          </a:xfrm>
          <a:prstGeom prst="line">
            <a:avLst/>
          </a:prstGeom>
          <a:noFill/>
          <a:ln w="9525">
            <a:solidFill>
              <a:srgbClr val="D5E3E3"/>
            </a:solidFill>
            <a:prstDash val="solid"/>
          </a:ln>
        </p:spPr>
      </p:sp>
      <p:sp>
        <p:nvSpPr>
          <p:cNvPr id="12" name="Text 10"/>
          <p:cNvSpPr txBox="1"/>
          <p:nvPr/>
        </p:nvSpPr>
        <p:spPr>
          <a:xfrm>
            <a:off x="548640" y="298323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56</a:t>
            </a:r>
            <a:endParaRPr lang="en-US" sz="1100" dirty="0"/>
          </a:p>
        </p:txBody>
      </p:sp>
      <p:sp>
        <p:nvSpPr>
          <p:cNvPr id="13" name="Gridline"/>
          <p:cNvSpPr/>
          <p:nvPr/>
        </p:nvSpPr>
        <p:spPr>
          <a:xfrm>
            <a:off x="1097280" y="2240280"/>
            <a:ext cx="6675120" cy="0"/>
          </a:xfrm>
          <a:prstGeom prst="line">
            <a:avLst/>
          </a:prstGeom>
          <a:noFill/>
          <a:ln w="9525">
            <a:solidFill>
              <a:srgbClr val="D5E3E3"/>
            </a:solidFill>
            <a:prstDash val="solid"/>
          </a:ln>
        </p:spPr>
      </p:sp>
      <p:sp>
        <p:nvSpPr>
          <p:cNvPr id="14" name="Text 12"/>
          <p:cNvSpPr txBox="1"/>
          <p:nvPr/>
        </p:nvSpPr>
        <p:spPr>
          <a:xfrm>
            <a:off x="548640" y="210312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58</a:t>
            </a:r>
            <a:endParaRPr lang="en-US" sz="1100" dirty="0"/>
          </a:p>
        </p:txBody>
      </p:sp>
      <p:sp>
        <p:nvSpPr>
          <p:cNvPr id="15" name="Line segment 1"/>
          <p:cNvSpPr/>
          <p:nvPr/>
        </p:nvSpPr>
        <p:spPr>
          <a:xfrm flipV="1">
            <a:off x="1764792" y="3705663"/>
            <a:ext cx="1335024" cy="800900"/>
          </a:xfrm>
          <a:prstGeom prst="line">
            <a:avLst/>
          </a:prstGeom>
          <a:noFill/>
          <a:ln w="44450">
            <a:solidFill>
              <a:srgbClr val="0D9488"/>
            </a:solidFill>
            <a:prstDash val="solid"/>
          </a:ln>
        </p:spPr>
      </p:sp>
      <p:sp>
        <p:nvSpPr>
          <p:cNvPr id="16" name="Line segment 2"/>
          <p:cNvSpPr/>
          <p:nvPr/>
        </p:nvSpPr>
        <p:spPr>
          <a:xfrm flipV="1">
            <a:off x="3099816" y="3243605"/>
            <a:ext cx="1335024" cy="462058"/>
          </a:xfrm>
          <a:prstGeom prst="line">
            <a:avLst/>
          </a:prstGeom>
          <a:noFill/>
          <a:ln w="44450">
            <a:solidFill>
              <a:srgbClr val="0D9488"/>
            </a:solidFill>
            <a:prstDash val="solid"/>
          </a:ln>
        </p:spPr>
      </p:sp>
      <p:sp>
        <p:nvSpPr>
          <p:cNvPr id="17" name="Line segment 3"/>
          <p:cNvSpPr/>
          <p:nvPr/>
        </p:nvSpPr>
        <p:spPr>
          <a:xfrm>
            <a:off x="4434840" y="3243605"/>
            <a:ext cx="1335024" cy="171621"/>
          </a:xfrm>
          <a:prstGeom prst="line">
            <a:avLst/>
          </a:prstGeom>
          <a:noFill/>
          <a:ln w="44450">
            <a:solidFill>
              <a:srgbClr val="0D9488"/>
            </a:solidFill>
            <a:prstDash val="solid"/>
          </a:ln>
        </p:spPr>
      </p:sp>
      <p:sp>
        <p:nvSpPr>
          <p:cNvPr id="18" name="Line segment 4"/>
          <p:cNvSpPr/>
          <p:nvPr/>
        </p:nvSpPr>
        <p:spPr>
          <a:xfrm>
            <a:off x="5769864" y="3415227"/>
            <a:ext cx="1335024" cy="140818"/>
          </a:xfrm>
          <a:prstGeom prst="line">
            <a:avLst/>
          </a:prstGeom>
          <a:noFill/>
          <a:ln w="44450">
            <a:solidFill>
              <a:srgbClr val="0D9488"/>
            </a:solidFill>
            <a:prstDash val="solid"/>
          </a:ln>
        </p:spPr>
      </p:sp>
      <p:sp>
        <p:nvSpPr>
          <p:cNvPr id="19" name="Point Epoch 1"/>
          <p:cNvSpPr/>
          <p:nvPr/>
        </p:nvSpPr>
        <p:spPr>
          <a:xfrm>
            <a:off x="1664208" y="4405979"/>
            <a:ext cx="201168" cy="201168"/>
          </a:xfrm>
          <a:prstGeom prst="ellipse">
            <a:avLst/>
          </a:prstGeom>
          <a:solidFill>
            <a:srgbClr val="0D9488"/>
          </a:solidFill>
          <a:ln w="19050">
            <a:solidFill>
              <a:srgbClr val="FFFFFF"/>
            </a:solidFill>
            <a:prstDash val="solid"/>
          </a:ln>
        </p:spPr>
      </p:sp>
      <p:sp>
        <p:nvSpPr>
          <p:cNvPr id="20" name="Text 18"/>
          <p:cNvSpPr txBox="1"/>
          <p:nvPr/>
        </p:nvSpPr>
        <p:spPr>
          <a:xfrm>
            <a:off x="1216152" y="4085939"/>
            <a:ext cx="1097280" cy="274320"/>
          </a:xfrm>
          <a:prstGeom prst="rect">
            <a:avLst/>
          </a:prstGeom>
          <a:noFill/>
          <a:ln/>
        </p:spPr>
        <p:txBody>
          <a:bodyPr wrap="square" lIns="0" tIns="0" rIns="0" bIns="0" rtlCol="0" anchor="ctr"/>
          <a:lstStyle/>
          <a:p>
            <a:pPr algn="ctr" indent="0" marL="0">
              <a:buNone/>
            </a:pPr>
            <a:r>
              <a:rPr lang="en-US" sz="1300" b="1" dirty="0">
                <a:solidFill>
                  <a:schemeClr val="tx1"/>
                </a:solidFill>
              </a:rPr>
              <a:t>52.85</a:t>
            </a:r>
            <a:endParaRPr lang="en-US" sz="1300" dirty="0"/>
          </a:p>
        </p:txBody>
      </p:sp>
      <p:sp>
        <p:nvSpPr>
          <p:cNvPr id="21" name="Text 19"/>
          <p:cNvSpPr txBox="1"/>
          <p:nvPr/>
        </p:nvSpPr>
        <p:spPr>
          <a:xfrm>
            <a:off x="1124712" y="5852160"/>
            <a:ext cx="1280160" cy="320040"/>
          </a:xfrm>
          <a:prstGeom prst="rect">
            <a:avLst/>
          </a:prstGeom>
          <a:noFill/>
          <a:ln/>
        </p:spPr>
        <p:txBody>
          <a:bodyPr wrap="square" lIns="0" tIns="0" rIns="0" bIns="0" rtlCol="0" anchor="ctr"/>
          <a:lstStyle/>
          <a:p>
            <a:pPr algn="ctr" indent="0" marL="0">
              <a:buNone/>
            </a:pPr>
            <a:r>
              <a:rPr lang="en-US" sz="1200" dirty="0">
                <a:solidFill>
                  <a:schemeClr val="tx1"/>
                </a:solidFill>
              </a:rPr>
              <a:t>Epoch 1</a:t>
            </a:r>
            <a:endParaRPr lang="en-US" sz="1200" dirty="0"/>
          </a:p>
        </p:txBody>
      </p:sp>
      <p:sp>
        <p:nvSpPr>
          <p:cNvPr id="22" name="Point Epoch 2"/>
          <p:cNvSpPr/>
          <p:nvPr/>
        </p:nvSpPr>
        <p:spPr>
          <a:xfrm>
            <a:off x="2999232" y="3605079"/>
            <a:ext cx="201168" cy="201168"/>
          </a:xfrm>
          <a:prstGeom prst="ellipse">
            <a:avLst/>
          </a:prstGeom>
          <a:solidFill>
            <a:srgbClr val="0D9488"/>
          </a:solidFill>
          <a:ln w="19050">
            <a:solidFill>
              <a:srgbClr val="FFFFFF"/>
            </a:solidFill>
            <a:prstDash val="solid"/>
          </a:ln>
        </p:spPr>
      </p:sp>
      <p:sp>
        <p:nvSpPr>
          <p:cNvPr id="23" name="Text 21"/>
          <p:cNvSpPr txBox="1"/>
          <p:nvPr/>
        </p:nvSpPr>
        <p:spPr>
          <a:xfrm>
            <a:off x="2551176" y="3285039"/>
            <a:ext cx="1097280" cy="274320"/>
          </a:xfrm>
          <a:prstGeom prst="rect">
            <a:avLst/>
          </a:prstGeom>
          <a:noFill/>
          <a:ln/>
        </p:spPr>
        <p:txBody>
          <a:bodyPr wrap="square" lIns="0" tIns="0" rIns="0" bIns="0" rtlCol="0" anchor="ctr"/>
          <a:lstStyle/>
          <a:p>
            <a:pPr algn="ctr" indent="0" marL="0">
              <a:buNone/>
            </a:pPr>
            <a:r>
              <a:rPr lang="en-US" sz="1300" b="1" dirty="0">
                <a:solidFill>
                  <a:schemeClr val="tx1"/>
                </a:solidFill>
              </a:rPr>
              <a:t>54.67</a:t>
            </a:r>
            <a:endParaRPr lang="en-US" sz="1300" dirty="0"/>
          </a:p>
        </p:txBody>
      </p:sp>
      <p:sp>
        <p:nvSpPr>
          <p:cNvPr id="24" name="Text 22"/>
          <p:cNvSpPr txBox="1"/>
          <p:nvPr/>
        </p:nvSpPr>
        <p:spPr>
          <a:xfrm>
            <a:off x="2459736" y="5852160"/>
            <a:ext cx="1280160" cy="320040"/>
          </a:xfrm>
          <a:prstGeom prst="rect">
            <a:avLst/>
          </a:prstGeom>
          <a:noFill/>
          <a:ln/>
        </p:spPr>
        <p:txBody>
          <a:bodyPr wrap="square" lIns="0" tIns="0" rIns="0" bIns="0" rtlCol="0" anchor="ctr"/>
          <a:lstStyle/>
          <a:p>
            <a:pPr algn="ctr" indent="0" marL="0">
              <a:buNone/>
            </a:pPr>
            <a:r>
              <a:rPr lang="en-US" sz="1200" dirty="0">
                <a:solidFill>
                  <a:schemeClr val="tx1"/>
                </a:solidFill>
              </a:rPr>
              <a:t>Epoch 2</a:t>
            </a:r>
            <a:endParaRPr lang="en-US" sz="1200" dirty="0"/>
          </a:p>
        </p:txBody>
      </p:sp>
      <p:sp>
        <p:nvSpPr>
          <p:cNvPr id="25" name="Point Epoch 3"/>
          <p:cNvSpPr/>
          <p:nvPr/>
        </p:nvSpPr>
        <p:spPr>
          <a:xfrm>
            <a:off x="4334256" y="3143021"/>
            <a:ext cx="201168" cy="201168"/>
          </a:xfrm>
          <a:prstGeom prst="ellipse">
            <a:avLst/>
          </a:prstGeom>
          <a:solidFill>
            <a:srgbClr val="0D9488"/>
          </a:solidFill>
          <a:ln w="19050">
            <a:solidFill>
              <a:srgbClr val="FFFFFF"/>
            </a:solidFill>
            <a:prstDash val="solid"/>
          </a:ln>
        </p:spPr>
      </p:sp>
      <p:sp>
        <p:nvSpPr>
          <p:cNvPr id="26" name="Text 24"/>
          <p:cNvSpPr txBox="1"/>
          <p:nvPr/>
        </p:nvSpPr>
        <p:spPr>
          <a:xfrm>
            <a:off x="3886200" y="2822981"/>
            <a:ext cx="1097280" cy="274320"/>
          </a:xfrm>
          <a:prstGeom prst="rect">
            <a:avLst/>
          </a:prstGeom>
          <a:noFill/>
          <a:ln/>
        </p:spPr>
        <p:txBody>
          <a:bodyPr wrap="square" lIns="0" tIns="0" rIns="0" bIns="0" rtlCol="0" anchor="ctr"/>
          <a:lstStyle/>
          <a:p>
            <a:pPr algn="ctr" indent="0" marL="0">
              <a:buNone/>
            </a:pPr>
            <a:r>
              <a:rPr lang="en-US" sz="1300" b="1" dirty="0">
                <a:solidFill>
                  <a:schemeClr val="tx1"/>
                </a:solidFill>
              </a:rPr>
              <a:t>55.72</a:t>
            </a:r>
            <a:endParaRPr lang="en-US" sz="1300" dirty="0"/>
          </a:p>
        </p:txBody>
      </p:sp>
      <p:sp>
        <p:nvSpPr>
          <p:cNvPr id="27" name="Text 25"/>
          <p:cNvSpPr txBox="1"/>
          <p:nvPr/>
        </p:nvSpPr>
        <p:spPr>
          <a:xfrm>
            <a:off x="3794760" y="5852160"/>
            <a:ext cx="1280160" cy="320040"/>
          </a:xfrm>
          <a:prstGeom prst="rect">
            <a:avLst/>
          </a:prstGeom>
          <a:noFill/>
          <a:ln/>
        </p:spPr>
        <p:txBody>
          <a:bodyPr wrap="square" lIns="0" tIns="0" rIns="0" bIns="0" rtlCol="0" anchor="ctr"/>
          <a:lstStyle/>
          <a:p>
            <a:pPr algn="ctr" indent="0" marL="0">
              <a:buNone/>
            </a:pPr>
            <a:r>
              <a:rPr lang="en-US" sz="1200" dirty="0">
                <a:solidFill>
                  <a:schemeClr val="tx1"/>
                </a:solidFill>
              </a:rPr>
              <a:t>Epoch 3</a:t>
            </a:r>
            <a:endParaRPr lang="en-US" sz="1200" dirty="0"/>
          </a:p>
        </p:txBody>
      </p:sp>
      <p:sp>
        <p:nvSpPr>
          <p:cNvPr id="28" name="Point Epoch 4"/>
          <p:cNvSpPr/>
          <p:nvPr/>
        </p:nvSpPr>
        <p:spPr>
          <a:xfrm>
            <a:off x="5669280" y="3314643"/>
            <a:ext cx="201168" cy="201168"/>
          </a:xfrm>
          <a:prstGeom prst="ellipse">
            <a:avLst/>
          </a:prstGeom>
          <a:solidFill>
            <a:srgbClr val="0D9488"/>
          </a:solidFill>
          <a:ln w="19050">
            <a:solidFill>
              <a:srgbClr val="FFFFFF"/>
            </a:solidFill>
            <a:prstDash val="solid"/>
          </a:ln>
        </p:spPr>
      </p:sp>
      <p:sp>
        <p:nvSpPr>
          <p:cNvPr id="29" name="Text 27"/>
          <p:cNvSpPr txBox="1"/>
          <p:nvPr/>
        </p:nvSpPr>
        <p:spPr>
          <a:xfrm>
            <a:off x="5221224" y="2994603"/>
            <a:ext cx="1097280" cy="274320"/>
          </a:xfrm>
          <a:prstGeom prst="rect">
            <a:avLst/>
          </a:prstGeom>
          <a:noFill/>
          <a:ln/>
        </p:spPr>
        <p:txBody>
          <a:bodyPr wrap="square" lIns="0" tIns="0" rIns="0" bIns="0" rtlCol="0" anchor="ctr"/>
          <a:lstStyle/>
          <a:p>
            <a:pPr algn="ctr" indent="0" marL="0">
              <a:buNone/>
            </a:pPr>
            <a:r>
              <a:rPr lang="en-US" sz="1300" b="1" dirty="0">
                <a:solidFill>
                  <a:schemeClr val="tx1"/>
                </a:solidFill>
              </a:rPr>
              <a:t>55.33</a:t>
            </a:r>
            <a:endParaRPr lang="en-US" sz="1300" dirty="0"/>
          </a:p>
        </p:txBody>
      </p:sp>
      <p:sp>
        <p:nvSpPr>
          <p:cNvPr id="30" name="Text 28"/>
          <p:cNvSpPr txBox="1"/>
          <p:nvPr/>
        </p:nvSpPr>
        <p:spPr>
          <a:xfrm>
            <a:off x="5129784" y="5852160"/>
            <a:ext cx="1280160" cy="320040"/>
          </a:xfrm>
          <a:prstGeom prst="rect">
            <a:avLst/>
          </a:prstGeom>
          <a:noFill/>
          <a:ln/>
        </p:spPr>
        <p:txBody>
          <a:bodyPr wrap="square" lIns="0" tIns="0" rIns="0" bIns="0" rtlCol="0" anchor="ctr"/>
          <a:lstStyle/>
          <a:p>
            <a:pPr algn="ctr" indent="0" marL="0">
              <a:buNone/>
            </a:pPr>
            <a:r>
              <a:rPr lang="en-US" sz="1200" dirty="0">
                <a:solidFill>
                  <a:schemeClr val="tx1"/>
                </a:solidFill>
              </a:rPr>
              <a:t>Epoch 4</a:t>
            </a:r>
            <a:endParaRPr lang="en-US" sz="1200" dirty="0"/>
          </a:p>
        </p:txBody>
      </p:sp>
      <p:sp>
        <p:nvSpPr>
          <p:cNvPr id="31" name="Point Epoch 5"/>
          <p:cNvSpPr/>
          <p:nvPr/>
        </p:nvSpPr>
        <p:spPr>
          <a:xfrm>
            <a:off x="7004304" y="3455460"/>
            <a:ext cx="201168" cy="201168"/>
          </a:xfrm>
          <a:prstGeom prst="ellipse">
            <a:avLst/>
          </a:prstGeom>
          <a:solidFill>
            <a:srgbClr val="0D9488"/>
          </a:solidFill>
          <a:ln w="19050">
            <a:solidFill>
              <a:srgbClr val="FFFFFF"/>
            </a:solidFill>
            <a:prstDash val="solid"/>
          </a:ln>
        </p:spPr>
      </p:sp>
      <p:sp>
        <p:nvSpPr>
          <p:cNvPr id="32" name="Text 30"/>
          <p:cNvSpPr txBox="1"/>
          <p:nvPr/>
        </p:nvSpPr>
        <p:spPr>
          <a:xfrm>
            <a:off x="6556248" y="3135420"/>
            <a:ext cx="1097280" cy="274320"/>
          </a:xfrm>
          <a:prstGeom prst="rect">
            <a:avLst/>
          </a:prstGeom>
          <a:noFill/>
          <a:ln/>
        </p:spPr>
        <p:txBody>
          <a:bodyPr wrap="square" lIns="0" tIns="0" rIns="0" bIns="0" rtlCol="0" anchor="ctr"/>
          <a:lstStyle/>
          <a:p>
            <a:pPr algn="ctr" indent="0" marL="0">
              <a:buNone/>
            </a:pPr>
            <a:r>
              <a:rPr lang="en-US" sz="1300" b="1" dirty="0">
                <a:solidFill>
                  <a:schemeClr val="tx1"/>
                </a:solidFill>
              </a:rPr>
              <a:t>55.01</a:t>
            </a:r>
            <a:endParaRPr lang="en-US" sz="1300" dirty="0"/>
          </a:p>
        </p:txBody>
      </p:sp>
      <p:sp>
        <p:nvSpPr>
          <p:cNvPr id="33" name="Text 31"/>
          <p:cNvSpPr txBox="1"/>
          <p:nvPr/>
        </p:nvSpPr>
        <p:spPr>
          <a:xfrm>
            <a:off x="6464808" y="5852160"/>
            <a:ext cx="1280160" cy="320040"/>
          </a:xfrm>
          <a:prstGeom prst="rect">
            <a:avLst/>
          </a:prstGeom>
          <a:noFill/>
          <a:ln/>
        </p:spPr>
        <p:txBody>
          <a:bodyPr wrap="square" lIns="0" tIns="0" rIns="0" bIns="0" rtlCol="0" anchor="ctr"/>
          <a:lstStyle/>
          <a:p>
            <a:pPr algn="ctr" indent="0" marL="0">
              <a:buNone/>
            </a:pPr>
            <a:r>
              <a:rPr lang="en-US" sz="1200" dirty="0">
                <a:solidFill>
                  <a:schemeClr val="tx1"/>
                </a:solidFill>
              </a:rPr>
              <a:t>Epoch 5</a:t>
            </a:r>
            <a:endParaRPr lang="en-US" sz="1200" dirty="0"/>
          </a:p>
        </p:txBody>
      </p:sp>
      <p:sp>
        <p:nvSpPr>
          <p:cNvPr id="34" name="Stat card"/>
          <p:cNvSpPr/>
          <p:nvPr/>
        </p:nvSpPr>
        <p:spPr>
          <a:xfrm>
            <a:off x="8138160" y="1463040"/>
            <a:ext cx="3502152" cy="1417320"/>
          </a:xfrm>
          <a:prstGeom prst="roundRect">
            <a:avLst>
              <a:gd name="adj" fmla="val 7742"/>
            </a:avLst>
          </a:prstGeom>
          <a:solidFill>
            <a:schemeClr val="bg2"/>
          </a:solidFill>
          <a:ln w="12700">
            <a:solidFill>
              <a:schemeClr val="bg2"/>
            </a:solidFill>
            <a:prstDash val="solid"/>
          </a:ln>
        </p:spPr>
      </p:sp>
      <p:sp>
        <p:nvSpPr>
          <p:cNvPr id="35" name="Text 33"/>
          <p:cNvSpPr txBox="1"/>
          <p:nvPr/>
        </p:nvSpPr>
        <p:spPr>
          <a:xfrm>
            <a:off x="8366760" y="1645920"/>
            <a:ext cx="3108960" cy="640080"/>
          </a:xfrm>
          <a:prstGeom prst="rect">
            <a:avLst/>
          </a:prstGeom>
          <a:noFill/>
          <a:ln/>
        </p:spPr>
        <p:txBody>
          <a:bodyPr wrap="square" lIns="0" tIns="0" rIns="0" bIns="0" rtlCol="0" anchor="t"/>
          <a:lstStyle/>
          <a:p>
            <a:pPr indent="0" marL="0">
              <a:buNone/>
            </a:pPr>
            <a:r>
              <a:rPr lang="en-US" sz="3000" b="1" dirty="0">
                <a:solidFill>
                  <a:schemeClr val="accent1"/>
                </a:solidFill>
                <a:latin typeface="Georgia" pitchFamily="34" charset="0"/>
                <a:ea typeface="Georgia" pitchFamily="34" charset="-122"/>
                <a:cs typeface="Georgia" pitchFamily="34" charset="-120"/>
              </a:rPr>
              <a:t>3 of 5</a:t>
            </a:r>
            <a:endParaRPr lang="en-US" sz="3000" dirty="0"/>
          </a:p>
        </p:txBody>
      </p:sp>
      <p:sp>
        <p:nvSpPr>
          <p:cNvPr id="36" name="Text 34"/>
          <p:cNvSpPr txBox="1"/>
          <p:nvPr/>
        </p:nvSpPr>
        <p:spPr>
          <a:xfrm>
            <a:off x="8366760" y="2286000"/>
            <a:ext cx="3108960" cy="457200"/>
          </a:xfrm>
          <a:prstGeom prst="rect">
            <a:avLst/>
          </a:prstGeom>
          <a:noFill/>
          <a:ln/>
        </p:spPr>
        <p:txBody>
          <a:bodyPr wrap="square" lIns="0" tIns="0" rIns="0" bIns="0" rtlCol="0" anchor="t"/>
          <a:lstStyle/>
          <a:p>
            <a:pPr indent="0" marL="0">
              <a:buNone/>
            </a:pPr>
            <a:r>
              <a:rPr lang="en-US" sz="1400" dirty="0">
                <a:solidFill>
                  <a:schemeClr val="accent5"/>
                </a:solidFill>
              </a:rPr>
              <a:t>best epoch, kept by early stopping</a:t>
            </a:r>
            <a:endParaRPr lang="en-US" sz="1400" dirty="0"/>
          </a:p>
        </p:txBody>
      </p:sp>
      <p:sp>
        <p:nvSpPr>
          <p:cNvPr id="37" name="Stat card"/>
          <p:cNvSpPr/>
          <p:nvPr/>
        </p:nvSpPr>
        <p:spPr>
          <a:xfrm>
            <a:off x="8138160" y="3063240"/>
            <a:ext cx="3502152" cy="1417320"/>
          </a:xfrm>
          <a:prstGeom prst="roundRect">
            <a:avLst>
              <a:gd name="adj" fmla="val 7742"/>
            </a:avLst>
          </a:prstGeom>
          <a:solidFill>
            <a:schemeClr val="bg2"/>
          </a:solidFill>
          <a:ln w="12700">
            <a:solidFill>
              <a:schemeClr val="bg2"/>
            </a:solidFill>
            <a:prstDash val="solid"/>
          </a:ln>
        </p:spPr>
      </p:sp>
      <p:sp>
        <p:nvSpPr>
          <p:cNvPr id="38" name="Text 36"/>
          <p:cNvSpPr txBox="1"/>
          <p:nvPr/>
        </p:nvSpPr>
        <p:spPr>
          <a:xfrm>
            <a:off x="8366760" y="3246120"/>
            <a:ext cx="3108960" cy="640080"/>
          </a:xfrm>
          <a:prstGeom prst="rect">
            <a:avLst/>
          </a:prstGeom>
          <a:noFill/>
          <a:ln/>
        </p:spPr>
        <p:txBody>
          <a:bodyPr wrap="square" lIns="0" tIns="0" rIns="0" bIns="0" rtlCol="0" anchor="t"/>
          <a:lstStyle/>
          <a:p>
            <a:pPr indent="0" marL="0">
              <a:buNone/>
            </a:pPr>
            <a:r>
              <a:rPr lang="en-US" sz="3000" b="1" dirty="0">
                <a:solidFill>
                  <a:schemeClr val="accent1"/>
                </a:solidFill>
                <a:latin typeface="Georgia" pitchFamily="34" charset="0"/>
                <a:ea typeface="Georgia" pitchFamily="34" charset="-122"/>
                <a:cs typeface="Georgia" pitchFamily="34" charset="-120"/>
              </a:rPr>
              <a:t>3.39 → 2.31</a:t>
            </a:r>
            <a:endParaRPr lang="en-US" sz="3000" dirty="0"/>
          </a:p>
        </p:txBody>
      </p:sp>
      <p:sp>
        <p:nvSpPr>
          <p:cNvPr id="39" name="Text 37"/>
          <p:cNvSpPr txBox="1"/>
          <p:nvPr/>
        </p:nvSpPr>
        <p:spPr>
          <a:xfrm>
            <a:off x="8366760" y="3886200"/>
            <a:ext cx="3108960" cy="457200"/>
          </a:xfrm>
          <a:prstGeom prst="rect">
            <a:avLst/>
          </a:prstGeom>
          <a:noFill/>
          <a:ln/>
        </p:spPr>
        <p:txBody>
          <a:bodyPr wrap="square" lIns="0" tIns="0" rIns="0" bIns="0" rtlCol="0" anchor="t"/>
          <a:lstStyle/>
          <a:p>
            <a:pPr indent="0" marL="0">
              <a:buNone/>
            </a:pPr>
            <a:r>
              <a:rPr lang="en-US" sz="1400" dirty="0">
                <a:solidFill>
                  <a:schemeClr val="accent5"/>
                </a:solidFill>
              </a:rPr>
              <a:t>training loss, epoch 1 to 5</a:t>
            </a:r>
            <a:endParaRPr lang="en-US" sz="1400" dirty="0"/>
          </a:p>
        </p:txBody>
      </p:sp>
      <p:sp>
        <p:nvSpPr>
          <p:cNvPr id="40" name="Stat card"/>
          <p:cNvSpPr/>
          <p:nvPr/>
        </p:nvSpPr>
        <p:spPr>
          <a:xfrm>
            <a:off x="8138160" y="4663440"/>
            <a:ext cx="3502152" cy="1417320"/>
          </a:xfrm>
          <a:prstGeom prst="roundRect">
            <a:avLst>
              <a:gd name="adj" fmla="val 7742"/>
            </a:avLst>
          </a:prstGeom>
          <a:solidFill>
            <a:schemeClr val="bg2"/>
          </a:solidFill>
          <a:ln w="12700">
            <a:solidFill>
              <a:schemeClr val="bg2"/>
            </a:solidFill>
            <a:prstDash val="solid"/>
          </a:ln>
        </p:spPr>
      </p:sp>
      <p:sp>
        <p:nvSpPr>
          <p:cNvPr id="41" name="Text 39"/>
          <p:cNvSpPr txBox="1"/>
          <p:nvPr/>
        </p:nvSpPr>
        <p:spPr>
          <a:xfrm>
            <a:off x="8366760" y="4846320"/>
            <a:ext cx="3108960" cy="640080"/>
          </a:xfrm>
          <a:prstGeom prst="rect">
            <a:avLst/>
          </a:prstGeom>
          <a:noFill/>
          <a:ln/>
        </p:spPr>
        <p:txBody>
          <a:bodyPr wrap="square" lIns="0" tIns="0" rIns="0" bIns="0" rtlCol="0" anchor="t"/>
          <a:lstStyle/>
          <a:p>
            <a:pPr indent="0" marL="0">
              <a:buNone/>
            </a:pPr>
            <a:r>
              <a:rPr lang="en-US" sz="3000" b="1" dirty="0">
                <a:solidFill>
                  <a:schemeClr val="accent1"/>
                </a:solidFill>
                <a:latin typeface="Georgia" pitchFamily="34" charset="0"/>
                <a:ea typeface="Georgia" pitchFamily="34" charset="-122"/>
                <a:cs typeface="Georgia" pitchFamily="34" charset="-120"/>
              </a:rPr>
              <a:t>T4 GPU</a:t>
            </a:r>
            <a:endParaRPr lang="en-US" sz="3000" dirty="0"/>
          </a:p>
        </p:txBody>
      </p:sp>
      <p:sp>
        <p:nvSpPr>
          <p:cNvPr id="42" name="Text 40"/>
          <p:cNvSpPr txBox="1"/>
          <p:nvPr/>
        </p:nvSpPr>
        <p:spPr>
          <a:xfrm>
            <a:off x="8366760" y="5486400"/>
            <a:ext cx="3108960" cy="457200"/>
          </a:xfrm>
          <a:prstGeom prst="rect">
            <a:avLst/>
          </a:prstGeom>
          <a:noFill/>
          <a:ln/>
        </p:spPr>
        <p:txBody>
          <a:bodyPr wrap="square" lIns="0" tIns="0" rIns="0" bIns="0" rtlCol="0" anchor="t"/>
          <a:lstStyle/>
          <a:p>
            <a:pPr indent="0" marL="0">
              <a:buNone/>
            </a:pPr>
            <a:r>
              <a:rPr lang="en-US" sz="1400" dirty="0">
                <a:solidFill>
                  <a:schemeClr val="accent5"/>
                </a:solidFill>
              </a:rPr>
              <a:t>Google Colab, 17,547 pairs</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RESULTS</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Fine-tuning lifts every test set</a:t>
            </a:r>
            <a:endParaRPr lang="en-US" sz="3600" dirty="0"/>
          </a:p>
        </p:txBody>
      </p:sp>
      <p:sp>
        <p:nvSpPr>
          <p:cNvPr id="4" name="Text 2"/>
          <p:cNvSpPr txBox="1"/>
          <p:nvPr/>
        </p:nvSpPr>
        <p:spPr>
          <a:xfrm>
            <a:off x="548640" y="1371600"/>
            <a:ext cx="6949440" cy="365760"/>
          </a:xfrm>
          <a:prstGeom prst="rect">
            <a:avLst/>
          </a:prstGeom>
          <a:noFill/>
          <a:ln/>
        </p:spPr>
        <p:txBody>
          <a:bodyPr wrap="square" lIns="0" tIns="0" rIns="0" bIns="0" rtlCol="0" anchor="ctr"/>
          <a:lstStyle/>
          <a:p>
            <a:pPr indent="0" marL="0">
              <a:buNone/>
            </a:pPr>
            <a:r>
              <a:rPr lang="en-US" sz="1400" b="1" dirty="0">
                <a:solidFill>
                  <a:schemeClr val="tx1"/>
                </a:solidFill>
              </a:rPr>
              <a:t>chrF++ (higher is better)</a:t>
            </a:r>
            <a:endParaRPr lang="en-US" sz="1400" dirty="0"/>
          </a:p>
        </p:txBody>
      </p:sp>
      <p:sp>
        <p:nvSpPr>
          <p:cNvPr id="5" name="Gridline"/>
          <p:cNvSpPr/>
          <p:nvPr/>
        </p:nvSpPr>
        <p:spPr>
          <a:xfrm>
            <a:off x="1097280" y="5303520"/>
            <a:ext cx="6400800" cy="0"/>
          </a:xfrm>
          <a:prstGeom prst="line">
            <a:avLst/>
          </a:prstGeom>
          <a:noFill/>
          <a:ln w="9525">
            <a:solidFill>
              <a:srgbClr val="D5E3E3"/>
            </a:solidFill>
            <a:prstDash val="solid"/>
          </a:ln>
        </p:spPr>
      </p:sp>
      <p:sp>
        <p:nvSpPr>
          <p:cNvPr id="6" name="Text 4"/>
          <p:cNvSpPr txBox="1"/>
          <p:nvPr/>
        </p:nvSpPr>
        <p:spPr>
          <a:xfrm>
            <a:off x="548640" y="516636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0</a:t>
            </a:r>
            <a:endParaRPr lang="en-US" sz="1100" dirty="0"/>
          </a:p>
        </p:txBody>
      </p:sp>
      <p:sp>
        <p:nvSpPr>
          <p:cNvPr id="7" name="Gridline"/>
          <p:cNvSpPr/>
          <p:nvPr/>
        </p:nvSpPr>
        <p:spPr>
          <a:xfrm>
            <a:off x="1097280" y="4852851"/>
            <a:ext cx="6400800" cy="0"/>
          </a:xfrm>
          <a:prstGeom prst="line">
            <a:avLst/>
          </a:prstGeom>
          <a:noFill/>
          <a:ln w="9525">
            <a:solidFill>
              <a:srgbClr val="D5E3E3"/>
            </a:solidFill>
            <a:prstDash val="solid"/>
          </a:ln>
        </p:spPr>
      </p:sp>
      <p:sp>
        <p:nvSpPr>
          <p:cNvPr id="8" name="Text 6"/>
          <p:cNvSpPr txBox="1"/>
          <p:nvPr/>
        </p:nvSpPr>
        <p:spPr>
          <a:xfrm>
            <a:off x="548640" y="4715691"/>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10</a:t>
            </a:r>
            <a:endParaRPr lang="en-US" sz="1100" dirty="0"/>
          </a:p>
        </p:txBody>
      </p:sp>
      <p:sp>
        <p:nvSpPr>
          <p:cNvPr id="9" name="Gridline"/>
          <p:cNvSpPr/>
          <p:nvPr/>
        </p:nvSpPr>
        <p:spPr>
          <a:xfrm>
            <a:off x="1097280" y="4402183"/>
            <a:ext cx="6400800" cy="0"/>
          </a:xfrm>
          <a:prstGeom prst="line">
            <a:avLst/>
          </a:prstGeom>
          <a:noFill/>
          <a:ln w="9525">
            <a:solidFill>
              <a:srgbClr val="D5E3E3"/>
            </a:solidFill>
            <a:prstDash val="solid"/>
          </a:ln>
        </p:spPr>
      </p:sp>
      <p:sp>
        <p:nvSpPr>
          <p:cNvPr id="10" name="Text 8"/>
          <p:cNvSpPr txBox="1"/>
          <p:nvPr/>
        </p:nvSpPr>
        <p:spPr>
          <a:xfrm>
            <a:off x="548640" y="4265023"/>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20</a:t>
            </a:r>
            <a:endParaRPr lang="en-US" sz="1100" dirty="0"/>
          </a:p>
        </p:txBody>
      </p:sp>
      <p:sp>
        <p:nvSpPr>
          <p:cNvPr id="11" name="Gridline"/>
          <p:cNvSpPr/>
          <p:nvPr/>
        </p:nvSpPr>
        <p:spPr>
          <a:xfrm>
            <a:off x="1097280" y="3951514"/>
            <a:ext cx="6400800" cy="0"/>
          </a:xfrm>
          <a:prstGeom prst="line">
            <a:avLst/>
          </a:prstGeom>
          <a:noFill/>
          <a:ln w="9525">
            <a:solidFill>
              <a:srgbClr val="D5E3E3"/>
            </a:solidFill>
            <a:prstDash val="solid"/>
          </a:ln>
        </p:spPr>
      </p:sp>
      <p:sp>
        <p:nvSpPr>
          <p:cNvPr id="12" name="Text 10"/>
          <p:cNvSpPr txBox="1"/>
          <p:nvPr/>
        </p:nvSpPr>
        <p:spPr>
          <a:xfrm>
            <a:off x="548640" y="3814354"/>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30</a:t>
            </a:r>
            <a:endParaRPr lang="en-US" sz="1100" dirty="0"/>
          </a:p>
        </p:txBody>
      </p:sp>
      <p:sp>
        <p:nvSpPr>
          <p:cNvPr id="13" name="Gridline"/>
          <p:cNvSpPr/>
          <p:nvPr/>
        </p:nvSpPr>
        <p:spPr>
          <a:xfrm>
            <a:off x="1097280" y="3500846"/>
            <a:ext cx="6400800" cy="0"/>
          </a:xfrm>
          <a:prstGeom prst="line">
            <a:avLst/>
          </a:prstGeom>
          <a:noFill/>
          <a:ln w="9525">
            <a:solidFill>
              <a:srgbClr val="D5E3E3"/>
            </a:solidFill>
            <a:prstDash val="solid"/>
          </a:ln>
        </p:spPr>
      </p:sp>
      <p:sp>
        <p:nvSpPr>
          <p:cNvPr id="14" name="Text 12"/>
          <p:cNvSpPr txBox="1"/>
          <p:nvPr/>
        </p:nvSpPr>
        <p:spPr>
          <a:xfrm>
            <a:off x="548640" y="3363686"/>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40</a:t>
            </a:r>
            <a:endParaRPr lang="en-US" sz="1100" dirty="0"/>
          </a:p>
        </p:txBody>
      </p:sp>
      <p:sp>
        <p:nvSpPr>
          <p:cNvPr id="15" name="Gridline"/>
          <p:cNvSpPr/>
          <p:nvPr/>
        </p:nvSpPr>
        <p:spPr>
          <a:xfrm>
            <a:off x="1097280" y="3050177"/>
            <a:ext cx="6400800" cy="0"/>
          </a:xfrm>
          <a:prstGeom prst="line">
            <a:avLst/>
          </a:prstGeom>
          <a:noFill/>
          <a:ln w="9525">
            <a:solidFill>
              <a:srgbClr val="D5E3E3"/>
            </a:solidFill>
            <a:prstDash val="solid"/>
          </a:ln>
        </p:spPr>
      </p:sp>
      <p:sp>
        <p:nvSpPr>
          <p:cNvPr id="16" name="Text 14"/>
          <p:cNvSpPr txBox="1"/>
          <p:nvPr/>
        </p:nvSpPr>
        <p:spPr>
          <a:xfrm>
            <a:off x="548640" y="2913017"/>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50</a:t>
            </a:r>
            <a:endParaRPr lang="en-US" sz="1100" dirty="0"/>
          </a:p>
        </p:txBody>
      </p:sp>
      <p:sp>
        <p:nvSpPr>
          <p:cNvPr id="17" name="Gridline"/>
          <p:cNvSpPr/>
          <p:nvPr/>
        </p:nvSpPr>
        <p:spPr>
          <a:xfrm>
            <a:off x="1097280" y="2599509"/>
            <a:ext cx="6400800" cy="0"/>
          </a:xfrm>
          <a:prstGeom prst="line">
            <a:avLst/>
          </a:prstGeom>
          <a:noFill/>
          <a:ln w="9525">
            <a:solidFill>
              <a:srgbClr val="D5E3E3"/>
            </a:solidFill>
            <a:prstDash val="solid"/>
          </a:ln>
        </p:spPr>
      </p:sp>
      <p:sp>
        <p:nvSpPr>
          <p:cNvPr id="18" name="Text 16"/>
          <p:cNvSpPr txBox="1"/>
          <p:nvPr/>
        </p:nvSpPr>
        <p:spPr>
          <a:xfrm>
            <a:off x="548640" y="2462349"/>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60</a:t>
            </a:r>
            <a:endParaRPr lang="en-US" sz="1100" dirty="0"/>
          </a:p>
        </p:txBody>
      </p:sp>
      <p:sp>
        <p:nvSpPr>
          <p:cNvPr id="19" name="Gridline"/>
          <p:cNvSpPr/>
          <p:nvPr/>
        </p:nvSpPr>
        <p:spPr>
          <a:xfrm>
            <a:off x="1097280" y="2148840"/>
            <a:ext cx="6400800" cy="0"/>
          </a:xfrm>
          <a:prstGeom prst="line">
            <a:avLst/>
          </a:prstGeom>
          <a:noFill/>
          <a:ln w="9525">
            <a:solidFill>
              <a:srgbClr val="D5E3E3"/>
            </a:solidFill>
            <a:prstDash val="solid"/>
          </a:ln>
        </p:spPr>
      </p:sp>
      <p:sp>
        <p:nvSpPr>
          <p:cNvPr id="20" name="Text 18"/>
          <p:cNvSpPr txBox="1"/>
          <p:nvPr/>
        </p:nvSpPr>
        <p:spPr>
          <a:xfrm>
            <a:off x="548640" y="2011680"/>
            <a:ext cx="457200" cy="274320"/>
          </a:xfrm>
          <a:prstGeom prst="rect">
            <a:avLst/>
          </a:prstGeom>
          <a:noFill/>
          <a:ln/>
        </p:spPr>
        <p:txBody>
          <a:bodyPr wrap="square" lIns="0" tIns="0" rIns="0" bIns="0" rtlCol="0" anchor="ctr"/>
          <a:lstStyle/>
          <a:p>
            <a:pPr algn="r" indent="0" marL="0">
              <a:buNone/>
            </a:pPr>
            <a:r>
              <a:rPr lang="en-US" sz="1100" dirty="0">
                <a:solidFill>
                  <a:schemeClr val="accent5"/>
                </a:solidFill>
              </a:rPr>
              <a:t>70</a:t>
            </a:r>
            <a:endParaRPr lang="en-US" sz="1100" dirty="0"/>
          </a:p>
        </p:txBody>
      </p:sp>
      <p:sp>
        <p:nvSpPr>
          <p:cNvPr id="21" name="Column NusaX (400) Base NLLB-200"/>
          <p:cNvSpPr/>
          <p:nvPr/>
        </p:nvSpPr>
        <p:spPr>
          <a:xfrm>
            <a:off x="1524000" y="3561235"/>
            <a:ext cx="640080" cy="1742285"/>
          </a:xfrm>
          <a:prstGeom prst="rect">
            <a:avLst/>
          </a:prstGeom>
          <a:solidFill>
            <a:srgbClr val="9DB4BB"/>
          </a:solidFill>
          <a:ln w="12700">
            <a:solidFill>
              <a:srgbClr val="9DB4BB"/>
            </a:solidFill>
            <a:prstDash val="solid"/>
          </a:ln>
        </p:spPr>
      </p:sp>
      <p:sp>
        <p:nvSpPr>
          <p:cNvPr id="22" name="Text 20"/>
          <p:cNvSpPr txBox="1"/>
          <p:nvPr/>
        </p:nvSpPr>
        <p:spPr>
          <a:xfrm>
            <a:off x="1341120" y="3250339"/>
            <a:ext cx="1005840" cy="274320"/>
          </a:xfrm>
          <a:prstGeom prst="rect">
            <a:avLst/>
          </a:prstGeom>
          <a:noFill/>
          <a:ln/>
        </p:spPr>
        <p:txBody>
          <a:bodyPr wrap="square" lIns="0" tIns="0" rIns="0" bIns="0" rtlCol="0" anchor="ctr"/>
          <a:lstStyle/>
          <a:p>
            <a:pPr algn="ctr" indent="0" marL="0">
              <a:buNone/>
            </a:pPr>
            <a:r>
              <a:rPr lang="en-US" sz="1300" b="1" dirty="0">
                <a:solidFill>
                  <a:schemeClr val="tx1"/>
                </a:solidFill>
              </a:rPr>
              <a:t>38.7</a:t>
            </a:r>
            <a:endParaRPr lang="en-US" sz="1300" dirty="0"/>
          </a:p>
        </p:txBody>
      </p:sp>
      <p:sp>
        <p:nvSpPr>
          <p:cNvPr id="23" name="Column NusaX (400) Our fine-tuned model"/>
          <p:cNvSpPr/>
          <p:nvPr/>
        </p:nvSpPr>
        <p:spPr>
          <a:xfrm>
            <a:off x="2164080" y="2727949"/>
            <a:ext cx="640080" cy="2575571"/>
          </a:xfrm>
          <a:prstGeom prst="rect">
            <a:avLst/>
          </a:prstGeom>
          <a:solidFill>
            <a:srgbClr val="0D9488"/>
          </a:solidFill>
          <a:ln w="12700">
            <a:solidFill>
              <a:srgbClr val="0D9488"/>
            </a:solidFill>
            <a:prstDash val="solid"/>
          </a:ln>
        </p:spPr>
      </p:sp>
      <p:sp>
        <p:nvSpPr>
          <p:cNvPr id="24" name="Text 22"/>
          <p:cNvSpPr txBox="1"/>
          <p:nvPr/>
        </p:nvSpPr>
        <p:spPr>
          <a:xfrm>
            <a:off x="1981200" y="2417053"/>
            <a:ext cx="1005840" cy="274320"/>
          </a:xfrm>
          <a:prstGeom prst="rect">
            <a:avLst/>
          </a:prstGeom>
          <a:noFill/>
          <a:ln/>
        </p:spPr>
        <p:txBody>
          <a:bodyPr wrap="square" lIns="0" tIns="0" rIns="0" bIns="0" rtlCol="0" anchor="ctr"/>
          <a:lstStyle/>
          <a:p>
            <a:pPr algn="ctr" indent="0" marL="0">
              <a:buNone/>
            </a:pPr>
            <a:r>
              <a:rPr lang="en-US" sz="1300" b="1" dirty="0">
                <a:solidFill>
                  <a:schemeClr val="tx1"/>
                </a:solidFill>
              </a:rPr>
              <a:t>57.1</a:t>
            </a:r>
            <a:endParaRPr lang="en-US" sz="1300" dirty="0"/>
          </a:p>
        </p:txBody>
      </p:sp>
      <p:sp>
        <p:nvSpPr>
          <p:cNvPr id="25" name="Text 23"/>
          <p:cNvSpPr txBox="1"/>
          <p:nvPr/>
        </p:nvSpPr>
        <p:spPr>
          <a:xfrm>
            <a:off x="1097280" y="5376672"/>
            <a:ext cx="2133600" cy="365760"/>
          </a:xfrm>
          <a:prstGeom prst="rect">
            <a:avLst/>
          </a:prstGeom>
          <a:noFill/>
          <a:ln/>
        </p:spPr>
        <p:txBody>
          <a:bodyPr wrap="square" lIns="0" tIns="0" rIns="0" bIns="0" rtlCol="0" anchor="ctr"/>
          <a:lstStyle/>
          <a:p>
            <a:pPr algn="ctr" indent="0" marL="0">
              <a:buNone/>
            </a:pPr>
            <a:r>
              <a:rPr lang="en-US" sz="1300" dirty="0">
                <a:solidFill>
                  <a:schemeClr val="tx1"/>
                </a:solidFill>
              </a:rPr>
              <a:t>NusaX (400)</a:t>
            </a:r>
            <a:endParaRPr lang="en-US" sz="1300" dirty="0"/>
          </a:p>
        </p:txBody>
      </p:sp>
      <p:sp>
        <p:nvSpPr>
          <p:cNvPr id="26" name="Column FLORES (1,012) Base NLLB-200"/>
          <p:cNvSpPr/>
          <p:nvPr/>
        </p:nvSpPr>
        <p:spPr>
          <a:xfrm>
            <a:off x="3657600" y="3218277"/>
            <a:ext cx="640080" cy="2085243"/>
          </a:xfrm>
          <a:prstGeom prst="rect">
            <a:avLst/>
          </a:prstGeom>
          <a:solidFill>
            <a:srgbClr val="9DB4BB"/>
          </a:solidFill>
          <a:ln w="12700">
            <a:solidFill>
              <a:srgbClr val="9DB4BB"/>
            </a:solidFill>
            <a:prstDash val="solid"/>
          </a:ln>
        </p:spPr>
      </p:sp>
      <p:sp>
        <p:nvSpPr>
          <p:cNvPr id="27" name="Text 25"/>
          <p:cNvSpPr txBox="1"/>
          <p:nvPr/>
        </p:nvSpPr>
        <p:spPr>
          <a:xfrm>
            <a:off x="3474720" y="2907381"/>
            <a:ext cx="1005840" cy="274320"/>
          </a:xfrm>
          <a:prstGeom prst="rect">
            <a:avLst/>
          </a:prstGeom>
          <a:noFill/>
          <a:ln/>
        </p:spPr>
        <p:txBody>
          <a:bodyPr wrap="square" lIns="0" tIns="0" rIns="0" bIns="0" rtlCol="0" anchor="ctr"/>
          <a:lstStyle/>
          <a:p>
            <a:pPr algn="ctr" indent="0" marL="0">
              <a:buNone/>
            </a:pPr>
            <a:r>
              <a:rPr lang="en-US" sz="1300" b="1" dirty="0">
                <a:solidFill>
                  <a:schemeClr val="tx1"/>
                </a:solidFill>
              </a:rPr>
              <a:t>46.3</a:t>
            </a:r>
            <a:endParaRPr lang="en-US" sz="1300" dirty="0"/>
          </a:p>
        </p:txBody>
      </p:sp>
      <p:sp>
        <p:nvSpPr>
          <p:cNvPr id="28" name="Column FLORES (1,012) Our fine-tuned model"/>
          <p:cNvSpPr/>
          <p:nvPr/>
        </p:nvSpPr>
        <p:spPr>
          <a:xfrm>
            <a:off x="4297680" y="2923539"/>
            <a:ext cx="640080" cy="2379981"/>
          </a:xfrm>
          <a:prstGeom prst="rect">
            <a:avLst/>
          </a:prstGeom>
          <a:solidFill>
            <a:srgbClr val="0D9488"/>
          </a:solidFill>
          <a:ln w="12700">
            <a:solidFill>
              <a:srgbClr val="0D9488"/>
            </a:solidFill>
            <a:prstDash val="solid"/>
          </a:ln>
        </p:spPr>
      </p:sp>
      <p:sp>
        <p:nvSpPr>
          <p:cNvPr id="29" name="Text 27"/>
          <p:cNvSpPr txBox="1"/>
          <p:nvPr/>
        </p:nvSpPr>
        <p:spPr>
          <a:xfrm>
            <a:off x="4114800" y="2612643"/>
            <a:ext cx="1005840" cy="274320"/>
          </a:xfrm>
          <a:prstGeom prst="rect">
            <a:avLst/>
          </a:prstGeom>
          <a:noFill/>
          <a:ln/>
        </p:spPr>
        <p:txBody>
          <a:bodyPr wrap="square" lIns="0" tIns="0" rIns="0" bIns="0" rtlCol="0" anchor="ctr"/>
          <a:lstStyle/>
          <a:p>
            <a:pPr algn="ctr" indent="0" marL="0">
              <a:buNone/>
            </a:pPr>
            <a:r>
              <a:rPr lang="en-US" sz="1300" b="1" dirty="0">
                <a:solidFill>
                  <a:schemeClr val="tx1"/>
                </a:solidFill>
              </a:rPr>
              <a:t>52.8</a:t>
            </a:r>
            <a:endParaRPr lang="en-US" sz="1300" dirty="0"/>
          </a:p>
        </p:txBody>
      </p:sp>
      <p:sp>
        <p:nvSpPr>
          <p:cNvPr id="30" name="Text 28"/>
          <p:cNvSpPr txBox="1"/>
          <p:nvPr/>
        </p:nvSpPr>
        <p:spPr>
          <a:xfrm>
            <a:off x="3230880" y="5376672"/>
            <a:ext cx="2133600" cy="365760"/>
          </a:xfrm>
          <a:prstGeom prst="rect">
            <a:avLst/>
          </a:prstGeom>
          <a:noFill/>
          <a:ln/>
        </p:spPr>
        <p:txBody>
          <a:bodyPr wrap="square" lIns="0" tIns="0" rIns="0" bIns="0" rtlCol="0" anchor="ctr"/>
          <a:lstStyle/>
          <a:p>
            <a:pPr algn="ctr" indent="0" marL="0">
              <a:buNone/>
            </a:pPr>
            <a:r>
              <a:rPr lang="en-US" sz="1300" dirty="0">
                <a:solidFill>
                  <a:schemeClr val="tx1"/>
                </a:solidFill>
              </a:rPr>
              <a:t>FLORES (1,012)</a:t>
            </a:r>
            <a:endParaRPr lang="en-US" sz="1300" dirty="0"/>
          </a:p>
        </p:txBody>
      </p:sp>
      <p:sp>
        <p:nvSpPr>
          <p:cNvPr id="31" name="Column Hikayat (143) Base NLLB-200"/>
          <p:cNvSpPr/>
          <p:nvPr/>
        </p:nvSpPr>
        <p:spPr>
          <a:xfrm>
            <a:off x="5791200" y="4222817"/>
            <a:ext cx="640080" cy="1080703"/>
          </a:xfrm>
          <a:prstGeom prst="rect">
            <a:avLst/>
          </a:prstGeom>
          <a:solidFill>
            <a:srgbClr val="9DB4BB"/>
          </a:solidFill>
          <a:ln w="12700">
            <a:solidFill>
              <a:srgbClr val="9DB4BB"/>
            </a:solidFill>
            <a:prstDash val="solid"/>
          </a:ln>
        </p:spPr>
      </p:sp>
      <p:sp>
        <p:nvSpPr>
          <p:cNvPr id="32" name="Text 30"/>
          <p:cNvSpPr txBox="1"/>
          <p:nvPr/>
        </p:nvSpPr>
        <p:spPr>
          <a:xfrm>
            <a:off x="5608320" y="3911921"/>
            <a:ext cx="1005840" cy="274320"/>
          </a:xfrm>
          <a:prstGeom prst="rect">
            <a:avLst/>
          </a:prstGeom>
          <a:noFill/>
          <a:ln/>
        </p:spPr>
        <p:txBody>
          <a:bodyPr wrap="square" lIns="0" tIns="0" rIns="0" bIns="0" rtlCol="0" anchor="ctr"/>
          <a:lstStyle/>
          <a:p>
            <a:pPr algn="ctr" indent="0" marL="0">
              <a:buNone/>
            </a:pPr>
            <a:r>
              <a:rPr lang="en-US" sz="1300" b="1" dirty="0">
                <a:solidFill>
                  <a:schemeClr val="tx1"/>
                </a:solidFill>
              </a:rPr>
              <a:t>24.0</a:t>
            </a:r>
            <a:endParaRPr lang="en-US" sz="1300" dirty="0"/>
          </a:p>
        </p:txBody>
      </p:sp>
      <p:sp>
        <p:nvSpPr>
          <p:cNvPr id="33" name="Column Hikayat (143) Our fine-tuned model"/>
          <p:cNvSpPr/>
          <p:nvPr/>
        </p:nvSpPr>
        <p:spPr>
          <a:xfrm>
            <a:off x="6431280" y="2558047"/>
            <a:ext cx="640080" cy="2745473"/>
          </a:xfrm>
          <a:prstGeom prst="rect">
            <a:avLst/>
          </a:prstGeom>
          <a:solidFill>
            <a:srgbClr val="0D9488"/>
          </a:solidFill>
          <a:ln w="12700">
            <a:solidFill>
              <a:srgbClr val="0D9488"/>
            </a:solidFill>
            <a:prstDash val="solid"/>
          </a:ln>
        </p:spPr>
      </p:sp>
      <p:sp>
        <p:nvSpPr>
          <p:cNvPr id="34" name="Text 32"/>
          <p:cNvSpPr txBox="1"/>
          <p:nvPr/>
        </p:nvSpPr>
        <p:spPr>
          <a:xfrm>
            <a:off x="6248400" y="2247151"/>
            <a:ext cx="1005840" cy="274320"/>
          </a:xfrm>
          <a:prstGeom prst="rect">
            <a:avLst/>
          </a:prstGeom>
          <a:noFill/>
          <a:ln/>
        </p:spPr>
        <p:txBody>
          <a:bodyPr wrap="square" lIns="0" tIns="0" rIns="0" bIns="0" rtlCol="0" anchor="ctr"/>
          <a:lstStyle/>
          <a:p>
            <a:pPr algn="ctr" indent="0" marL="0">
              <a:buNone/>
            </a:pPr>
            <a:r>
              <a:rPr lang="en-US" sz="1300" b="1" dirty="0">
                <a:solidFill>
                  <a:schemeClr val="tx1"/>
                </a:solidFill>
              </a:rPr>
              <a:t>60.9</a:t>
            </a:r>
            <a:endParaRPr lang="en-US" sz="1300" dirty="0"/>
          </a:p>
        </p:txBody>
      </p:sp>
      <p:sp>
        <p:nvSpPr>
          <p:cNvPr id="35" name="Text 33"/>
          <p:cNvSpPr txBox="1"/>
          <p:nvPr/>
        </p:nvSpPr>
        <p:spPr>
          <a:xfrm>
            <a:off x="5364480" y="5376672"/>
            <a:ext cx="2133600" cy="365760"/>
          </a:xfrm>
          <a:prstGeom prst="rect">
            <a:avLst/>
          </a:prstGeom>
          <a:noFill/>
          <a:ln/>
        </p:spPr>
        <p:txBody>
          <a:bodyPr wrap="square" lIns="0" tIns="0" rIns="0" bIns="0" rtlCol="0" anchor="ctr"/>
          <a:lstStyle/>
          <a:p>
            <a:pPr algn="ctr" indent="0" marL="0">
              <a:buNone/>
            </a:pPr>
            <a:r>
              <a:rPr lang="en-US" sz="1300" dirty="0">
                <a:solidFill>
                  <a:schemeClr val="tx1"/>
                </a:solidFill>
              </a:rPr>
              <a:t>Hikayat (143)</a:t>
            </a:r>
            <a:endParaRPr lang="en-US" sz="1300" dirty="0"/>
          </a:p>
        </p:txBody>
      </p:sp>
      <p:sp>
        <p:nvSpPr>
          <p:cNvPr id="36" name="Legend swatch"/>
          <p:cNvSpPr/>
          <p:nvPr/>
        </p:nvSpPr>
        <p:spPr>
          <a:xfrm>
            <a:off x="1463040" y="5916168"/>
            <a:ext cx="201168" cy="201168"/>
          </a:xfrm>
          <a:prstGeom prst="rect">
            <a:avLst/>
          </a:prstGeom>
          <a:solidFill>
            <a:srgbClr val="9DB4BB"/>
          </a:solidFill>
          <a:ln w="12700">
            <a:solidFill>
              <a:srgbClr val="9DB4BB"/>
            </a:solidFill>
            <a:prstDash val="solid"/>
          </a:ln>
        </p:spPr>
      </p:sp>
      <p:sp>
        <p:nvSpPr>
          <p:cNvPr id="37" name="Text 35"/>
          <p:cNvSpPr txBox="1"/>
          <p:nvPr/>
        </p:nvSpPr>
        <p:spPr>
          <a:xfrm>
            <a:off x="1755648" y="5852160"/>
            <a:ext cx="2468880" cy="329184"/>
          </a:xfrm>
          <a:prstGeom prst="rect">
            <a:avLst/>
          </a:prstGeom>
          <a:noFill/>
          <a:ln/>
        </p:spPr>
        <p:txBody>
          <a:bodyPr wrap="square" lIns="0" tIns="0" rIns="0" bIns="0" rtlCol="0" anchor="ctr"/>
          <a:lstStyle/>
          <a:p>
            <a:pPr indent="0" marL="0">
              <a:buNone/>
            </a:pPr>
            <a:r>
              <a:rPr lang="en-US" sz="1300" dirty="0">
                <a:solidFill>
                  <a:schemeClr val="tx1"/>
                </a:solidFill>
              </a:rPr>
              <a:t>Base NLLB-200</a:t>
            </a:r>
            <a:endParaRPr lang="en-US" sz="1300" dirty="0"/>
          </a:p>
        </p:txBody>
      </p:sp>
      <p:sp>
        <p:nvSpPr>
          <p:cNvPr id="38" name="Legend swatch"/>
          <p:cNvSpPr/>
          <p:nvPr/>
        </p:nvSpPr>
        <p:spPr>
          <a:xfrm>
            <a:off x="4297680" y="5916168"/>
            <a:ext cx="201168" cy="201168"/>
          </a:xfrm>
          <a:prstGeom prst="rect">
            <a:avLst/>
          </a:prstGeom>
          <a:solidFill>
            <a:srgbClr val="0D9488"/>
          </a:solidFill>
          <a:ln w="12700">
            <a:solidFill>
              <a:srgbClr val="0D9488"/>
            </a:solidFill>
            <a:prstDash val="solid"/>
          </a:ln>
        </p:spPr>
      </p:sp>
      <p:sp>
        <p:nvSpPr>
          <p:cNvPr id="39" name="Text 37"/>
          <p:cNvSpPr txBox="1"/>
          <p:nvPr/>
        </p:nvSpPr>
        <p:spPr>
          <a:xfrm>
            <a:off x="4590288" y="5852160"/>
            <a:ext cx="2468880" cy="329184"/>
          </a:xfrm>
          <a:prstGeom prst="rect">
            <a:avLst/>
          </a:prstGeom>
          <a:noFill/>
          <a:ln/>
        </p:spPr>
        <p:txBody>
          <a:bodyPr wrap="square" lIns="0" tIns="0" rIns="0" bIns="0" rtlCol="0" anchor="ctr"/>
          <a:lstStyle/>
          <a:p>
            <a:pPr indent="0" marL="0">
              <a:buNone/>
            </a:pPr>
            <a:r>
              <a:rPr lang="en-US" sz="1300" dirty="0">
                <a:solidFill>
                  <a:schemeClr val="tx1"/>
                </a:solidFill>
              </a:rPr>
              <a:t>Our fine-tuned model</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772400" y="1554480"/>
          <a:ext cx="3867912" cy="914400"/>
        </p:xfrm>
        <a:graphic>
          <a:graphicData uri="http://schemas.openxmlformats.org/drawingml/2006/table">
            <a:tbl>
              <a:tblPr/>
              <a:tblGrid>
                <a:gridCol w="914400"/>
                <a:gridCol w="960120"/>
                <a:gridCol w="868680"/>
                <a:gridCol w="1124712"/>
              </a:tblGrid>
              <a:tr h="457200">
                <a:tc>
                  <a:txBody>
                    <a:bodyPr/>
                    <a:lstStyle/>
                    <a:p>
                      <a:pPr algn="l" indent="0" marL="0">
                        <a:buNone/>
                      </a:pPr>
                      <a:r>
                        <a:rPr lang="en-US" sz="1100" b="1" dirty="0">
                          <a:solidFill>
                            <a:srgbClr val="FFFFFF"/>
                          </a:solidFill>
                        </a:rPr>
                        <a:t>Test set</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r" indent="0" marL="0">
                        <a:buNone/>
                      </a:pPr>
                      <a:r>
                        <a:rPr lang="en-US" sz="1100" b="1" dirty="0">
                          <a:solidFill>
                            <a:srgbClr val="FFFFFF"/>
                          </a:solidFill>
                        </a:rPr>
                        <a:t>Base BLEU</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r" indent="0" marL="0">
                        <a:buNone/>
                      </a:pPr>
                      <a:r>
                        <a:rPr lang="en-US" sz="1100" b="1" dirty="0">
                          <a:solidFill>
                            <a:srgbClr val="FFFFFF"/>
                          </a:solidFill>
                        </a:rPr>
                        <a:t>Our BLEU</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c>
                  <a:txBody>
                    <a:bodyPr/>
                    <a:lstStyle/>
                    <a:p>
                      <a:pPr algn="r" indent="0" marL="0">
                        <a:buNone/>
                      </a:pPr>
                      <a:r>
                        <a:rPr lang="en-US" sz="1100" b="1" dirty="0">
                          <a:solidFill>
                            <a:srgbClr val="FFFFFF"/>
                          </a:solidFill>
                        </a:rPr>
                        <a:t>chrF++ gain</a:t>
                      </a:r>
                      <a:endParaRPr lang="en-US" sz="11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0D9488"/>
                    </a:solidFill>
                  </a:tcPr>
                </a:tc>
              </a:tr>
              <a:tr h="457200">
                <a:tc>
                  <a:txBody>
                    <a:bodyPr/>
                    <a:lstStyle/>
                    <a:p>
                      <a:pPr indent="0" marL="0">
                        <a:buNone/>
                      </a:pPr>
                      <a:r>
                        <a:rPr lang="en-US" sz="1200" dirty="0">
                          <a:solidFill>
                            <a:srgbClr val="12303A"/>
                          </a:solidFill>
                        </a:rPr>
                        <a:t>NusaX</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303A"/>
                          </a:solidFill>
                        </a:rPr>
                        <a:t>13.5</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2303A"/>
                          </a:solidFill>
                        </a:rPr>
                        <a:t>30.8</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0D9488"/>
                          </a:solidFill>
                        </a:rPr>
                        <a:t>+18.5</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2303A"/>
                          </a:solidFill>
                        </a:rPr>
                        <a:t>FLORES</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303A"/>
                          </a:solidFill>
                        </a:rPr>
                        <a:t>21.3</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2303A"/>
                          </a:solidFill>
                        </a:rPr>
                        <a:t>27.3</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0D9488"/>
                          </a:solidFill>
                        </a:rPr>
                        <a:t>+6.5</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2303A"/>
                          </a:solidFill>
                        </a:rPr>
                        <a:t>Hikayat</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2303A"/>
                          </a:solidFill>
                        </a:rPr>
                        <a:t>2.7</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2303A"/>
                          </a:solidFill>
                        </a:rPr>
                        <a:t>35.9</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0D9488"/>
                          </a:solidFill>
                        </a:rPr>
                        <a:t>+36.9</a:t>
                      </a:r>
                      <a:endParaRPr lang="en-US" sz="1200" dirty="0"/>
                    </a:p>
                  </a:txBody>
                  <a:tcPr marL="91440" marR="91440" marT="36576" marB="36576" anchor="ctr">
                    <a:lnL w="6350" cap="flat" cmpd="sng" algn="ctr">
                      <a:solidFill>
                        <a:srgbClr val="CFE0E0"/>
                      </a:solidFill>
                      <a:prstDash val="solid"/>
                      <a:round/>
                      <a:headEnd type="none" w="med" len="med"/>
                      <a:tailEnd type="none" w="med" len="med"/>
                    </a:lnL>
                    <a:lnR w="6350" cap="flat" cmpd="sng" algn="ctr">
                      <a:solidFill>
                        <a:srgbClr val="CFE0E0"/>
                      </a:solidFill>
                      <a:prstDash val="solid"/>
                      <a:round/>
                      <a:headEnd type="none" w="med" len="med"/>
                      <a:tailEnd type="none" w="med" len="med"/>
                    </a:lnR>
                    <a:lnT w="6350" cap="flat" cmpd="sng" algn="ctr">
                      <a:solidFill>
                        <a:srgbClr val="CFE0E0"/>
                      </a:solidFill>
                      <a:prstDash val="solid"/>
                      <a:round/>
                      <a:headEnd type="none" w="med" len="med"/>
                      <a:tailEnd type="none" w="med" len="med"/>
                    </a:lnT>
                    <a:lnB w="6350" cap="flat" cmpd="sng" algn="ctr">
                      <a:solidFill>
                        <a:srgbClr val="CFE0E0"/>
                      </a:solidFill>
                      <a:prstDash val="solid"/>
                      <a:round/>
                      <a:headEnd type="none" w="med" len="med"/>
                      <a:tailEnd type="none" w="med" len="med"/>
                    </a:lnB>
                    <a:solidFill>
                      <a:srgbClr val="FFFFFF"/>
                    </a:solidFill>
                  </a:tcPr>
                </a:tc>
              </a:tr>
            </a:tbl>
          </a:graphicData>
        </a:graphic>
      </p:graphicFrame>
      <p:sp>
        <p:nvSpPr>
          <p:cNvPr id="41" name="Note card"/>
          <p:cNvSpPr/>
          <p:nvPr/>
        </p:nvSpPr>
        <p:spPr>
          <a:xfrm>
            <a:off x="7772400" y="3657600"/>
            <a:ext cx="3867912" cy="2560320"/>
          </a:xfrm>
          <a:prstGeom prst="roundRect">
            <a:avLst>
              <a:gd name="adj" fmla="val 4286"/>
            </a:avLst>
          </a:prstGeom>
          <a:solidFill>
            <a:schemeClr val="bg2"/>
          </a:solidFill>
          <a:ln w="12700">
            <a:solidFill>
              <a:schemeClr val="bg2"/>
            </a:solidFill>
            <a:prstDash val="solid"/>
          </a:ln>
        </p:spPr>
      </p:sp>
      <p:sp>
        <p:nvSpPr>
          <p:cNvPr id="42" name="Text 39"/>
          <p:cNvSpPr txBox="1"/>
          <p:nvPr/>
        </p:nvSpPr>
        <p:spPr>
          <a:xfrm>
            <a:off x="8001000" y="3794760"/>
            <a:ext cx="3474720" cy="365760"/>
          </a:xfrm>
          <a:prstGeom prst="rect">
            <a:avLst/>
          </a:prstGeom>
          <a:noFill/>
          <a:ln/>
        </p:spPr>
        <p:txBody>
          <a:bodyPr wrap="square" lIns="0" tIns="0" rIns="0" bIns="0" rtlCol="0" anchor="t"/>
          <a:lstStyle/>
          <a:p>
            <a:pPr indent="0" marL="0">
              <a:buNone/>
            </a:pPr>
            <a:r>
              <a:rPr lang="en-US" sz="1600" b="1" dirty="0">
                <a:solidFill>
                  <a:schemeClr val="tx1"/>
                </a:solidFill>
              </a:rPr>
              <a:t>How to read this</a:t>
            </a:r>
            <a:endParaRPr lang="en-US" sz="1600" dirty="0"/>
          </a:p>
        </p:txBody>
      </p:sp>
      <p:sp>
        <p:nvSpPr>
          <p:cNvPr id="43" name="Text 40"/>
          <p:cNvSpPr txBox="1"/>
          <p:nvPr/>
        </p:nvSpPr>
        <p:spPr>
          <a:xfrm>
            <a:off x="8001000" y="4206240"/>
            <a:ext cx="3474720" cy="1965960"/>
          </a:xfrm>
          <a:prstGeom prst="rect">
            <a:avLst/>
          </a:prstGeom>
          <a:noFill/>
          <a:ln/>
        </p:spPr>
        <p:txBody>
          <a:bodyPr wrap="square" lIns="0" tIns="0" rIns="0" bIns="0" rtlCol="0" anchor="t"/>
          <a:lstStyle/>
          <a:p>
            <a:pPr indent="0" marL="0">
              <a:buNone/>
            </a:pPr>
            <a:r>
              <a:rPr lang="en-US" sz="1400" dirty="0">
                <a:solidFill>
                  <a:schemeClr val="accent5"/>
                </a:solidFill>
              </a:rPr>
              <a:t>Test sentences were never trained on and never used to choose the model. The sets measure different text types: everyday reviews, Wikipedia style and old verse. Hikayat is closest to our verse training data; NusaX and FLORES show everyday use.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RESULTS</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Classical approaches versus neural</a:t>
            </a:r>
            <a:endParaRPr lang="en-US" sz="3600" dirty="0"/>
          </a:p>
        </p:txBody>
      </p:sp>
      <p:sp>
        <p:nvSpPr>
          <p:cNvPr id="4" name="Text 2"/>
          <p:cNvSpPr txBox="1"/>
          <p:nvPr/>
        </p:nvSpPr>
        <p:spPr>
          <a:xfrm>
            <a:off x="548640" y="1371600"/>
            <a:ext cx="7223760" cy="365760"/>
          </a:xfrm>
          <a:prstGeom prst="rect">
            <a:avLst/>
          </a:prstGeom>
          <a:noFill/>
          <a:ln/>
        </p:spPr>
        <p:txBody>
          <a:bodyPr wrap="square" lIns="0" tIns="0" rIns="0" bIns="0" rtlCol="0" anchor="ctr"/>
          <a:lstStyle/>
          <a:p>
            <a:pPr indent="0" marL="0">
              <a:buNone/>
            </a:pPr>
            <a:r>
              <a:rPr lang="en-US" sz="1400" b="1" dirty="0">
                <a:solidFill>
                  <a:schemeClr val="tx1"/>
                </a:solidFill>
              </a:rPr>
              <a:t>chrF++ on the 400 NusaX test sentences</a:t>
            </a:r>
            <a:endParaRPr lang="en-US" sz="1400" dirty="0"/>
          </a:p>
        </p:txBody>
      </p:sp>
      <p:sp>
        <p:nvSpPr>
          <p:cNvPr id="5" name="Text 3"/>
          <p:cNvSpPr txBox="1"/>
          <p:nvPr/>
        </p:nvSpPr>
        <p:spPr>
          <a:xfrm>
            <a:off x="548640" y="1995587"/>
            <a:ext cx="2743200" cy="544251"/>
          </a:xfrm>
          <a:prstGeom prst="rect">
            <a:avLst/>
          </a:prstGeom>
          <a:noFill/>
          <a:ln/>
        </p:spPr>
        <p:txBody>
          <a:bodyPr wrap="square" lIns="0" tIns="0" rIns="0" bIns="0" rtlCol="0" anchor="ctr"/>
          <a:lstStyle/>
          <a:p>
            <a:pPr algn="r" indent="0" marL="0">
              <a:buNone/>
            </a:pPr>
            <a:r>
              <a:rPr lang="en-US" sz="1400" dirty="0">
                <a:solidFill>
                  <a:schemeClr val="tx1"/>
                </a:solidFill>
              </a:rPr>
              <a:t>Copy (nothing translated)</a:t>
            </a:r>
            <a:endParaRPr lang="en-US" sz="1400" dirty="0"/>
          </a:p>
        </p:txBody>
      </p:sp>
      <p:sp>
        <p:nvSpPr>
          <p:cNvPr id="6" name="Bar Copy (nothing translated)"/>
          <p:cNvSpPr/>
          <p:nvPr/>
        </p:nvSpPr>
        <p:spPr>
          <a:xfrm>
            <a:off x="3429000" y="1995587"/>
            <a:ext cx="1710631" cy="544251"/>
          </a:xfrm>
          <a:prstGeom prst="rect">
            <a:avLst/>
          </a:prstGeom>
          <a:solidFill>
            <a:srgbClr val="9DB4BB"/>
          </a:solidFill>
          <a:ln w="12700">
            <a:solidFill>
              <a:srgbClr val="9DB4BB"/>
            </a:solidFill>
            <a:prstDash val="solid"/>
          </a:ln>
        </p:spPr>
      </p:sp>
      <p:sp>
        <p:nvSpPr>
          <p:cNvPr id="7" name="Text 5"/>
          <p:cNvSpPr txBox="1"/>
          <p:nvPr/>
        </p:nvSpPr>
        <p:spPr>
          <a:xfrm>
            <a:off x="5231071" y="1995587"/>
            <a:ext cx="777240" cy="544251"/>
          </a:xfrm>
          <a:prstGeom prst="rect">
            <a:avLst/>
          </a:prstGeom>
          <a:noFill/>
          <a:ln/>
        </p:spPr>
        <p:txBody>
          <a:bodyPr wrap="square" lIns="0" tIns="0" rIns="0" bIns="0" rtlCol="0" anchor="ctr"/>
          <a:lstStyle/>
          <a:p>
            <a:pPr indent="0" marL="0">
              <a:buNone/>
            </a:pPr>
            <a:r>
              <a:rPr lang="en-US" sz="1400" b="1" dirty="0">
                <a:solidFill>
                  <a:schemeClr val="tx1"/>
                </a:solidFill>
              </a:rPr>
              <a:t>32.0</a:t>
            </a:r>
            <a:endParaRPr lang="en-US" sz="1400" dirty="0"/>
          </a:p>
        </p:txBody>
      </p:sp>
      <p:sp>
        <p:nvSpPr>
          <p:cNvPr id="8" name="Text 6"/>
          <p:cNvSpPr txBox="1"/>
          <p:nvPr/>
        </p:nvSpPr>
        <p:spPr>
          <a:xfrm>
            <a:off x="548640" y="2873411"/>
            <a:ext cx="2743200" cy="544251"/>
          </a:xfrm>
          <a:prstGeom prst="rect">
            <a:avLst/>
          </a:prstGeom>
          <a:noFill/>
          <a:ln/>
        </p:spPr>
        <p:txBody>
          <a:bodyPr wrap="square" lIns="0" tIns="0" rIns="0" bIns="0" rtlCol="0" anchor="ctr"/>
          <a:lstStyle/>
          <a:p>
            <a:pPr algn="r" indent="0" marL="0">
              <a:buNone/>
            </a:pPr>
            <a:r>
              <a:rPr lang="en-US" sz="1400" dirty="0">
                <a:solidFill>
                  <a:schemeClr val="tx1"/>
                </a:solidFill>
              </a:rPr>
              <a:t>Direct (dictionary)</a:t>
            </a:r>
            <a:endParaRPr lang="en-US" sz="1400" dirty="0"/>
          </a:p>
        </p:txBody>
      </p:sp>
      <p:sp>
        <p:nvSpPr>
          <p:cNvPr id="9" name="Bar Direct (dictionary)"/>
          <p:cNvSpPr/>
          <p:nvPr/>
        </p:nvSpPr>
        <p:spPr>
          <a:xfrm>
            <a:off x="3429000" y="2873411"/>
            <a:ext cx="1897732" cy="544251"/>
          </a:xfrm>
          <a:prstGeom prst="rect">
            <a:avLst/>
          </a:prstGeom>
          <a:solidFill>
            <a:srgbClr val="4F6F7A"/>
          </a:solidFill>
          <a:ln w="12700">
            <a:solidFill>
              <a:srgbClr val="4F6F7A"/>
            </a:solidFill>
            <a:prstDash val="solid"/>
          </a:ln>
        </p:spPr>
      </p:sp>
      <p:sp>
        <p:nvSpPr>
          <p:cNvPr id="10" name="Text 8"/>
          <p:cNvSpPr txBox="1"/>
          <p:nvPr/>
        </p:nvSpPr>
        <p:spPr>
          <a:xfrm>
            <a:off x="5418172" y="2873411"/>
            <a:ext cx="777240" cy="544251"/>
          </a:xfrm>
          <a:prstGeom prst="rect">
            <a:avLst/>
          </a:prstGeom>
          <a:noFill/>
          <a:ln/>
        </p:spPr>
        <p:txBody>
          <a:bodyPr wrap="square" lIns="0" tIns="0" rIns="0" bIns="0" rtlCol="0" anchor="ctr"/>
          <a:lstStyle/>
          <a:p>
            <a:pPr indent="0" marL="0">
              <a:buNone/>
            </a:pPr>
            <a:r>
              <a:rPr lang="en-US" sz="1400" b="1" dirty="0">
                <a:solidFill>
                  <a:schemeClr val="tx1"/>
                </a:solidFill>
              </a:rPr>
              <a:t>35.5</a:t>
            </a:r>
            <a:endParaRPr lang="en-US" sz="1400" dirty="0"/>
          </a:p>
        </p:txBody>
      </p:sp>
      <p:sp>
        <p:nvSpPr>
          <p:cNvPr id="11" name="Text 9"/>
          <p:cNvSpPr txBox="1"/>
          <p:nvPr/>
        </p:nvSpPr>
        <p:spPr>
          <a:xfrm>
            <a:off x="548640" y="3751235"/>
            <a:ext cx="2743200" cy="544251"/>
          </a:xfrm>
          <a:prstGeom prst="rect">
            <a:avLst/>
          </a:prstGeom>
          <a:noFill/>
          <a:ln/>
        </p:spPr>
        <p:txBody>
          <a:bodyPr wrap="square" lIns="0" tIns="0" rIns="0" bIns="0" rtlCol="0" anchor="ctr"/>
          <a:lstStyle/>
          <a:p>
            <a:pPr algn="r" indent="0" marL="0">
              <a:buNone/>
            </a:pPr>
            <a:r>
              <a:rPr lang="en-US" sz="1400" dirty="0">
                <a:solidFill>
                  <a:schemeClr val="tx1"/>
                </a:solidFill>
              </a:rPr>
              <a:t>Transfer (rules)</a:t>
            </a:r>
            <a:endParaRPr lang="en-US" sz="1400" dirty="0"/>
          </a:p>
        </p:txBody>
      </p:sp>
      <p:sp>
        <p:nvSpPr>
          <p:cNvPr id="12" name="Bar Transfer (rules)"/>
          <p:cNvSpPr/>
          <p:nvPr/>
        </p:nvSpPr>
        <p:spPr>
          <a:xfrm>
            <a:off x="3429000" y="3751235"/>
            <a:ext cx="2095523" cy="544251"/>
          </a:xfrm>
          <a:prstGeom prst="rect">
            <a:avLst/>
          </a:prstGeom>
          <a:solidFill>
            <a:srgbClr val="4F6F7A"/>
          </a:solidFill>
          <a:ln w="12700">
            <a:solidFill>
              <a:srgbClr val="4F6F7A"/>
            </a:solidFill>
            <a:prstDash val="solid"/>
          </a:ln>
        </p:spPr>
      </p:sp>
      <p:sp>
        <p:nvSpPr>
          <p:cNvPr id="13" name="Text 11"/>
          <p:cNvSpPr txBox="1"/>
          <p:nvPr/>
        </p:nvSpPr>
        <p:spPr>
          <a:xfrm>
            <a:off x="5615963" y="3751235"/>
            <a:ext cx="777240" cy="544251"/>
          </a:xfrm>
          <a:prstGeom prst="rect">
            <a:avLst/>
          </a:prstGeom>
          <a:noFill/>
          <a:ln/>
        </p:spPr>
        <p:txBody>
          <a:bodyPr wrap="square" lIns="0" tIns="0" rIns="0" bIns="0" rtlCol="0" anchor="ctr"/>
          <a:lstStyle/>
          <a:p>
            <a:pPr indent="0" marL="0">
              <a:buNone/>
            </a:pPr>
            <a:r>
              <a:rPr lang="en-US" sz="1400" b="1" dirty="0">
                <a:solidFill>
                  <a:schemeClr val="tx1"/>
                </a:solidFill>
              </a:rPr>
              <a:t>39.2</a:t>
            </a:r>
            <a:endParaRPr lang="en-US" sz="1400" dirty="0"/>
          </a:p>
        </p:txBody>
      </p:sp>
      <p:sp>
        <p:nvSpPr>
          <p:cNvPr id="14" name="Text 12"/>
          <p:cNvSpPr txBox="1"/>
          <p:nvPr/>
        </p:nvSpPr>
        <p:spPr>
          <a:xfrm>
            <a:off x="548640" y="4629059"/>
            <a:ext cx="2743200" cy="544251"/>
          </a:xfrm>
          <a:prstGeom prst="rect">
            <a:avLst/>
          </a:prstGeom>
          <a:noFill/>
          <a:ln/>
        </p:spPr>
        <p:txBody>
          <a:bodyPr wrap="square" lIns="0" tIns="0" rIns="0" bIns="0" rtlCol="0" anchor="ctr"/>
          <a:lstStyle/>
          <a:p>
            <a:pPr algn="r" indent="0" marL="0">
              <a:buNone/>
            </a:pPr>
            <a:r>
              <a:rPr lang="en-US" sz="1400" dirty="0">
                <a:solidFill>
                  <a:schemeClr val="tx1"/>
                </a:solidFill>
              </a:rPr>
              <a:t>Base NLLB-200</a:t>
            </a:r>
            <a:endParaRPr lang="en-US" sz="1400" dirty="0"/>
          </a:p>
        </p:txBody>
      </p:sp>
      <p:sp>
        <p:nvSpPr>
          <p:cNvPr id="15" name="Bar Base NLLB-200"/>
          <p:cNvSpPr/>
          <p:nvPr/>
        </p:nvSpPr>
        <p:spPr>
          <a:xfrm>
            <a:off x="3429000" y="4629059"/>
            <a:ext cx="2068795" cy="544251"/>
          </a:xfrm>
          <a:prstGeom prst="rect">
            <a:avLst/>
          </a:prstGeom>
          <a:solidFill>
            <a:srgbClr val="9DB4BB"/>
          </a:solidFill>
          <a:ln w="12700">
            <a:solidFill>
              <a:srgbClr val="9DB4BB"/>
            </a:solidFill>
            <a:prstDash val="solid"/>
          </a:ln>
        </p:spPr>
      </p:sp>
      <p:sp>
        <p:nvSpPr>
          <p:cNvPr id="16" name="Text 14"/>
          <p:cNvSpPr txBox="1"/>
          <p:nvPr/>
        </p:nvSpPr>
        <p:spPr>
          <a:xfrm>
            <a:off x="5589235" y="4629059"/>
            <a:ext cx="777240" cy="544251"/>
          </a:xfrm>
          <a:prstGeom prst="rect">
            <a:avLst/>
          </a:prstGeom>
          <a:noFill/>
          <a:ln/>
        </p:spPr>
        <p:txBody>
          <a:bodyPr wrap="square" lIns="0" tIns="0" rIns="0" bIns="0" rtlCol="0" anchor="ctr"/>
          <a:lstStyle/>
          <a:p>
            <a:pPr indent="0" marL="0">
              <a:buNone/>
            </a:pPr>
            <a:r>
              <a:rPr lang="en-US" sz="1400" b="1" dirty="0">
                <a:solidFill>
                  <a:schemeClr val="tx1"/>
                </a:solidFill>
              </a:rPr>
              <a:t>38.7</a:t>
            </a:r>
            <a:endParaRPr lang="en-US" sz="1400" dirty="0"/>
          </a:p>
        </p:txBody>
      </p:sp>
      <p:sp>
        <p:nvSpPr>
          <p:cNvPr id="17" name="Text 15"/>
          <p:cNvSpPr txBox="1"/>
          <p:nvPr/>
        </p:nvSpPr>
        <p:spPr>
          <a:xfrm>
            <a:off x="548640" y="5506883"/>
            <a:ext cx="2743200" cy="544251"/>
          </a:xfrm>
          <a:prstGeom prst="rect">
            <a:avLst/>
          </a:prstGeom>
          <a:noFill/>
          <a:ln/>
        </p:spPr>
        <p:txBody>
          <a:bodyPr wrap="square" lIns="0" tIns="0" rIns="0" bIns="0" rtlCol="0" anchor="ctr"/>
          <a:lstStyle/>
          <a:p>
            <a:pPr algn="r" indent="0" marL="0">
              <a:buNone/>
            </a:pPr>
            <a:r>
              <a:rPr lang="en-US" sz="1400" dirty="0">
                <a:solidFill>
                  <a:schemeClr val="tx1"/>
                </a:solidFill>
              </a:rPr>
              <a:t>Fine-tuned NLLB</a:t>
            </a:r>
            <a:endParaRPr lang="en-US" sz="1400" dirty="0"/>
          </a:p>
        </p:txBody>
      </p:sp>
      <p:sp>
        <p:nvSpPr>
          <p:cNvPr id="18" name="Bar Fine-tuned NLLB"/>
          <p:cNvSpPr/>
          <p:nvPr/>
        </p:nvSpPr>
        <p:spPr>
          <a:xfrm>
            <a:off x="3429000" y="5506883"/>
            <a:ext cx="3052408" cy="544251"/>
          </a:xfrm>
          <a:prstGeom prst="rect">
            <a:avLst/>
          </a:prstGeom>
          <a:solidFill>
            <a:srgbClr val="0D9488"/>
          </a:solidFill>
          <a:ln w="12700">
            <a:solidFill>
              <a:srgbClr val="0D9488"/>
            </a:solidFill>
            <a:prstDash val="solid"/>
          </a:ln>
        </p:spPr>
      </p:sp>
      <p:sp>
        <p:nvSpPr>
          <p:cNvPr id="19" name="Text 17"/>
          <p:cNvSpPr txBox="1"/>
          <p:nvPr/>
        </p:nvSpPr>
        <p:spPr>
          <a:xfrm>
            <a:off x="6572848" y="5506883"/>
            <a:ext cx="777240" cy="544251"/>
          </a:xfrm>
          <a:prstGeom prst="rect">
            <a:avLst/>
          </a:prstGeom>
          <a:noFill/>
          <a:ln/>
        </p:spPr>
        <p:txBody>
          <a:bodyPr wrap="square" lIns="0" tIns="0" rIns="0" bIns="0" rtlCol="0" anchor="ctr"/>
          <a:lstStyle/>
          <a:p>
            <a:pPr indent="0" marL="0">
              <a:buNone/>
            </a:pPr>
            <a:r>
              <a:rPr lang="en-US" sz="1400" b="1" dirty="0">
                <a:solidFill>
                  <a:schemeClr val="tx1"/>
                </a:solidFill>
              </a:rPr>
              <a:t>57.1</a:t>
            </a:r>
            <a:endParaRPr lang="en-US" sz="1400" dirty="0"/>
          </a:p>
        </p:txBody>
      </p:sp>
      <p:sp>
        <p:nvSpPr>
          <p:cNvPr id="20" name="Stat card"/>
          <p:cNvSpPr/>
          <p:nvPr/>
        </p:nvSpPr>
        <p:spPr>
          <a:xfrm>
            <a:off x="8138160" y="1463040"/>
            <a:ext cx="3502152" cy="1417320"/>
          </a:xfrm>
          <a:prstGeom prst="roundRect">
            <a:avLst>
              <a:gd name="adj" fmla="val 7742"/>
            </a:avLst>
          </a:prstGeom>
          <a:solidFill>
            <a:schemeClr val="bg2"/>
          </a:solidFill>
          <a:ln w="12700">
            <a:solidFill>
              <a:schemeClr val="bg2"/>
            </a:solidFill>
            <a:prstDash val="solid"/>
          </a:ln>
        </p:spPr>
      </p:sp>
      <p:sp>
        <p:nvSpPr>
          <p:cNvPr id="21" name="Text 19"/>
          <p:cNvSpPr txBox="1"/>
          <p:nvPr/>
        </p:nvSpPr>
        <p:spPr>
          <a:xfrm>
            <a:off x="8366760" y="1645920"/>
            <a:ext cx="3108960" cy="640080"/>
          </a:xfrm>
          <a:prstGeom prst="rect">
            <a:avLst/>
          </a:prstGeom>
          <a:noFill/>
          <a:ln/>
        </p:spPr>
        <p:txBody>
          <a:bodyPr wrap="square" lIns="0" tIns="0" rIns="0" bIns="0" rtlCol="0" anchor="t"/>
          <a:lstStyle/>
          <a:p>
            <a:pPr indent="0" marL="0">
              <a:buNone/>
            </a:pPr>
            <a:r>
              <a:rPr lang="en-US" sz="3600" b="1" dirty="0">
                <a:solidFill>
                  <a:schemeClr val="accent1"/>
                </a:solidFill>
                <a:latin typeface="Georgia" pitchFamily="34" charset="0"/>
                <a:ea typeface="Georgia" pitchFamily="34" charset="-122"/>
                <a:cs typeface="Georgia" pitchFamily="34" charset="-120"/>
              </a:rPr>
              <a:t>+3.5</a:t>
            </a:r>
            <a:endParaRPr lang="en-US" sz="3600" dirty="0"/>
          </a:p>
        </p:txBody>
      </p:sp>
      <p:sp>
        <p:nvSpPr>
          <p:cNvPr id="22" name="Text 20"/>
          <p:cNvSpPr txBox="1"/>
          <p:nvPr/>
        </p:nvSpPr>
        <p:spPr>
          <a:xfrm>
            <a:off x="8366760" y="2331720"/>
            <a:ext cx="3108960" cy="457200"/>
          </a:xfrm>
          <a:prstGeom prst="rect">
            <a:avLst/>
          </a:prstGeom>
          <a:noFill/>
          <a:ln/>
        </p:spPr>
        <p:txBody>
          <a:bodyPr wrap="square" lIns="0" tIns="0" rIns="0" bIns="0" rtlCol="0" anchor="t"/>
          <a:lstStyle/>
          <a:p>
            <a:pPr indent="0" marL="0">
              <a:buNone/>
            </a:pPr>
            <a:r>
              <a:rPr lang="en-US" sz="1400" dirty="0">
                <a:solidFill>
                  <a:schemeClr val="accent5"/>
                </a:solidFill>
              </a:rPr>
              <a:t>Direct lookup over copying</a:t>
            </a:r>
            <a:endParaRPr lang="en-US" sz="1400" dirty="0"/>
          </a:p>
        </p:txBody>
      </p:sp>
      <p:sp>
        <p:nvSpPr>
          <p:cNvPr id="23" name="Stat card"/>
          <p:cNvSpPr/>
          <p:nvPr/>
        </p:nvSpPr>
        <p:spPr>
          <a:xfrm>
            <a:off x="8138160" y="3063240"/>
            <a:ext cx="3502152" cy="1417320"/>
          </a:xfrm>
          <a:prstGeom prst="roundRect">
            <a:avLst>
              <a:gd name="adj" fmla="val 7742"/>
            </a:avLst>
          </a:prstGeom>
          <a:solidFill>
            <a:schemeClr val="bg2"/>
          </a:solidFill>
          <a:ln w="12700">
            <a:solidFill>
              <a:schemeClr val="bg2"/>
            </a:solidFill>
            <a:prstDash val="solid"/>
          </a:ln>
        </p:spPr>
      </p:sp>
      <p:sp>
        <p:nvSpPr>
          <p:cNvPr id="24" name="Text 22"/>
          <p:cNvSpPr txBox="1"/>
          <p:nvPr/>
        </p:nvSpPr>
        <p:spPr>
          <a:xfrm>
            <a:off x="8366760" y="3246120"/>
            <a:ext cx="3108960" cy="640080"/>
          </a:xfrm>
          <a:prstGeom prst="rect">
            <a:avLst/>
          </a:prstGeom>
          <a:noFill/>
          <a:ln/>
        </p:spPr>
        <p:txBody>
          <a:bodyPr wrap="square" lIns="0" tIns="0" rIns="0" bIns="0" rtlCol="0" anchor="t"/>
          <a:lstStyle/>
          <a:p>
            <a:pPr indent="0" marL="0">
              <a:buNone/>
            </a:pPr>
            <a:r>
              <a:rPr lang="en-US" sz="3600" b="1" dirty="0">
                <a:solidFill>
                  <a:schemeClr val="accent1"/>
                </a:solidFill>
                <a:latin typeface="Georgia" pitchFamily="34" charset="0"/>
                <a:ea typeface="Georgia" pitchFamily="34" charset="-122"/>
                <a:cs typeface="Georgia" pitchFamily="34" charset="-120"/>
              </a:rPr>
              <a:t>+3.7</a:t>
            </a:r>
            <a:endParaRPr lang="en-US" sz="3600" dirty="0"/>
          </a:p>
        </p:txBody>
      </p:sp>
      <p:sp>
        <p:nvSpPr>
          <p:cNvPr id="25" name="Text 23"/>
          <p:cNvSpPr txBox="1"/>
          <p:nvPr/>
        </p:nvSpPr>
        <p:spPr>
          <a:xfrm>
            <a:off x="8366760" y="3931920"/>
            <a:ext cx="3108960" cy="457200"/>
          </a:xfrm>
          <a:prstGeom prst="rect">
            <a:avLst/>
          </a:prstGeom>
          <a:noFill/>
          <a:ln/>
        </p:spPr>
        <p:txBody>
          <a:bodyPr wrap="square" lIns="0" tIns="0" rIns="0" bIns="0" rtlCol="0" anchor="t"/>
          <a:lstStyle/>
          <a:p>
            <a:pPr indent="0" marL="0">
              <a:buNone/>
            </a:pPr>
            <a:r>
              <a:rPr lang="en-US" sz="1400" dirty="0">
                <a:solidFill>
                  <a:schemeClr val="accent5"/>
                </a:solidFill>
              </a:rPr>
              <a:t>Transfer rules over direct</a:t>
            </a:r>
            <a:endParaRPr lang="en-US" sz="1400" dirty="0"/>
          </a:p>
        </p:txBody>
      </p:sp>
      <p:sp>
        <p:nvSpPr>
          <p:cNvPr id="26" name="Stat card"/>
          <p:cNvSpPr/>
          <p:nvPr/>
        </p:nvSpPr>
        <p:spPr>
          <a:xfrm>
            <a:off x="8138160" y="4663440"/>
            <a:ext cx="3502152" cy="1417320"/>
          </a:xfrm>
          <a:prstGeom prst="roundRect">
            <a:avLst>
              <a:gd name="adj" fmla="val 7742"/>
            </a:avLst>
          </a:prstGeom>
          <a:solidFill>
            <a:schemeClr val="bg2"/>
          </a:solidFill>
          <a:ln w="12700">
            <a:solidFill>
              <a:schemeClr val="bg2"/>
            </a:solidFill>
            <a:prstDash val="solid"/>
          </a:ln>
        </p:spPr>
      </p:sp>
      <p:sp>
        <p:nvSpPr>
          <p:cNvPr id="27" name="Text 25"/>
          <p:cNvSpPr txBox="1"/>
          <p:nvPr/>
        </p:nvSpPr>
        <p:spPr>
          <a:xfrm>
            <a:off x="8366760" y="4846320"/>
            <a:ext cx="3108960" cy="640080"/>
          </a:xfrm>
          <a:prstGeom prst="rect">
            <a:avLst/>
          </a:prstGeom>
          <a:noFill/>
          <a:ln/>
        </p:spPr>
        <p:txBody>
          <a:bodyPr wrap="square" lIns="0" tIns="0" rIns="0" bIns="0" rtlCol="0" anchor="t"/>
          <a:lstStyle/>
          <a:p>
            <a:pPr indent="0" marL="0">
              <a:buNone/>
            </a:pPr>
            <a:r>
              <a:rPr lang="en-US" sz="3600" b="1" dirty="0">
                <a:solidFill>
                  <a:schemeClr val="accent1"/>
                </a:solidFill>
                <a:latin typeface="Georgia" pitchFamily="34" charset="0"/>
                <a:ea typeface="Georgia" pitchFamily="34" charset="-122"/>
                <a:cs typeface="Georgia" pitchFamily="34" charset="-120"/>
              </a:rPr>
              <a:t>+17.9</a:t>
            </a:r>
            <a:endParaRPr lang="en-US" sz="3600" dirty="0"/>
          </a:p>
        </p:txBody>
      </p:sp>
      <p:sp>
        <p:nvSpPr>
          <p:cNvPr id="28" name="Text 26"/>
          <p:cNvSpPr txBox="1"/>
          <p:nvPr/>
        </p:nvSpPr>
        <p:spPr>
          <a:xfrm>
            <a:off x="8366760" y="5532120"/>
            <a:ext cx="3108960" cy="457200"/>
          </a:xfrm>
          <a:prstGeom prst="rect">
            <a:avLst/>
          </a:prstGeom>
          <a:noFill/>
          <a:ln/>
        </p:spPr>
        <p:txBody>
          <a:bodyPr wrap="square" lIns="0" tIns="0" rIns="0" bIns="0" rtlCol="0" anchor="t"/>
          <a:lstStyle/>
          <a:p>
            <a:pPr indent="0" marL="0">
              <a:buNone/>
            </a:pPr>
            <a:r>
              <a:rPr lang="en-US" sz="1400" dirty="0">
                <a:solidFill>
                  <a:schemeClr val="accent5"/>
                </a:solidFill>
              </a:rPr>
              <a:t>Fine-tuned neural over transfer</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TECHNIQUES</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Direct and transfer in detail</a:t>
            </a:r>
            <a:endParaRPr lang="en-US" sz="3600" dirty="0"/>
          </a:p>
        </p:txBody>
      </p:sp>
      <p:sp>
        <p:nvSpPr>
          <p:cNvPr id="4" name="Direct card"/>
          <p:cNvSpPr/>
          <p:nvPr/>
        </p:nvSpPr>
        <p:spPr>
          <a:xfrm>
            <a:off x="548640" y="1417320"/>
            <a:ext cx="5440680" cy="2834640"/>
          </a:xfrm>
          <a:prstGeom prst="roundRect">
            <a:avLst>
              <a:gd name="adj" fmla="val 3871"/>
            </a:avLst>
          </a:prstGeom>
          <a:solidFill>
            <a:schemeClr val="bg2"/>
          </a:solidFill>
          <a:ln w="12700">
            <a:solidFill>
              <a:schemeClr val="bg2"/>
            </a:solidFill>
            <a:prstDash val="solid"/>
          </a:ln>
        </p:spPr>
      </p:sp>
      <p:sp>
        <p:nvSpPr>
          <p:cNvPr id="5" name="Text 3"/>
          <p:cNvSpPr txBox="1"/>
          <p:nvPr/>
        </p:nvSpPr>
        <p:spPr>
          <a:xfrm>
            <a:off x="822960" y="1554480"/>
            <a:ext cx="4937760" cy="365760"/>
          </a:xfrm>
          <a:prstGeom prst="rect">
            <a:avLst/>
          </a:prstGeom>
          <a:noFill/>
          <a:ln/>
        </p:spPr>
        <p:txBody>
          <a:bodyPr wrap="square" lIns="0" tIns="0" rIns="0" bIns="0" rtlCol="0" anchor="t"/>
          <a:lstStyle/>
          <a:p>
            <a:pPr indent="0" marL="0">
              <a:buNone/>
            </a:pPr>
            <a:r>
              <a:rPr lang="en-US" sz="1800" b="1" dirty="0">
                <a:solidFill>
                  <a:schemeClr val="accent1"/>
                </a:solidFill>
              </a:rPr>
              <a:t>Direct approach</a:t>
            </a:r>
            <a:endParaRPr lang="en-US" sz="1800" dirty="0"/>
          </a:p>
        </p:txBody>
      </p:sp>
      <p:sp>
        <p:nvSpPr>
          <p:cNvPr id="6" name="Text 4"/>
          <p:cNvSpPr txBox="1"/>
          <p:nvPr/>
        </p:nvSpPr>
        <p:spPr>
          <a:xfrm>
            <a:off x="822960" y="2011680"/>
            <a:ext cx="493776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Look up each word in the 1985 dictionary list</a:t>
            </a:r>
            <a:endParaRPr lang="en-US" sz="1600" dirty="0"/>
          </a:p>
          <a:p>
            <a:pPr marL="342900" indent="-342900">
              <a:spcAft>
                <a:spcPts val="800"/>
              </a:spcAft>
              <a:buSzPct val="100000"/>
              <a:buChar char="•"/>
            </a:pPr>
            <a:r>
              <a:rPr lang="en-US" sz="1600" dirty="0">
                <a:solidFill>
                  <a:schemeClr val="tx1"/>
                </a:solidFill>
              </a:rPr>
              <a:t>Take the first short meaning</a:t>
            </a:r>
            <a:endParaRPr lang="en-US" sz="1600" dirty="0"/>
          </a:p>
          <a:p>
            <a:pPr marL="342900" indent="-342900">
              <a:spcAft>
                <a:spcPts val="800"/>
              </a:spcAft>
              <a:buSzPct val="100000"/>
              <a:buChar char="•"/>
            </a:pPr>
            <a:r>
              <a:rPr lang="en-US" sz="1600" dirty="0">
                <a:solidFill>
                  <a:schemeClr val="tx1"/>
                </a:solidFill>
              </a:rPr>
              <a:t>Keep the Acehnese word order</a:t>
            </a:r>
            <a:endParaRPr lang="en-US" sz="1600" dirty="0"/>
          </a:p>
          <a:p>
            <a:pPr marL="342900" indent="-342900">
              <a:spcAft>
                <a:spcPts val="800"/>
              </a:spcAft>
              <a:buSzPct val="100000"/>
              <a:buChar char="•"/>
            </a:pPr>
            <a:r>
              <a:rPr lang="en-US" sz="1600" dirty="0">
                <a:solidFill>
                  <a:schemeClr val="tx1"/>
                </a:solidFill>
              </a:rPr>
              <a:t>Unknown words stay as they are</a:t>
            </a:r>
            <a:endParaRPr lang="en-US" sz="1600" dirty="0"/>
          </a:p>
        </p:txBody>
      </p:sp>
      <p:sp>
        <p:nvSpPr>
          <p:cNvPr id="7" name="Transfer card"/>
          <p:cNvSpPr/>
          <p:nvPr/>
        </p:nvSpPr>
        <p:spPr>
          <a:xfrm>
            <a:off x="6199632" y="1417320"/>
            <a:ext cx="5440680" cy="2834640"/>
          </a:xfrm>
          <a:prstGeom prst="roundRect">
            <a:avLst>
              <a:gd name="adj" fmla="val 3871"/>
            </a:avLst>
          </a:prstGeom>
          <a:solidFill>
            <a:schemeClr val="bg2"/>
          </a:solidFill>
          <a:ln w="12700">
            <a:solidFill>
              <a:schemeClr val="bg2"/>
            </a:solidFill>
            <a:prstDash val="solid"/>
          </a:ln>
        </p:spPr>
      </p:sp>
      <p:sp>
        <p:nvSpPr>
          <p:cNvPr id="8" name="Text 6"/>
          <p:cNvSpPr txBox="1"/>
          <p:nvPr/>
        </p:nvSpPr>
        <p:spPr>
          <a:xfrm>
            <a:off x="6473952" y="1554480"/>
            <a:ext cx="4937760" cy="365760"/>
          </a:xfrm>
          <a:prstGeom prst="rect">
            <a:avLst/>
          </a:prstGeom>
          <a:noFill/>
          <a:ln/>
        </p:spPr>
        <p:txBody>
          <a:bodyPr wrap="square" lIns="0" tIns="0" rIns="0" bIns="0" rtlCol="0" anchor="t"/>
          <a:lstStyle/>
          <a:p>
            <a:pPr indent="0" marL="0">
              <a:buNone/>
            </a:pPr>
            <a:r>
              <a:rPr lang="en-US" sz="1800" b="1" dirty="0">
                <a:solidFill>
                  <a:schemeClr val="accent1"/>
                </a:solidFill>
              </a:rPr>
              <a:t>Transfer approach</a:t>
            </a:r>
            <a:endParaRPr lang="en-US" sz="1800" dirty="0"/>
          </a:p>
        </p:txBody>
      </p:sp>
      <p:sp>
        <p:nvSpPr>
          <p:cNvPr id="9" name="Text 7"/>
          <p:cNvSpPr txBox="1"/>
          <p:nvPr/>
        </p:nvSpPr>
        <p:spPr>
          <a:xfrm>
            <a:off x="6473952" y="2011680"/>
            <a:ext cx="4937760" cy="21031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Analysis: split prefixes ji-, geu-, neu-, ta- and the suffix -jih</a:t>
            </a:r>
            <a:endParaRPr lang="en-US" sz="1500" dirty="0"/>
          </a:p>
          <a:p>
            <a:pPr marL="342900" indent="-342900">
              <a:spcAft>
                <a:spcPts val="600"/>
              </a:spcAft>
              <a:buSzPct val="100000"/>
              <a:buChar char="•"/>
            </a:pPr>
            <a:r>
              <a:rPr lang="en-US" sz="1500" dirty="0">
                <a:solidFill>
                  <a:schemeClr val="tx1"/>
                </a:solidFill>
              </a:rPr>
              <a:t>Transfer: 15 function words, e.g. hana → tidak, nyang → yang, lon → saya</a:t>
            </a:r>
            <a:endParaRPr lang="en-US" sz="1500" dirty="0"/>
          </a:p>
          <a:p>
            <a:pPr marL="342900" indent="-342900">
              <a:spcAft>
                <a:spcPts val="600"/>
              </a:spcAft>
              <a:buSzPct val="100000"/>
              <a:buChar char="•"/>
            </a:pPr>
            <a:r>
              <a:rPr lang="en-US" sz="1500" dirty="0">
                <a:solidFill>
                  <a:schemeClr val="tx1"/>
                </a:solidFill>
              </a:rPr>
              <a:t>Generation: assemble and capitalise the sentence</a:t>
            </a:r>
            <a:endParaRPr lang="en-US" sz="1500" dirty="0"/>
          </a:p>
          <a:p>
            <a:pPr marL="342900" indent="-342900">
              <a:spcAft>
                <a:spcPts val="600"/>
              </a:spcAft>
              <a:buSzPct val="100000"/>
              <a:buChar char="•"/>
            </a:pPr>
            <a:r>
              <a:rPr lang="en-US" sz="1500" dirty="0">
                <a:solidFill>
                  <a:schemeClr val="tx1"/>
                </a:solidFill>
              </a:rPr>
              <a:t>Each word kept only if NusaX supports it (50%+ of 20+ sentences)</a:t>
            </a:r>
            <a:endParaRPr lang="en-US" sz="1500" dirty="0"/>
          </a:p>
        </p:txBody>
      </p:sp>
      <p:sp>
        <p:nvSpPr>
          <p:cNvPr id="10" name="Example card"/>
          <p:cNvSpPr/>
          <p:nvPr/>
        </p:nvSpPr>
        <p:spPr>
          <a:xfrm>
            <a:off x="548640" y="4480560"/>
            <a:ext cx="11091672" cy="1783080"/>
          </a:xfrm>
          <a:prstGeom prst="roundRect">
            <a:avLst>
              <a:gd name="adj" fmla="val 6154"/>
            </a:avLst>
          </a:prstGeom>
          <a:solidFill>
            <a:schemeClr val="tx2"/>
          </a:solidFill>
          <a:ln w="12700">
            <a:solidFill>
              <a:schemeClr val="tx2"/>
            </a:solidFill>
            <a:prstDash val="solid"/>
          </a:ln>
        </p:spPr>
      </p:sp>
      <p:sp>
        <p:nvSpPr>
          <p:cNvPr id="11" name="Text 9"/>
          <p:cNvSpPr txBox="1"/>
          <p:nvPr/>
        </p:nvSpPr>
        <p:spPr>
          <a:xfrm>
            <a:off x="822960" y="4572000"/>
            <a:ext cx="5486400" cy="320040"/>
          </a:xfrm>
          <a:prstGeom prst="rect">
            <a:avLst/>
          </a:prstGeom>
          <a:noFill/>
          <a:ln/>
        </p:spPr>
        <p:txBody>
          <a:bodyPr wrap="square" lIns="0" tIns="0" rIns="0" bIns="0" rtlCol="0" anchor="t"/>
          <a:lstStyle/>
          <a:p>
            <a:pPr indent="0" marL="0">
              <a:buNone/>
            </a:pPr>
            <a:r>
              <a:rPr lang="en-US" sz="1400" b="1" dirty="0">
                <a:solidFill>
                  <a:schemeClr val="accent2"/>
                </a:solidFill>
              </a:rPr>
              <a:t>Real example from the NusaX test set</a:t>
            </a:r>
            <a:endParaRPr lang="en-US" sz="1400" dirty="0"/>
          </a:p>
        </p:txBody>
      </p:sp>
      <p:sp>
        <p:nvSpPr>
          <p:cNvPr id="12" name="Text 10"/>
          <p:cNvSpPr txBox="1"/>
          <p:nvPr/>
        </p:nvSpPr>
        <p:spPr>
          <a:xfrm>
            <a:off x="822960" y="4937760"/>
            <a:ext cx="1097280" cy="457200"/>
          </a:xfrm>
          <a:prstGeom prst="rect">
            <a:avLst/>
          </a:prstGeom>
          <a:noFill/>
          <a:ln/>
        </p:spPr>
        <p:txBody>
          <a:bodyPr wrap="square" lIns="0" tIns="0" rIns="0" bIns="0" rtlCol="0" anchor="ctr"/>
          <a:lstStyle/>
          <a:p>
            <a:pPr indent="0" marL="0">
              <a:buNone/>
            </a:pPr>
            <a:r>
              <a:rPr lang="en-US" sz="1400" b="1" dirty="0">
                <a:solidFill>
                  <a:schemeClr val="accent6"/>
                </a:solidFill>
              </a:rPr>
              <a:t>Acehnese</a:t>
            </a:r>
            <a:endParaRPr lang="en-US" sz="1400" dirty="0"/>
          </a:p>
        </p:txBody>
      </p:sp>
      <p:sp>
        <p:nvSpPr>
          <p:cNvPr id="13" name="Text 11"/>
          <p:cNvSpPr txBox="1"/>
          <p:nvPr/>
        </p:nvSpPr>
        <p:spPr>
          <a:xfrm>
            <a:off x="1965960" y="4937760"/>
            <a:ext cx="4206240" cy="457200"/>
          </a:xfrm>
          <a:prstGeom prst="rect">
            <a:avLst/>
          </a:prstGeom>
          <a:noFill/>
          <a:ln/>
        </p:spPr>
        <p:txBody>
          <a:bodyPr wrap="square" lIns="0" tIns="0" rIns="0" bIns="0" rtlCol="0" anchor="ctr"/>
          <a:lstStyle/>
          <a:p>
            <a:pPr indent="0" marL="0">
              <a:buNone/>
            </a:pPr>
            <a:r>
              <a:rPr lang="en-US" sz="1500" dirty="0">
                <a:solidFill>
                  <a:schemeClr val="bg1"/>
                </a:solidFill>
              </a:rPr>
              <a:t>Toe ngon hotel lon dom</a:t>
            </a:r>
            <a:endParaRPr lang="en-US" sz="1500" dirty="0"/>
          </a:p>
        </p:txBody>
      </p:sp>
      <p:sp>
        <p:nvSpPr>
          <p:cNvPr id="14" name="Text 12"/>
          <p:cNvSpPr txBox="1"/>
          <p:nvPr/>
        </p:nvSpPr>
        <p:spPr>
          <a:xfrm>
            <a:off x="6309360" y="4937760"/>
            <a:ext cx="1097280" cy="457200"/>
          </a:xfrm>
          <a:prstGeom prst="rect">
            <a:avLst/>
          </a:prstGeom>
          <a:noFill/>
          <a:ln/>
        </p:spPr>
        <p:txBody>
          <a:bodyPr wrap="square" lIns="0" tIns="0" rIns="0" bIns="0" rtlCol="0" anchor="ctr"/>
          <a:lstStyle/>
          <a:p>
            <a:pPr indent="0" marL="0">
              <a:buNone/>
            </a:pPr>
            <a:r>
              <a:rPr lang="en-US" sz="1400" b="1" dirty="0">
                <a:solidFill>
                  <a:schemeClr val="accent6"/>
                </a:solidFill>
              </a:rPr>
              <a:t>Direct</a:t>
            </a:r>
            <a:endParaRPr lang="en-US" sz="1400" dirty="0"/>
          </a:p>
        </p:txBody>
      </p:sp>
      <p:sp>
        <p:nvSpPr>
          <p:cNvPr id="15" name="Text 13"/>
          <p:cNvSpPr txBox="1"/>
          <p:nvPr/>
        </p:nvSpPr>
        <p:spPr>
          <a:xfrm>
            <a:off x="7452360" y="4937760"/>
            <a:ext cx="4206240" cy="457200"/>
          </a:xfrm>
          <a:prstGeom prst="rect">
            <a:avLst/>
          </a:prstGeom>
          <a:noFill/>
          <a:ln/>
        </p:spPr>
        <p:txBody>
          <a:bodyPr wrap="square" lIns="0" tIns="0" rIns="0" bIns="0" rtlCol="0" anchor="ctr"/>
          <a:lstStyle/>
          <a:p>
            <a:pPr indent="0" marL="0">
              <a:buNone/>
            </a:pPr>
            <a:r>
              <a:rPr lang="en-US" sz="1500" dirty="0">
                <a:solidFill>
                  <a:schemeClr val="bg1"/>
                </a:solidFill>
              </a:rPr>
              <a:t>Toe meuteumee hotel padam bermalam</a:t>
            </a:r>
            <a:endParaRPr lang="en-US" sz="1500" dirty="0"/>
          </a:p>
        </p:txBody>
      </p:sp>
      <p:sp>
        <p:nvSpPr>
          <p:cNvPr id="16" name="Text 14"/>
          <p:cNvSpPr txBox="1"/>
          <p:nvPr/>
        </p:nvSpPr>
        <p:spPr>
          <a:xfrm>
            <a:off x="822960" y="5504688"/>
            <a:ext cx="1097280" cy="457200"/>
          </a:xfrm>
          <a:prstGeom prst="rect">
            <a:avLst/>
          </a:prstGeom>
          <a:noFill/>
          <a:ln/>
        </p:spPr>
        <p:txBody>
          <a:bodyPr wrap="square" lIns="0" tIns="0" rIns="0" bIns="0" rtlCol="0" anchor="ctr"/>
          <a:lstStyle/>
          <a:p>
            <a:pPr indent="0" marL="0">
              <a:buNone/>
            </a:pPr>
            <a:r>
              <a:rPr lang="en-US" sz="1400" b="1" dirty="0">
                <a:solidFill>
                  <a:schemeClr val="accent6"/>
                </a:solidFill>
              </a:rPr>
              <a:t>Transfer</a:t>
            </a:r>
            <a:endParaRPr lang="en-US" sz="1400" dirty="0"/>
          </a:p>
        </p:txBody>
      </p:sp>
      <p:sp>
        <p:nvSpPr>
          <p:cNvPr id="17" name="Text 15"/>
          <p:cNvSpPr txBox="1"/>
          <p:nvPr/>
        </p:nvSpPr>
        <p:spPr>
          <a:xfrm>
            <a:off x="1965960" y="5504688"/>
            <a:ext cx="4206240" cy="457200"/>
          </a:xfrm>
          <a:prstGeom prst="rect">
            <a:avLst/>
          </a:prstGeom>
          <a:noFill/>
          <a:ln/>
        </p:spPr>
        <p:txBody>
          <a:bodyPr wrap="square" lIns="0" tIns="0" rIns="0" bIns="0" rtlCol="0" anchor="ctr"/>
          <a:lstStyle/>
          <a:p>
            <a:pPr indent="0" marL="0">
              <a:buNone/>
            </a:pPr>
            <a:r>
              <a:rPr lang="en-US" sz="1500" dirty="0">
                <a:solidFill>
                  <a:schemeClr val="bg1"/>
                </a:solidFill>
              </a:rPr>
              <a:t>Toe dengan hotel saya bermalam</a:t>
            </a:r>
            <a:endParaRPr lang="en-US" sz="1500" dirty="0"/>
          </a:p>
        </p:txBody>
      </p:sp>
      <p:sp>
        <p:nvSpPr>
          <p:cNvPr id="18" name="Text 16"/>
          <p:cNvSpPr txBox="1"/>
          <p:nvPr/>
        </p:nvSpPr>
        <p:spPr>
          <a:xfrm>
            <a:off x="6309360" y="5504688"/>
            <a:ext cx="1097280" cy="457200"/>
          </a:xfrm>
          <a:prstGeom prst="rect">
            <a:avLst/>
          </a:prstGeom>
          <a:noFill/>
          <a:ln/>
        </p:spPr>
        <p:txBody>
          <a:bodyPr wrap="square" lIns="0" tIns="0" rIns="0" bIns="0" rtlCol="0" anchor="ctr"/>
          <a:lstStyle/>
          <a:p>
            <a:pPr indent="0" marL="0">
              <a:buNone/>
            </a:pPr>
            <a:r>
              <a:rPr lang="en-US" sz="1400" b="1" dirty="0">
                <a:solidFill>
                  <a:schemeClr val="accent6"/>
                </a:solidFill>
              </a:rPr>
              <a:t>Reference</a:t>
            </a:r>
            <a:endParaRPr lang="en-US" sz="1400" dirty="0"/>
          </a:p>
        </p:txBody>
      </p:sp>
      <p:sp>
        <p:nvSpPr>
          <p:cNvPr id="19" name="Text 17"/>
          <p:cNvSpPr txBox="1"/>
          <p:nvPr/>
        </p:nvSpPr>
        <p:spPr>
          <a:xfrm>
            <a:off x="7452360" y="5504688"/>
            <a:ext cx="4206240" cy="457200"/>
          </a:xfrm>
          <a:prstGeom prst="rect">
            <a:avLst/>
          </a:prstGeom>
          <a:noFill/>
          <a:ln/>
        </p:spPr>
        <p:txBody>
          <a:bodyPr wrap="square" lIns="0" tIns="0" rIns="0" bIns="0" rtlCol="0" anchor="ctr"/>
          <a:lstStyle/>
          <a:p>
            <a:pPr indent="0" marL="0">
              <a:buNone/>
            </a:pPr>
            <a:r>
              <a:rPr lang="en-US" sz="1500" dirty="0">
                <a:solidFill>
                  <a:schemeClr val="bg1"/>
                </a:solidFill>
              </a:rPr>
              <a:t>Dekat dengan hotel saya menginap</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TECHNIQUES</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Interlingual view: shared space</a:t>
            </a:r>
            <a:endParaRPr lang="en-US" sz="3600" dirty="0"/>
          </a:p>
        </p:txBody>
      </p:sp>
      <p:sp>
        <p:nvSpPr>
          <p:cNvPr id="4" name="Flow box"/>
          <p:cNvSpPr/>
          <p:nvPr/>
        </p:nvSpPr>
        <p:spPr>
          <a:xfrm>
            <a:off x="548640" y="1554480"/>
            <a:ext cx="2011680" cy="2377440"/>
          </a:xfrm>
          <a:prstGeom prst="roundRect">
            <a:avLst>
              <a:gd name="adj" fmla="val 5455"/>
            </a:avLst>
          </a:prstGeom>
          <a:solidFill>
            <a:srgbClr val="4F6F7A"/>
          </a:solidFill>
          <a:ln w="12700">
            <a:solidFill>
              <a:srgbClr val="4F6F7A"/>
            </a:solidFill>
            <a:prstDash val="solid"/>
          </a:ln>
        </p:spPr>
      </p:sp>
      <p:sp>
        <p:nvSpPr>
          <p:cNvPr id="5" name="Text 3"/>
          <p:cNvSpPr txBox="1"/>
          <p:nvPr/>
        </p:nvSpPr>
        <p:spPr>
          <a:xfrm>
            <a:off x="685800" y="1691640"/>
            <a:ext cx="1737360" cy="548640"/>
          </a:xfrm>
          <a:prstGeom prst="rect">
            <a:avLst/>
          </a:prstGeom>
          <a:noFill/>
          <a:ln/>
        </p:spPr>
        <p:txBody>
          <a:bodyPr wrap="square" lIns="0" tIns="0" rIns="0" bIns="0" rtlCol="0" anchor="ctr"/>
          <a:lstStyle/>
          <a:p>
            <a:pPr indent="0" marL="0">
              <a:buNone/>
            </a:pPr>
            <a:r>
              <a:rPr lang="en-US" sz="1600" b="1" dirty="0">
                <a:solidFill>
                  <a:srgbClr val="FFFFFF"/>
                </a:solidFill>
              </a:rPr>
              <a:t>Acehnese text</a:t>
            </a:r>
            <a:endParaRPr lang="en-US" sz="1600" dirty="0"/>
          </a:p>
        </p:txBody>
      </p:sp>
      <p:sp>
        <p:nvSpPr>
          <p:cNvPr id="6" name="Text 4"/>
          <p:cNvSpPr txBox="1"/>
          <p:nvPr/>
        </p:nvSpPr>
        <p:spPr>
          <a:xfrm>
            <a:off x="685800" y="2286000"/>
            <a:ext cx="1737360" cy="1554480"/>
          </a:xfrm>
          <a:prstGeom prst="rect">
            <a:avLst/>
          </a:prstGeom>
          <a:noFill/>
          <a:ln/>
        </p:spPr>
        <p:txBody>
          <a:bodyPr wrap="square" lIns="0" tIns="0" rIns="0" bIns="0" rtlCol="0" anchor="t"/>
          <a:lstStyle/>
          <a:p>
            <a:pPr indent="0" marL="0">
              <a:buNone/>
            </a:pPr>
            <a:r>
              <a:rPr lang="en-US" sz="1400" dirty="0">
                <a:solidFill>
                  <a:srgbClr val="FFFFFF"/>
                </a:solidFill>
              </a:rPr>
              <a:t>ace_Latn tag marks the source language</a:t>
            </a:r>
            <a:endParaRPr lang="en-US" sz="1400" dirty="0"/>
          </a:p>
        </p:txBody>
      </p:sp>
      <p:sp>
        <p:nvSpPr>
          <p:cNvPr id="7" name="Flow arrow"/>
          <p:cNvSpPr/>
          <p:nvPr/>
        </p:nvSpPr>
        <p:spPr>
          <a:xfrm>
            <a:off x="2569464" y="2606040"/>
            <a:ext cx="201168" cy="256032"/>
          </a:xfrm>
          <a:prstGeom prst="rightArrow">
            <a:avLst/>
          </a:prstGeom>
          <a:solidFill>
            <a:schemeClr val="accent1"/>
          </a:solidFill>
          <a:ln w="12700">
            <a:solidFill>
              <a:schemeClr val="accent1"/>
            </a:solidFill>
            <a:prstDash val="solid"/>
          </a:ln>
        </p:spPr>
      </p:sp>
      <p:sp>
        <p:nvSpPr>
          <p:cNvPr id="8" name="Flow box"/>
          <p:cNvSpPr/>
          <p:nvPr/>
        </p:nvSpPr>
        <p:spPr>
          <a:xfrm>
            <a:off x="2788920" y="1554480"/>
            <a:ext cx="2011680" cy="2377440"/>
          </a:xfrm>
          <a:prstGeom prst="roundRect">
            <a:avLst>
              <a:gd name="adj" fmla="val 5455"/>
            </a:avLst>
          </a:prstGeom>
          <a:solidFill>
            <a:srgbClr val="0D9488"/>
          </a:solidFill>
          <a:ln w="12700">
            <a:solidFill>
              <a:srgbClr val="0D9488"/>
            </a:solidFill>
            <a:prstDash val="solid"/>
          </a:ln>
        </p:spPr>
      </p:sp>
      <p:sp>
        <p:nvSpPr>
          <p:cNvPr id="9" name="Text 7"/>
          <p:cNvSpPr txBox="1"/>
          <p:nvPr/>
        </p:nvSpPr>
        <p:spPr>
          <a:xfrm>
            <a:off x="2926080" y="1691640"/>
            <a:ext cx="1737360" cy="548640"/>
          </a:xfrm>
          <a:prstGeom prst="rect">
            <a:avLst/>
          </a:prstGeom>
          <a:noFill/>
          <a:ln/>
        </p:spPr>
        <p:txBody>
          <a:bodyPr wrap="square" lIns="0" tIns="0" rIns="0" bIns="0" rtlCol="0" anchor="ctr"/>
          <a:lstStyle/>
          <a:p>
            <a:pPr indent="0" marL="0">
              <a:buNone/>
            </a:pPr>
            <a:r>
              <a:rPr lang="en-US" sz="1600" b="1" dirty="0">
                <a:solidFill>
                  <a:srgbClr val="FFFFFF"/>
                </a:solidFill>
              </a:rPr>
              <a:t>Encoder</a:t>
            </a:r>
            <a:endParaRPr lang="en-US" sz="1600" dirty="0"/>
          </a:p>
        </p:txBody>
      </p:sp>
      <p:sp>
        <p:nvSpPr>
          <p:cNvPr id="10" name="Text 8"/>
          <p:cNvSpPr txBox="1"/>
          <p:nvPr/>
        </p:nvSpPr>
        <p:spPr>
          <a:xfrm>
            <a:off x="2926080" y="2286000"/>
            <a:ext cx="1737360" cy="1554480"/>
          </a:xfrm>
          <a:prstGeom prst="rect">
            <a:avLst/>
          </a:prstGeom>
          <a:noFill/>
          <a:ln/>
        </p:spPr>
        <p:txBody>
          <a:bodyPr wrap="square" lIns="0" tIns="0" rIns="0" bIns="0" rtlCol="0" anchor="t"/>
          <a:lstStyle/>
          <a:p>
            <a:pPr indent="0" marL="0">
              <a:buNone/>
            </a:pPr>
            <a:r>
              <a:rPr lang="en-US" sz="1400" dirty="0">
                <a:solidFill>
                  <a:srgbClr val="FFFFFF"/>
                </a:solidFill>
              </a:rPr>
              <a:t>Reads sub-word tokens and builds meaning vectors</a:t>
            </a:r>
            <a:endParaRPr lang="en-US" sz="1400" dirty="0"/>
          </a:p>
        </p:txBody>
      </p:sp>
      <p:sp>
        <p:nvSpPr>
          <p:cNvPr id="11" name="Flow arrow"/>
          <p:cNvSpPr/>
          <p:nvPr/>
        </p:nvSpPr>
        <p:spPr>
          <a:xfrm>
            <a:off x="4809744" y="2606040"/>
            <a:ext cx="201168" cy="256032"/>
          </a:xfrm>
          <a:prstGeom prst="rightArrow">
            <a:avLst/>
          </a:prstGeom>
          <a:solidFill>
            <a:schemeClr val="accent1"/>
          </a:solidFill>
          <a:ln w="12700">
            <a:solidFill>
              <a:schemeClr val="accent1"/>
            </a:solidFill>
            <a:prstDash val="solid"/>
          </a:ln>
        </p:spPr>
      </p:sp>
      <p:sp>
        <p:nvSpPr>
          <p:cNvPr id="12" name="Flow box"/>
          <p:cNvSpPr/>
          <p:nvPr/>
        </p:nvSpPr>
        <p:spPr>
          <a:xfrm>
            <a:off x="5029200" y="1554480"/>
            <a:ext cx="2011680" cy="2377440"/>
          </a:xfrm>
          <a:prstGeom prst="roundRect">
            <a:avLst>
              <a:gd name="adj" fmla="val 5455"/>
            </a:avLst>
          </a:prstGeom>
          <a:solidFill>
            <a:srgbClr val="E9A23B"/>
          </a:solidFill>
          <a:ln w="12700">
            <a:solidFill>
              <a:srgbClr val="E9A23B"/>
            </a:solidFill>
            <a:prstDash val="solid"/>
          </a:ln>
        </p:spPr>
      </p:sp>
      <p:sp>
        <p:nvSpPr>
          <p:cNvPr id="13" name="Text 11"/>
          <p:cNvSpPr txBox="1"/>
          <p:nvPr/>
        </p:nvSpPr>
        <p:spPr>
          <a:xfrm>
            <a:off x="5166360" y="1691640"/>
            <a:ext cx="1737360" cy="548640"/>
          </a:xfrm>
          <a:prstGeom prst="rect">
            <a:avLst/>
          </a:prstGeom>
          <a:noFill/>
          <a:ln/>
        </p:spPr>
        <p:txBody>
          <a:bodyPr wrap="square" lIns="0" tIns="0" rIns="0" bIns="0" rtlCol="0" anchor="ctr"/>
          <a:lstStyle/>
          <a:p>
            <a:pPr indent="0" marL="0">
              <a:buNone/>
            </a:pPr>
            <a:r>
              <a:rPr lang="en-US" sz="1600" b="1" dirty="0">
                <a:solidFill>
                  <a:srgbClr val="12303A"/>
                </a:solidFill>
              </a:rPr>
              <a:t>Shared space</a:t>
            </a:r>
            <a:endParaRPr lang="en-US" sz="1600" dirty="0"/>
          </a:p>
        </p:txBody>
      </p:sp>
      <p:sp>
        <p:nvSpPr>
          <p:cNvPr id="14" name="Text 12"/>
          <p:cNvSpPr txBox="1"/>
          <p:nvPr/>
        </p:nvSpPr>
        <p:spPr>
          <a:xfrm>
            <a:off x="5166360" y="2286000"/>
            <a:ext cx="1737360" cy="1554480"/>
          </a:xfrm>
          <a:prstGeom prst="rect">
            <a:avLst/>
          </a:prstGeom>
          <a:noFill/>
          <a:ln/>
        </p:spPr>
        <p:txBody>
          <a:bodyPr wrap="square" lIns="0" tIns="0" rIns="0" bIns="0" rtlCol="0" anchor="t"/>
          <a:lstStyle/>
          <a:p>
            <a:pPr indent="0" marL="0">
              <a:buNone/>
            </a:pPr>
            <a:r>
              <a:rPr lang="en-US" sz="1400" dirty="0">
                <a:solidFill>
                  <a:srgbClr val="12303A"/>
                </a:solidFill>
              </a:rPr>
              <a:t>One multilingual representation for about 200 languages</a:t>
            </a:r>
            <a:endParaRPr lang="en-US" sz="1400" dirty="0"/>
          </a:p>
        </p:txBody>
      </p:sp>
      <p:sp>
        <p:nvSpPr>
          <p:cNvPr id="15" name="Flow arrow"/>
          <p:cNvSpPr/>
          <p:nvPr/>
        </p:nvSpPr>
        <p:spPr>
          <a:xfrm>
            <a:off x="7050024" y="2606040"/>
            <a:ext cx="201168" cy="256032"/>
          </a:xfrm>
          <a:prstGeom prst="rightArrow">
            <a:avLst/>
          </a:prstGeom>
          <a:solidFill>
            <a:schemeClr val="accent1"/>
          </a:solidFill>
          <a:ln w="12700">
            <a:solidFill>
              <a:schemeClr val="accent1"/>
            </a:solidFill>
            <a:prstDash val="solid"/>
          </a:ln>
        </p:spPr>
      </p:sp>
      <p:sp>
        <p:nvSpPr>
          <p:cNvPr id="16" name="Flow box"/>
          <p:cNvSpPr/>
          <p:nvPr/>
        </p:nvSpPr>
        <p:spPr>
          <a:xfrm>
            <a:off x="7269480" y="1554480"/>
            <a:ext cx="2011680" cy="2377440"/>
          </a:xfrm>
          <a:prstGeom prst="roundRect">
            <a:avLst>
              <a:gd name="adj" fmla="val 5455"/>
            </a:avLst>
          </a:prstGeom>
          <a:solidFill>
            <a:srgbClr val="0D9488"/>
          </a:solidFill>
          <a:ln w="12700">
            <a:solidFill>
              <a:srgbClr val="0D9488"/>
            </a:solidFill>
            <a:prstDash val="solid"/>
          </a:ln>
        </p:spPr>
      </p:sp>
      <p:sp>
        <p:nvSpPr>
          <p:cNvPr id="17" name="Text 15"/>
          <p:cNvSpPr txBox="1"/>
          <p:nvPr/>
        </p:nvSpPr>
        <p:spPr>
          <a:xfrm>
            <a:off x="7406640" y="1691640"/>
            <a:ext cx="1737360" cy="548640"/>
          </a:xfrm>
          <a:prstGeom prst="rect">
            <a:avLst/>
          </a:prstGeom>
          <a:noFill/>
          <a:ln/>
        </p:spPr>
        <p:txBody>
          <a:bodyPr wrap="square" lIns="0" tIns="0" rIns="0" bIns="0" rtlCol="0" anchor="ctr"/>
          <a:lstStyle/>
          <a:p>
            <a:pPr indent="0" marL="0">
              <a:buNone/>
            </a:pPr>
            <a:r>
              <a:rPr lang="en-US" sz="1600" b="1" dirty="0">
                <a:solidFill>
                  <a:srgbClr val="FFFFFF"/>
                </a:solidFill>
              </a:rPr>
              <a:t>Decoder</a:t>
            </a:r>
            <a:endParaRPr lang="en-US" sz="1600" dirty="0"/>
          </a:p>
        </p:txBody>
      </p:sp>
      <p:sp>
        <p:nvSpPr>
          <p:cNvPr id="18" name="Text 16"/>
          <p:cNvSpPr txBox="1"/>
          <p:nvPr/>
        </p:nvSpPr>
        <p:spPr>
          <a:xfrm>
            <a:off x="7406640" y="2286000"/>
            <a:ext cx="1737360" cy="1554480"/>
          </a:xfrm>
          <a:prstGeom prst="rect">
            <a:avLst/>
          </a:prstGeom>
          <a:noFill/>
          <a:ln/>
        </p:spPr>
        <p:txBody>
          <a:bodyPr wrap="square" lIns="0" tIns="0" rIns="0" bIns="0" rtlCol="0" anchor="t"/>
          <a:lstStyle/>
          <a:p>
            <a:pPr indent="0" marL="0">
              <a:buNone/>
            </a:pPr>
            <a:r>
              <a:rPr lang="en-US" sz="1400" dirty="0">
                <a:solidFill>
                  <a:srgbClr val="FFFFFF"/>
                </a:solidFill>
              </a:rPr>
              <a:t>Writes tokens step by step; ind_Latn tag selects Indonesian</a:t>
            </a:r>
            <a:endParaRPr lang="en-US" sz="1400" dirty="0"/>
          </a:p>
        </p:txBody>
      </p:sp>
      <p:sp>
        <p:nvSpPr>
          <p:cNvPr id="19" name="Flow arrow"/>
          <p:cNvSpPr/>
          <p:nvPr/>
        </p:nvSpPr>
        <p:spPr>
          <a:xfrm>
            <a:off x="9290304" y="2606040"/>
            <a:ext cx="201168" cy="256032"/>
          </a:xfrm>
          <a:prstGeom prst="rightArrow">
            <a:avLst/>
          </a:prstGeom>
          <a:solidFill>
            <a:schemeClr val="accent1"/>
          </a:solidFill>
          <a:ln w="12700">
            <a:solidFill>
              <a:schemeClr val="accent1"/>
            </a:solidFill>
            <a:prstDash val="solid"/>
          </a:ln>
        </p:spPr>
      </p:sp>
      <p:sp>
        <p:nvSpPr>
          <p:cNvPr id="20" name="Flow box"/>
          <p:cNvSpPr/>
          <p:nvPr/>
        </p:nvSpPr>
        <p:spPr>
          <a:xfrm>
            <a:off x="9509760" y="1554480"/>
            <a:ext cx="2011680" cy="2377440"/>
          </a:xfrm>
          <a:prstGeom prst="roundRect">
            <a:avLst>
              <a:gd name="adj" fmla="val 5455"/>
            </a:avLst>
          </a:prstGeom>
          <a:solidFill>
            <a:srgbClr val="4F6F7A"/>
          </a:solidFill>
          <a:ln w="12700">
            <a:solidFill>
              <a:srgbClr val="4F6F7A"/>
            </a:solidFill>
            <a:prstDash val="solid"/>
          </a:ln>
        </p:spPr>
      </p:sp>
      <p:sp>
        <p:nvSpPr>
          <p:cNvPr id="21" name="Text 19"/>
          <p:cNvSpPr txBox="1"/>
          <p:nvPr/>
        </p:nvSpPr>
        <p:spPr>
          <a:xfrm>
            <a:off x="9646920" y="1691640"/>
            <a:ext cx="1737360" cy="548640"/>
          </a:xfrm>
          <a:prstGeom prst="rect">
            <a:avLst/>
          </a:prstGeom>
          <a:noFill/>
          <a:ln/>
        </p:spPr>
        <p:txBody>
          <a:bodyPr wrap="square" lIns="0" tIns="0" rIns="0" bIns="0" rtlCol="0" anchor="ctr"/>
          <a:lstStyle/>
          <a:p>
            <a:pPr indent="0" marL="0">
              <a:buNone/>
            </a:pPr>
            <a:r>
              <a:rPr lang="en-US" sz="1600" b="1" dirty="0">
                <a:solidFill>
                  <a:srgbClr val="FFFFFF"/>
                </a:solidFill>
              </a:rPr>
              <a:t>Indonesian text</a:t>
            </a:r>
            <a:endParaRPr lang="en-US" sz="1600" dirty="0"/>
          </a:p>
        </p:txBody>
      </p:sp>
      <p:sp>
        <p:nvSpPr>
          <p:cNvPr id="22" name="Text 20"/>
          <p:cNvSpPr txBox="1"/>
          <p:nvPr/>
        </p:nvSpPr>
        <p:spPr>
          <a:xfrm>
            <a:off x="9646920" y="2286000"/>
            <a:ext cx="1737360" cy="1554480"/>
          </a:xfrm>
          <a:prstGeom prst="rect">
            <a:avLst/>
          </a:prstGeom>
          <a:noFill/>
          <a:ln/>
        </p:spPr>
        <p:txBody>
          <a:bodyPr wrap="square" lIns="0" tIns="0" rIns="0" bIns="0" rtlCol="0" anchor="t"/>
          <a:lstStyle/>
          <a:p>
            <a:pPr indent="0" marL="0">
              <a:buNone/>
            </a:pPr>
            <a:r>
              <a:rPr lang="en-US" sz="1400" dirty="0">
                <a:solidFill>
                  <a:srgbClr val="FFFFFF"/>
                </a:solidFill>
              </a:rPr>
              <a:t>Tokens merged back into a sentence</a:t>
            </a:r>
            <a:endParaRPr lang="en-US" sz="1400" dirty="0"/>
          </a:p>
        </p:txBody>
      </p:sp>
      <p:sp>
        <p:nvSpPr>
          <p:cNvPr id="23" name="Icon circle"/>
          <p:cNvSpPr/>
          <p:nvPr/>
        </p:nvSpPr>
        <p:spPr>
          <a:xfrm>
            <a:off x="548640" y="4343400"/>
            <a:ext cx="640080" cy="640080"/>
          </a:xfrm>
          <a:prstGeom prst="ellipse">
            <a:avLst/>
          </a:prstGeom>
          <a:solidFill>
            <a:schemeClr val="accent1"/>
          </a:solidFill>
          <a:ln w="12700">
            <a:solidFill>
              <a:schemeClr val="accent1"/>
            </a:solidFill>
            <a:prstDash val="solid"/>
          </a:ln>
        </p:spPr>
      </p:sp>
      <p:pic>
        <p:nvPicPr>
          <p:cNvPr id="24" name="Image 0" descr="Globe icon">    </p:cNvPr>
          <p:cNvPicPr>
            <a:picLocks noChangeAspect="1"/>
          </p:cNvPicPr>
          <p:nvPr/>
        </p:nvPicPr>
        <p:blipFill>
          <a:blip r:embed="rId1"/>
          <a:stretch>
            <a:fillRect/>
          </a:stretch>
        </p:blipFill>
        <p:spPr>
          <a:xfrm>
            <a:off x="721462" y="4516222"/>
            <a:ext cx="294437" cy="294437"/>
          </a:xfrm>
          <a:prstGeom prst="rect">
            <a:avLst/>
          </a:prstGeom>
        </p:spPr>
      </p:pic>
      <p:sp>
        <p:nvSpPr>
          <p:cNvPr id="25" name="Text 22"/>
          <p:cNvSpPr txBox="1"/>
          <p:nvPr/>
        </p:nvSpPr>
        <p:spPr>
          <a:xfrm>
            <a:off x="1371600" y="4315968"/>
            <a:ext cx="2743200" cy="365760"/>
          </a:xfrm>
          <a:prstGeom prst="rect">
            <a:avLst/>
          </a:prstGeom>
          <a:noFill/>
          <a:ln/>
        </p:spPr>
        <p:txBody>
          <a:bodyPr wrap="square" lIns="0" tIns="0" rIns="0" bIns="0" rtlCol="0" anchor="t"/>
          <a:lstStyle/>
          <a:p>
            <a:pPr indent="0" marL="0">
              <a:buNone/>
            </a:pPr>
            <a:r>
              <a:rPr lang="en-US" sz="1600" b="1" dirty="0">
                <a:solidFill>
                  <a:schemeClr val="tx1"/>
                </a:solidFill>
              </a:rPr>
              <a:t>One shared model</a:t>
            </a:r>
            <a:endParaRPr lang="en-US" sz="1600" dirty="0"/>
          </a:p>
        </p:txBody>
      </p:sp>
      <p:sp>
        <p:nvSpPr>
          <p:cNvPr id="26" name="Text 23"/>
          <p:cNvSpPr txBox="1"/>
          <p:nvPr/>
        </p:nvSpPr>
        <p:spPr>
          <a:xfrm>
            <a:off x="1371600" y="4709160"/>
            <a:ext cx="2743200" cy="1554480"/>
          </a:xfrm>
          <a:prstGeom prst="rect">
            <a:avLst/>
          </a:prstGeom>
          <a:noFill/>
          <a:ln/>
        </p:spPr>
        <p:txBody>
          <a:bodyPr wrap="square" lIns="0" tIns="0" rIns="0" bIns="0" rtlCol="0" anchor="t"/>
          <a:lstStyle/>
          <a:p>
            <a:pPr indent="0" marL="0">
              <a:buNone/>
            </a:pPr>
            <a:r>
              <a:rPr lang="en-US" sz="1400" dirty="0">
                <a:solidFill>
                  <a:schemeClr val="accent5"/>
                </a:solidFill>
              </a:rPr>
              <a:t>Every language passes through the same representation, a learned alternative to a hand-built interlingua.</a:t>
            </a:r>
            <a:endParaRPr lang="en-US" sz="1400" dirty="0"/>
          </a:p>
        </p:txBody>
      </p:sp>
      <p:sp>
        <p:nvSpPr>
          <p:cNvPr id="27" name="Icon circle"/>
          <p:cNvSpPr/>
          <p:nvPr/>
        </p:nvSpPr>
        <p:spPr>
          <a:xfrm>
            <a:off x="4297680" y="4343400"/>
            <a:ext cx="640080" cy="640080"/>
          </a:xfrm>
          <a:prstGeom prst="ellipse">
            <a:avLst/>
          </a:prstGeom>
          <a:solidFill>
            <a:schemeClr val="accent1"/>
          </a:solidFill>
          <a:ln w="12700">
            <a:solidFill>
              <a:schemeClr val="accent1"/>
            </a:solidFill>
            <a:prstDash val="solid"/>
          </a:ln>
        </p:spPr>
      </p:sp>
      <p:pic>
        <p:nvPicPr>
          <p:cNvPr id="28" name="Image 1" descr="Eye icon">    </p:cNvPr>
          <p:cNvPicPr>
            <a:picLocks noChangeAspect="1"/>
          </p:cNvPicPr>
          <p:nvPr/>
        </p:nvPicPr>
        <p:blipFill>
          <a:blip r:embed="rId2"/>
          <a:stretch>
            <a:fillRect/>
          </a:stretch>
        </p:blipFill>
        <p:spPr>
          <a:xfrm>
            <a:off x="4470502" y="4516222"/>
            <a:ext cx="294437" cy="294437"/>
          </a:xfrm>
          <a:prstGeom prst="rect">
            <a:avLst/>
          </a:prstGeom>
        </p:spPr>
      </p:pic>
      <p:sp>
        <p:nvSpPr>
          <p:cNvPr id="29" name="Text 25"/>
          <p:cNvSpPr txBox="1"/>
          <p:nvPr/>
        </p:nvSpPr>
        <p:spPr>
          <a:xfrm>
            <a:off x="5120640" y="4315968"/>
            <a:ext cx="2743200" cy="365760"/>
          </a:xfrm>
          <a:prstGeom prst="rect">
            <a:avLst/>
          </a:prstGeom>
          <a:noFill/>
          <a:ln/>
        </p:spPr>
        <p:txBody>
          <a:bodyPr wrap="square" lIns="0" tIns="0" rIns="0" bIns="0" rtlCol="0" anchor="t"/>
          <a:lstStyle/>
          <a:p>
            <a:pPr indent="0" marL="0">
              <a:buNone/>
            </a:pPr>
            <a:r>
              <a:rPr lang="en-US" sz="1600" b="1" dirty="0">
                <a:solidFill>
                  <a:schemeClr val="tx1"/>
                </a:solidFill>
              </a:rPr>
              <a:t>Visible in the app</a:t>
            </a:r>
            <a:endParaRPr lang="en-US" sz="1600" dirty="0"/>
          </a:p>
        </p:txBody>
      </p:sp>
      <p:sp>
        <p:nvSpPr>
          <p:cNvPr id="30" name="Text 26"/>
          <p:cNvSpPr txBox="1"/>
          <p:nvPr/>
        </p:nvSpPr>
        <p:spPr>
          <a:xfrm>
            <a:off x="5120640" y="4709160"/>
            <a:ext cx="2743200" cy="1554480"/>
          </a:xfrm>
          <a:prstGeom prst="rect">
            <a:avLst/>
          </a:prstGeom>
          <a:noFill/>
          <a:ln/>
        </p:spPr>
        <p:txBody>
          <a:bodyPr wrap="square" lIns="0" tIns="0" rIns="0" bIns="0" rtlCol="0" anchor="t"/>
          <a:lstStyle/>
          <a:p>
            <a:pPr indent="0" marL="0">
              <a:buNone/>
            </a:pPr>
            <a:r>
              <a:rPr lang="en-US" sz="1400" dirty="0">
                <a:solidFill>
                  <a:schemeClr val="accent5"/>
                </a:solidFill>
              </a:rPr>
              <a:t>The 'Cara kerja model' panel shows the real encoder tokens and decoder tokens for each translation.</a:t>
            </a:r>
            <a:endParaRPr lang="en-US" sz="1400" dirty="0"/>
          </a:p>
        </p:txBody>
      </p:sp>
      <p:sp>
        <p:nvSpPr>
          <p:cNvPr id="31" name="Icon circle"/>
          <p:cNvSpPr/>
          <p:nvPr/>
        </p:nvSpPr>
        <p:spPr>
          <a:xfrm>
            <a:off x="8046720" y="4343400"/>
            <a:ext cx="640080" cy="640080"/>
          </a:xfrm>
          <a:prstGeom prst="ellipse">
            <a:avLst/>
          </a:prstGeom>
          <a:solidFill>
            <a:schemeClr val="accent1"/>
          </a:solidFill>
          <a:ln w="12700">
            <a:solidFill>
              <a:schemeClr val="accent1"/>
            </a:solidFill>
            <a:prstDash val="solid"/>
          </a:ln>
        </p:spPr>
      </p:sp>
      <p:pic>
        <p:nvPicPr>
          <p:cNvPr id="32" name="Image 2" descr="ExchangeAlt icon">    </p:cNvPr>
          <p:cNvPicPr>
            <a:picLocks noChangeAspect="1"/>
          </p:cNvPicPr>
          <p:nvPr/>
        </p:nvPicPr>
        <p:blipFill>
          <a:blip r:embed="rId3"/>
          <a:stretch>
            <a:fillRect/>
          </a:stretch>
        </p:blipFill>
        <p:spPr>
          <a:xfrm>
            <a:off x="8219542" y="4516222"/>
            <a:ext cx="294437" cy="294437"/>
          </a:xfrm>
          <a:prstGeom prst="rect">
            <a:avLst/>
          </a:prstGeom>
        </p:spPr>
      </p:pic>
      <p:sp>
        <p:nvSpPr>
          <p:cNvPr id="33" name="Text 28"/>
          <p:cNvSpPr txBox="1"/>
          <p:nvPr/>
        </p:nvSpPr>
        <p:spPr>
          <a:xfrm>
            <a:off x="8869680" y="4315968"/>
            <a:ext cx="2743200" cy="365760"/>
          </a:xfrm>
          <a:prstGeom prst="rect">
            <a:avLst/>
          </a:prstGeom>
          <a:noFill/>
          <a:ln/>
        </p:spPr>
        <p:txBody>
          <a:bodyPr wrap="square" lIns="0" tIns="0" rIns="0" bIns="0" rtlCol="0" anchor="t"/>
          <a:lstStyle/>
          <a:p>
            <a:pPr indent="0" marL="0">
              <a:buNone/>
            </a:pPr>
            <a:r>
              <a:rPr lang="en-US" sz="1600" b="1" dirty="0">
                <a:solidFill>
                  <a:schemeClr val="tx1"/>
                </a:solidFill>
              </a:rPr>
              <a:t>Selected by tags</a:t>
            </a:r>
            <a:endParaRPr lang="en-US" sz="1600" dirty="0"/>
          </a:p>
        </p:txBody>
      </p:sp>
      <p:sp>
        <p:nvSpPr>
          <p:cNvPr id="34" name="Text 29"/>
          <p:cNvSpPr txBox="1"/>
          <p:nvPr/>
        </p:nvSpPr>
        <p:spPr>
          <a:xfrm>
            <a:off x="8869680" y="4709160"/>
            <a:ext cx="2743200" cy="1554480"/>
          </a:xfrm>
          <a:prstGeom prst="rect">
            <a:avLst/>
          </a:prstGeom>
          <a:noFill/>
          <a:ln/>
        </p:spPr>
        <p:txBody>
          <a:bodyPr wrap="square" lIns="0" tIns="0" rIns="0" bIns="0" rtlCol="0" anchor="t"/>
          <a:lstStyle/>
          <a:p>
            <a:pPr indent="0" marL="0">
              <a:buNone/>
            </a:pPr>
            <a:r>
              <a:rPr lang="en-US" sz="1400" dirty="0">
                <a:solidFill>
                  <a:schemeClr val="accent5"/>
                </a:solidFill>
              </a:rPr>
              <a:t>Language tags choose the source and the target, so the same model can translate in either direction.</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TECHNIQUES</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Dictionary-based disambiguation</a:t>
            </a:r>
            <a:endParaRPr lang="en-US" sz="3600" dirty="0"/>
          </a:p>
        </p:txBody>
      </p:sp>
      <p:sp>
        <p:nvSpPr>
          <p:cNvPr id="4" name="Step number"/>
          <p:cNvSpPr/>
          <p:nvPr/>
        </p:nvSpPr>
        <p:spPr>
          <a:xfrm>
            <a:off x="548640" y="146304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325880" y="1371600"/>
            <a:ext cx="5029200" cy="914400"/>
          </a:xfrm>
          <a:prstGeom prst="rect">
            <a:avLst/>
          </a:prstGeom>
          <a:noFill/>
          <a:ln/>
        </p:spPr>
        <p:txBody>
          <a:bodyPr wrap="square" lIns="0" tIns="0" rIns="0" bIns="0" rtlCol="0" anchor="ctr"/>
          <a:lstStyle/>
          <a:p>
            <a:pPr indent="0" marL="0">
              <a:buNone/>
            </a:pPr>
            <a:r>
              <a:rPr lang="en-US" sz="1500" dirty="0">
                <a:solidFill>
                  <a:schemeClr val="tx1"/>
                </a:solidFill>
              </a:rPr>
              <a:t>Find each Acehnese word among 5,260 headwords of the Kamus Aceh-Indonesia (1985)</a:t>
            </a:r>
            <a:endParaRPr lang="en-US" sz="1500" dirty="0"/>
          </a:p>
        </p:txBody>
      </p:sp>
      <p:sp>
        <p:nvSpPr>
          <p:cNvPr id="7" name="Step number"/>
          <p:cNvSpPr/>
          <p:nvPr/>
        </p:nvSpPr>
        <p:spPr>
          <a:xfrm>
            <a:off x="548640" y="2560320"/>
            <a:ext cx="548640" cy="548640"/>
          </a:xfrm>
          <a:prstGeom prst="ellipse">
            <a:avLst/>
          </a:prstGeom>
          <a:solidFill>
            <a:schemeClr val="accent1"/>
          </a:solidFill>
          <a:ln w="12700">
            <a:solidFill>
              <a:schemeClr val="accent1"/>
            </a:solidFill>
            <a:prstDash val="solid"/>
          </a:ln>
        </p:spPr>
      </p:sp>
      <p:sp>
        <p:nvSpPr>
          <p:cNvPr id="8" name="Text 6"/>
          <p:cNvSpPr txBox="1"/>
          <p:nvPr/>
        </p:nvSpPr>
        <p:spPr>
          <a:xfrm>
            <a:off x="548640" y="2560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325880" y="2468880"/>
            <a:ext cx="5029200" cy="914400"/>
          </a:xfrm>
          <a:prstGeom prst="rect">
            <a:avLst/>
          </a:prstGeom>
          <a:noFill/>
          <a:ln/>
        </p:spPr>
        <p:txBody>
          <a:bodyPr wrap="square" lIns="0" tIns="0" rIns="0" bIns="0" rtlCol="0" anchor="ctr"/>
          <a:lstStyle/>
          <a:p>
            <a:pPr indent="0" marL="0">
              <a:buNone/>
            </a:pPr>
            <a:r>
              <a:rPr lang="en-US" sz="1500" dirty="0">
                <a:solidFill>
                  <a:schemeClr val="tx1"/>
                </a:solidFill>
              </a:rPr>
              <a:t>Collect every meaning listed for the word</a:t>
            </a:r>
            <a:endParaRPr lang="en-US" sz="1500" dirty="0"/>
          </a:p>
        </p:txBody>
      </p:sp>
      <p:sp>
        <p:nvSpPr>
          <p:cNvPr id="10" name="Step number"/>
          <p:cNvSpPr/>
          <p:nvPr/>
        </p:nvSpPr>
        <p:spPr>
          <a:xfrm>
            <a:off x="548640" y="365760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548640" y="36576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 10"/>
          <p:cNvSpPr txBox="1"/>
          <p:nvPr/>
        </p:nvSpPr>
        <p:spPr>
          <a:xfrm>
            <a:off x="1325880" y="3566160"/>
            <a:ext cx="5029200" cy="914400"/>
          </a:xfrm>
          <a:prstGeom prst="rect">
            <a:avLst/>
          </a:prstGeom>
          <a:noFill/>
          <a:ln/>
        </p:spPr>
        <p:txBody>
          <a:bodyPr wrap="square" lIns="0" tIns="0" rIns="0" bIns="0" rtlCol="0" anchor="ctr"/>
          <a:lstStyle/>
          <a:p>
            <a:pPr indent="0" marL="0">
              <a:buNone/>
            </a:pPr>
            <a:r>
              <a:rPr lang="en-US" sz="1500" dirty="0">
                <a:solidFill>
                  <a:schemeClr val="tx1"/>
                </a:solidFill>
              </a:rPr>
              <a:t>Score each meaning by words it shares with the model's Indonesian translation, ignoring common function words</a:t>
            </a:r>
            <a:endParaRPr lang="en-US" sz="1500" dirty="0"/>
          </a:p>
        </p:txBody>
      </p:sp>
      <p:sp>
        <p:nvSpPr>
          <p:cNvPr id="13" name="Step number"/>
          <p:cNvSpPr/>
          <p:nvPr/>
        </p:nvSpPr>
        <p:spPr>
          <a:xfrm>
            <a:off x="548640" y="4754880"/>
            <a:ext cx="548640" cy="548640"/>
          </a:xfrm>
          <a:prstGeom prst="ellipse">
            <a:avLst/>
          </a:prstGeom>
          <a:solidFill>
            <a:schemeClr val="accent1"/>
          </a:solidFill>
          <a:ln w="12700">
            <a:solidFill>
              <a:schemeClr val="accent1"/>
            </a:solidFill>
            <a:prstDash val="solid"/>
          </a:ln>
        </p:spPr>
      </p:sp>
      <p:sp>
        <p:nvSpPr>
          <p:cNvPr id="14" name="Text 12"/>
          <p:cNvSpPr txBox="1"/>
          <p:nvPr/>
        </p:nvSpPr>
        <p:spPr>
          <a:xfrm>
            <a:off x="548640" y="47548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5" name="Text 13"/>
          <p:cNvSpPr txBox="1"/>
          <p:nvPr/>
        </p:nvSpPr>
        <p:spPr>
          <a:xfrm>
            <a:off x="1325880" y="4663440"/>
            <a:ext cx="5029200" cy="914400"/>
          </a:xfrm>
          <a:prstGeom prst="rect">
            <a:avLst/>
          </a:prstGeom>
          <a:noFill/>
          <a:ln/>
        </p:spPr>
        <p:txBody>
          <a:bodyPr wrap="square" lIns="0" tIns="0" rIns="0" bIns="0" rtlCol="0" anchor="ctr"/>
          <a:lstStyle/>
          <a:p>
            <a:pPr indent="0" marL="0">
              <a:buNone/>
            </a:pPr>
            <a:r>
              <a:rPr lang="en-US" sz="1500" dirty="0">
                <a:solidFill>
                  <a:schemeClr val="tx1"/>
                </a:solidFill>
              </a:rPr>
              <a:t>Mark the best meaning with a tick when it clearly leads</a:t>
            </a:r>
            <a:endParaRPr lang="en-US" sz="1500" dirty="0"/>
          </a:p>
        </p:txBody>
      </p:sp>
      <p:sp>
        <p:nvSpPr>
          <p:cNvPr id="16" name="Example card"/>
          <p:cNvSpPr/>
          <p:nvPr/>
        </p:nvSpPr>
        <p:spPr>
          <a:xfrm>
            <a:off x="6766560" y="1417320"/>
            <a:ext cx="4873752" cy="3108960"/>
          </a:xfrm>
          <a:prstGeom prst="roundRect">
            <a:avLst>
              <a:gd name="adj" fmla="val 3529"/>
            </a:avLst>
          </a:prstGeom>
          <a:solidFill>
            <a:schemeClr val="tx2"/>
          </a:solidFill>
          <a:ln w="12700">
            <a:solidFill>
              <a:schemeClr val="tx2"/>
            </a:solidFill>
            <a:prstDash val="solid"/>
          </a:ln>
        </p:spPr>
      </p:sp>
      <p:sp>
        <p:nvSpPr>
          <p:cNvPr id="17" name="Text 15"/>
          <p:cNvSpPr txBox="1"/>
          <p:nvPr/>
        </p:nvSpPr>
        <p:spPr>
          <a:xfrm>
            <a:off x="7040880" y="1554480"/>
            <a:ext cx="2743200" cy="320040"/>
          </a:xfrm>
          <a:prstGeom prst="rect">
            <a:avLst/>
          </a:prstGeom>
          <a:noFill/>
          <a:ln/>
        </p:spPr>
        <p:txBody>
          <a:bodyPr wrap="square" lIns="0" tIns="0" rIns="0" bIns="0" rtlCol="0" anchor="t"/>
          <a:lstStyle/>
          <a:p>
            <a:pPr indent="0" marL="0">
              <a:buNone/>
            </a:pPr>
            <a:r>
              <a:rPr lang="en-US" sz="1400" b="1" dirty="0">
                <a:solidFill>
                  <a:schemeClr val="accent2"/>
                </a:solidFill>
              </a:rPr>
              <a:t>Example</a:t>
            </a:r>
            <a:endParaRPr lang="en-US" sz="1400" dirty="0"/>
          </a:p>
        </p:txBody>
      </p:sp>
      <p:sp>
        <p:nvSpPr>
          <p:cNvPr id="18" name="Text 16"/>
          <p:cNvSpPr txBox="1"/>
          <p:nvPr/>
        </p:nvSpPr>
        <p:spPr>
          <a:xfrm>
            <a:off x="7040880" y="1920240"/>
            <a:ext cx="4389120" cy="365760"/>
          </a:xfrm>
          <a:prstGeom prst="rect">
            <a:avLst/>
          </a:prstGeom>
          <a:noFill/>
          <a:ln/>
        </p:spPr>
        <p:txBody>
          <a:bodyPr wrap="square" lIns="0" tIns="0" rIns="0" bIns="0" rtlCol="0" anchor="t"/>
          <a:lstStyle/>
          <a:p>
            <a:pPr indent="0" marL="0">
              <a:buNone/>
            </a:pPr>
            <a:r>
              <a:rPr lang="en-US" sz="1700" b="1" dirty="0">
                <a:solidFill>
                  <a:schemeClr val="bg1"/>
                </a:solidFill>
              </a:rPr>
              <a:t>Gobnyan jak u keude</a:t>
            </a:r>
            <a:endParaRPr lang="en-US" sz="1700" dirty="0"/>
          </a:p>
        </p:txBody>
      </p:sp>
      <p:sp>
        <p:nvSpPr>
          <p:cNvPr id="19" name="Text 17"/>
          <p:cNvSpPr txBox="1"/>
          <p:nvPr/>
        </p:nvSpPr>
        <p:spPr>
          <a:xfrm>
            <a:off x="7040880" y="2331720"/>
            <a:ext cx="4389120" cy="365760"/>
          </a:xfrm>
          <a:prstGeom prst="rect">
            <a:avLst/>
          </a:prstGeom>
          <a:noFill/>
          <a:ln/>
        </p:spPr>
        <p:txBody>
          <a:bodyPr wrap="square" lIns="0" tIns="0" rIns="0" bIns="0" rtlCol="0" anchor="t"/>
          <a:lstStyle/>
          <a:p>
            <a:pPr indent="0" marL="0">
              <a:buNone/>
            </a:pPr>
            <a:r>
              <a:rPr lang="en-US" sz="1400" dirty="0">
                <a:solidFill>
                  <a:schemeClr val="bg2"/>
                </a:solidFill>
              </a:rPr>
              <a:t>Translation: Dia pergi ke toko</a:t>
            </a:r>
            <a:endParaRPr lang="en-US" sz="1400" dirty="0"/>
          </a:p>
        </p:txBody>
      </p:sp>
      <p:sp>
        <p:nvSpPr>
          <p:cNvPr id="20" name="Best meaning"/>
          <p:cNvSpPr/>
          <p:nvPr/>
        </p:nvSpPr>
        <p:spPr>
          <a:xfrm>
            <a:off x="7040880" y="2880360"/>
            <a:ext cx="4343400" cy="685800"/>
          </a:xfrm>
          <a:prstGeom prst="roundRect">
            <a:avLst>
              <a:gd name="adj" fmla="val 13333"/>
            </a:avLst>
          </a:prstGeom>
          <a:solidFill>
            <a:srgbClr val="0D9488"/>
          </a:solidFill>
          <a:ln w="12700">
            <a:solidFill>
              <a:srgbClr val="0D9488"/>
            </a:solidFill>
            <a:prstDash val="solid"/>
          </a:ln>
        </p:spPr>
      </p:sp>
      <p:pic>
        <p:nvPicPr>
          <p:cNvPr id="21" name="Image 0" descr="Tick mark">    </p:cNvPr>
          <p:cNvPicPr>
            <a:picLocks noChangeAspect="1"/>
          </p:cNvPicPr>
          <p:nvPr/>
        </p:nvPicPr>
        <p:blipFill>
          <a:blip r:embed="rId1"/>
          <a:stretch>
            <a:fillRect/>
          </a:stretch>
        </p:blipFill>
        <p:spPr>
          <a:xfrm>
            <a:off x="7223760" y="3090672"/>
            <a:ext cx="274320" cy="274320"/>
          </a:xfrm>
          <a:prstGeom prst="rect">
            <a:avLst/>
          </a:prstGeom>
        </p:spPr>
      </p:pic>
      <p:sp>
        <p:nvSpPr>
          <p:cNvPr id="22" name="Text 19"/>
          <p:cNvSpPr txBox="1"/>
          <p:nvPr/>
        </p:nvSpPr>
        <p:spPr>
          <a:xfrm>
            <a:off x="7635240" y="2880360"/>
            <a:ext cx="3657600" cy="685800"/>
          </a:xfrm>
          <a:prstGeom prst="rect">
            <a:avLst/>
          </a:prstGeom>
          <a:noFill/>
          <a:ln/>
        </p:spPr>
        <p:txBody>
          <a:bodyPr wrap="square" lIns="0" tIns="0" rIns="0" bIns="0" rtlCol="0" anchor="ctr"/>
          <a:lstStyle/>
          <a:p>
            <a:pPr indent="0" marL="0">
              <a:buNone/>
            </a:pPr>
            <a:r>
              <a:rPr lang="en-US" sz="1400" b="1" dirty="0">
                <a:solidFill>
                  <a:schemeClr val="bg1"/>
                </a:solidFill>
              </a:rPr>
              <a:t>keude: kedai, toko …</a:t>
            </a:r>
            <a:endParaRPr lang="en-US" sz="1400" dirty="0"/>
          </a:p>
        </p:txBody>
      </p:sp>
      <p:sp>
        <p:nvSpPr>
          <p:cNvPr id="23" name="Other meaning"/>
          <p:cNvSpPr/>
          <p:nvPr/>
        </p:nvSpPr>
        <p:spPr>
          <a:xfrm>
            <a:off x="7040880" y="3703320"/>
            <a:ext cx="4343400" cy="640080"/>
          </a:xfrm>
          <a:prstGeom prst="roundRect">
            <a:avLst>
              <a:gd name="adj" fmla="val 14286"/>
            </a:avLst>
          </a:prstGeom>
          <a:solidFill>
            <a:schemeClr val="tx1"/>
          </a:solidFill>
          <a:ln w="12700">
            <a:solidFill>
              <a:schemeClr val="tx1"/>
            </a:solidFill>
            <a:prstDash val="solid"/>
          </a:ln>
        </p:spPr>
      </p:sp>
      <p:sp>
        <p:nvSpPr>
          <p:cNvPr id="24" name="Text 21"/>
          <p:cNvSpPr txBox="1"/>
          <p:nvPr/>
        </p:nvSpPr>
        <p:spPr>
          <a:xfrm>
            <a:off x="7178040" y="3703320"/>
            <a:ext cx="4114800" cy="640080"/>
          </a:xfrm>
          <a:prstGeom prst="rect">
            <a:avLst/>
          </a:prstGeom>
          <a:noFill/>
          <a:ln/>
        </p:spPr>
        <p:txBody>
          <a:bodyPr wrap="square" lIns="0" tIns="0" rIns="0" bIns="0" rtlCol="0" anchor="ctr"/>
          <a:lstStyle/>
          <a:p>
            <a:pPr indent="0" marL="0">
              <a:buNone/>
            </a:pPr>
            <a:r>
              <a:rPr lang="en-US" sz="1400" dirty="0">
                <a:solidFill>
                  <a:schemeClr val="bg2"/>
                </a:solidFill>
              </a:rPr>
              <a:t>keude: endapan sisa masakan berkuah</a:t>
            </a:r>
            <a:endParaRPr lang="en-US" sz="1400" dirty="0"/>
          </a:p>
        </p:txBody>
      </p:sp>
      <p:sp>
        <p:nvSpPr>
          <p:cNvPr id="25" name="Stat card"/>
          <p:cNvSpPr/>
          <p:nvPr/>
        </p:nvSpPr>
        <p:spPr>
          <a:xfrm>
            <a:off x="6766560" y="4754880"/>
            <a:ext cx="2359152" cy="1463040"/>
          </a:xfrm>
          <a:prstGeom prst="roundRect">
            <a:avLst>
              <a:gd name="adj" fmla="val 7500"/>
            </a:avLst>
          </a:prstGeom>
          <a:solidFill>
            <a:schemeClr val="bg2"/>
          </a:solidFill>
          <a:ln w="12700">
            <a:solidFill>
              <a:schemeClr val="bg2"/>
            </a:solidFill>
            <a:prstDash val="solid"/>
          </a:ln>
        </p:spPr>
      </p:sp>
      <p:sp>
        <p:nvSpPr>
          <p:cNvPr id="26" name="Text 23"/>
          <p:cNvSpPr txBox="1"/>
          <p:nvPr/>
        </p:nvSpPr>
        <p:spPr>
          <a:xfrm>
            <a:off x="6949440" y="4846320"/>
            <a:ext cx="2011680" cy="640080"/>
          </a:xfrm>
          <a:prstGeom prst="rect">
            <a:avLst/>
          </a:prstGeom>
          <a:noFill/>
          <a:ln/>
        </p:spPr>
        <p:txBody>
          <a:bodyPr wrap="square" lIns="0" tIns="0" rIns="0" bIns="0" rtlCol="0" anchor="t"/>
          <a:lstStyle/>
          <a:p>
            <a:pPr indent="0" marL="0">
              <a:buNone/>
            </a:pPr>
            <a:r>
              <a:rPr lang="en-US" sz="3400" b="1" dirty="0">
                <a:solidFill>
                  <a:schemeClr val="accent1"/>
                </a:solidFill>
                <a:latin typeface="Georgia" pitchFamily="34" charset="0"/>
                <a:ea typeface="Georgia" pitchFamily="34" charset="-122"/>
                <a:cs typeface="Georgia" pitchFamily="34" charset="-120"/>
              </a:rPr>
              <a:t>5,260</a:t>
            </a:r>
            <a:endParaRPr lang="en-US" sz="3400" dirty="0"/>
          </a:p>
        </p:txBody>
      </p:sp>
      <p:sp>
        <p:nvSpPr>
          <p:cNvPr id="27" name="Text 24"/>
          <p:cNvSpPr txBox="1"/>
          <p:nvPr/>
        </p:nvSpPr>
        <p:spPr>
          <a:xfrm>
            <a:off x="6949440" y="5486400"/>
            <a:ext cx="2011680" cy="548640"/>
          </a:xfrm>
          <a:prstGeom prst="rect">
            <a:avLst/>
          </a:prstGeom>
          <a:noFill/>
          <a:ln/>
        </p:spPr>
        <p:txBody>
          <a:bodyPr wrap="square" lIns="0" tIns="0" rIns="0" bIns="0" rtlCol="0" anchor="t"/>
          <a:lstStyle/>
          <a:p>
            <a:pPr indent="0" marL="0">
              <a:buNone/>
            </a:pPr>
            <a:r>
              <a:rPr lang="en-US" sz="1400" dirty="0">
                <a:solidFill>
                  <a:schemeClr val="accent5"/>
                </a:solidFill>
              </a:rPr>
              <a:t>headwords</a:t>
            </a:r>
            <a:endParaRPr lang="en-US" sz="1400" dirty="0"/>
          </a:p>
        </p:txBody>
      </p:sp>
      <p:sp>
        <p:nvSpPr>
          <p:cNvPr id="28" name="Stat card"/>
          <p:cNvSpPr/>
          <p:nvPr/>
        </p:nvSpPr>
        <p:spPr>
          <a:xfrm>
            <a:off x="9281160" y="4754880"/>
            <a:ext cx="2359152" cy="1463040"/>
          </a:xfrm>
          <a:prstGeom prst="roundRect">
            <a:avLst>
              <a:gd name="adj" fmla="val 7500"/>
            </a:avLst>
          </a:prstGeom>
          <a:solidFill>
            <a:schemeClr val="bg2"/>
          </a:solidFill>
          <a:ln w="12700">
            <a:solidFill>
              <a:schemeClr val="bg2"/>
            </a:solidFill>
            <a:prstDash val="solid"/>
          </a:ln>
        </p:spPr>
      </p:sp>
      <p:sp>
        <p:nvSpPr>
          <p:cNvPr id="29" name="Text 26"/>
          <p:cNvSpPr txBox="1"/>
          <p:nvPr/>
        </p:nvSpPr>
        <p:spPr>
          <a:xfrm>
            <a:off x="9464040" y="4846320"/>
            <a:ext cx="2011680" cy="640080"/>
          </a:xfrm>
          <a:prstGeom prst="rect">
            <a:avLst/>
          </a:prstGeom>
          <a:noFill/>
          <a:ln/>
        </p:spPr>
        <p:txBody>
          <a:bodyPr wrap="square" lIns="0" tIns="0" rIns="0" bIns="0" rtlCol="0" anchor="t"/>
          <a:lstStyle/>
          <a:p>
            <a:pPr indent="0" marL="0">
              <a:buNone/>
            </a:pPr>
            <a:r>
              <a:rPr lang="en-US" sz="3400" b="1" dirty="0">
                <a:solidFill>
                  <a:schemeClr val="accent1"/>
                </a:solidFill>
                <a:latin typeface="Georgia" pitchFamily="34" charset="0"/>
                <a:ea typeface="Georgia" pitchFamily="34" charset="-122"/>
                <a:cs typeface="Georgia" pitchFamily="34" charset="-120"/>
              </a:rPr>
              <a:t>266</a:t>
            </a:r>
            <a:endParaRPr lang="en-US" sz="3400" dirty="0"/>
          </a:p>
        </p:txBody>
      </p:sp>
      <p:sp>
        <p:nvSpPr>
          <p:cNvPr id="30" name="Text 27"/>
          <p:cNvSpPr txBox="1"/>
          <p:nvPr/>
        </p:nvSpPr>
        <p:spPr>
          <a:xfrm>
            <a:off x="9464040" y="5486400"/>
            <a:ext cx="2011680" cy="548640"/>
          </a:xfrm>
          <a:prstGeom prst="rect">
            <a:avLst/>
          </a:prstGeom>
          <a:noFill/>
          <a:ln/>
        </p:spPr>
        <p:txBody>
          <a:bodyPr wrap="square" lIns="0" tIns="0" rIns="0" bIns="0" rtlCol="0" anchor="t"/>
          <a:lstStyle/>
          <a:p>
            <a:pPr indent="0" marL="0">
              <a:buNone/>
            </a:pPr>
            <a:r>
              <a:rPr lang="en-US" sz="1400" dirty="0">
                <a:solidFill>
                  <a:schemeClr val="accent5"/>
                </a:solidFill>
              </a:rPr>
              <a:t>with several meanings</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RESULTS</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Translations from the model</a:t>
            </a:r>
            <a:endParaRPr lang="en-US" sz="3600" dirty="0"/>
          </a:p>
        </p:txBody>
      </p:sp>
      <p:sp>
        <p:nvSpPr>
          <p:cNvPr id="4" name="Example card"/>
          <p:cNvSpPr/>
          <p:nvPr/>
        </p:nvSpPr>
        <p:spPr>
          <a:xfrm>
            <a:off x="548640" y="1417320"/>
            <a:ext cx="11091672" cy="1234440"/>
          </a:xfrm>
          <a:prstGeom prst="roundRect">
            <a:avLst>
              <a:gd name="adj" fmla="val 8889"/>
            </a:avLst>
          </a:prstGeom>
          <a:solidFill>
            <a:schemeClr val="bg2"/>
          </a:solidFill>
          <a:ln w="12700">
            <a:solidFill>
              <a:schemeClr val="bg2"/>
            </a:solidFill>
            <a:prstDash val="solid"/>
          </a:ln>
        </p:spPr>
      </p:sp>
      <p:sp>
        <p:nvSpPr>
          <p:cNvPr id="5" name="Text 3"/>
          <p:cNvSpPr txBox="1"/>
          <p:nvPr/>
        </p:nvSpPr>
        <p:spPr>
          <a:xfrm>
            <a:off x="822960" y="1581912"/>
            <a:ext cx="1188720" cy="365760"/>
          </a:xfrm>
          <a:prstGeom prst="rect">
            <a:avLst/>
          </a:prstGeom>
          <a:noFill/>
          <a:ln/>
        </p:spPr>
        <p:txBody>
          <a:bodyPr wrap="square" lIns="0" tIns="0" rIns="0" bIns="0" rtlCol="0" anchor="ctr"/>
          <a:lstStyle/>
          <a:p>
            <a:pPr indent="0" marL="0">
              <a:buNone/>
            </a:pPr>
            <a:r>
              <a:rPr lang="en-US" sz="1200" b="1" dirty="0">
                <a:solidFill>
                  <a:schemeClr val="accent5"/>
                </a:solidFill>
              </a:rPr>
              <a:t>Acehnese</a:t>
            </a:r>
            <a:endParaRPr lang="en-US" sz="1200" dirty="0"/>
          </a:p>
        </p:txBody>
      </p:sp>
      <p:sp>
        <p:nvSpPr>
          <p:cNvPr id="6" name="Text 4"/>
          <p:cNvSpPr txBox="1"/>
          <p:nvPr/>
        </p:nvSpPr>
        <p:spPr>
          <a:xfrm>
            <a:off x="2011680" y="1554480"/>
            <a:ext cx="9418320" cy="411480"/>
          </a:xfrm>
          <a:prstGeom prst="rect">
            <a:avLst/>
          </a:prstGeom>
          <a:noFill/>
          <a:ln/>
        </p:spPr>
        <p:txBody>
          <a:bodyPr wrap="square" lIns="0" tIns="0" rIns="0" bIns="0" rtlCol="0" anchor="ctr"/>
          <a:lstStyle/>
          <a:p>
            <a:pPr indent="0" marL="0">
              <a:buNone/>
            </a:pPr>
            <a:r>
              <a:rPr lang="en-US" sz="1800" b="1" dirty="0">
                <a:solidFill>
                  <a:schemeClr val="tx1"/>
                </a:solidFill>
              </a:rPr>
              <a:t>Lon jak u peukan uroe nyoe.</a:t>
            </a:r>
            <a:endParaRPr lang="en-US" sz="1800" dirty="0"/>
          </a:p>
        </p:txBody>
      </p:sp>
      <p:sp>
        <p:nvSpPr>
          <p:cNvPr id="7" name="Text 5"/>
          <p:cNvSpPr txBox="1"/>
          <p:nvPr/>
        </p:nvSpPr>
        <p:spPr>
          <a:xfrm>
            <a:off x="822960" y="2075688"/>
            <a:ext cx="1188720" cy="365760"/>
          </a:xfrm>
          <a:prstGeom prst="rect">
            <a:avLst/>
          </a:prstGeom>
          <a:noFill/>
          <a:ln/>
        </p:spPr>
        <p:txBody>
          <a:bodyPr wrap="square" lIns="0" tIns="0" rIns="0" bIns="0" rtlCol="0" anchor="ctr"/>
          <a:lstStyle/>
          <a:p>
            <a:pPr indent="0" marL="0">
              <a:buNone/>
            </a:pPr>
            <a:r>
              <a:rPr lang="en-US" sz="1200" b="1" dirty="0">
                <a:solidFill>
                  <a:schemeClr val="accent1"/>
                </a:solidFill>
              </a:rPr>
              <a:t>Our model</a:t>
            </a:r>
            <a:endParaRPr lang="en-US" sz="1200" dirty="0"/>
          </a:p>
        </p:txBody>
      </p:sp>
      <p:sp>
        <p:nvSpPr>
          <p:cNvPr id="8" name="Text 6"/>
          <p:cNvSpPr txBox="1"/>
          <p:nvPr/>
        </p:nvSpPr>
        <p:spPr>
          <a:xfrm>
            <a:off x="2011680" y="2057400"/>
            <a:ext cx="9418320" cy="411480"/>
          </a:xfrm>
          <a:prstGeom prst="rect">
            <a:avLst/>
          </a:prstGeom>
          <a:noFill/>
          <a:ln/>
        </p:spPr>
        <p:txBody>
          <a:bodyPr wrap="square" lIns="0" tIns="0" rIns="0" bIns="0" rtlCol="0" anchor="ctr"/>
          <a:lstStyle/>
          <a:p>
            <a:pPr indent="0" marL="0">
              <a:buNone/>
            </a:pPr>
            <a:r>
              <a:rPr lang="en-US" sz="1800" b="1" dirty="0">
                <a:solidFill>
                  <a:schemeClr val="accent1"/>
                </a:solidFill>
              </a:rPr>
              <a:t>Saya pergi ke pasar hari ini.</a:t>
            </a:r>
            <a:endParaRPr lang="en-US" sz="1800" dirty="0"/>
          </a:p>
        </p:txBody>
      </p:sp>
      <p:sp>
        <p:nvSpPr>
          <p:cNvPr id="9" name="Example card"/>
          <p:cNvSpPr/>
          <p:nvPr/>
        </p:nvSpPr>
        <p:spPr>
          <a:xfrm>
            <a:off x="548640" y="2834640"/>
            <a:ext cx="11091672" cy="1234440"/>
          </a:xfrm>
          <a:prstGeom prst="roundRect">
            <a:avLst>
              <a:gd name="adj" fmla="val 8889"/>
            </a:avLst>
          </a:prstGeom>
          <a:solidFill>
            <a:schemeClr val="bg2"/>
          </a:solidFill>
          <a:ln w="12700">
            <a:solidFill>
              <a:schemeClr val="bg2"/>
            </a:solidFill>
            <a:prstDash val="solid"/>
          </a:ln>
        </p:spPr>
      </p:sp>
      <p:sp>
        <p:nvSpPr>
          <p:cNvPr id="10" name="Text 8"/>
          <p:cNvSpPr txBox="1"/>
          <p:nvPr/>
        </p:nvSpPr>
        <p:spPr>
          <a:xfrm>
            <a:off x="822960" y="2999232"/>
            <a:ext cx="1188720" cy="365760"/>
          </a:xfrm>
          <a:prstGeom prst="rect">
            <a:avLst/>
          </a:prstGeom>
          <a:noFill/>
          <a:ln/>
        </p:spPr>
        <p:txBody>
          <a:bodyPr wrap="square" lIns="0" tIns="0" rIns="0" bIns="0" rtlCol="0" anchor="ctr"/>
          <a:lstStyle/>
          <a:p>
            <a:pPr indent="0" marL="0">
              <a:buNone/>
            </a:pPr>
            <a:r>
              <a:rPr lang="en-US" sz="1200" b="1" dirty="0">
                <a:solidFill>
                  <a:schemeClr val="accent5"/>
                </a:solidFill>
              </a:rPr>
              <a:t>Acehnese</a:t>
            </a:r>
            <a:endParaRPr lang="en-US" sz="1200" dirty="0"/>
          </a:p>
        </p:txBody>
      </p:sp>
      <p:sp>
        <p:nvSpPr>
          <p:cNvPr id="11" name="Text 9"/>
          <p:cNvSpPr txBox="1"/>
          <p:nvPr/>
        </p:nvSpPr>
        <p:spPr>
          <a:xfrm>
            <a:off x="2011680" y="2971800"/>
            <a:ext cx="9418320" cy="411480"/>
          </a:xfrm>
          <a:prstGeom prst="rect">
            <a:avLst/>
          </a:prstGeom>
          <a:noFill/>
          <a:ln/>
        </p:spPr>
        <p:txBody>
          <a:bodyPr wrap="square" lIns="0" tIns="0" rIns="0" bIns="0" rtlCol="0" anchor="ctr"/>
          <a:lstStyle/>
          <a:p>
            <a:pPr indent="0" marL="0">
              <a:buNone/>
            </a:pPr>
            <a:r>
              <a:rPr lang="en-US" sz="1800" b="1" dirty="0">
                <a:solidFill>
                  <a:schemeClr val="tx1"/>
                </a:solidFill>
              </a:rPr>
              <a:t>Teuma troih le Abu Sammah, budak indah paraih rupa</a:t>
            </a:r>
            <a:endParaRPr lang="en-US" sz="1800" dirty="0"/>
          </a:p>
        </p:txBody>
      </p:sp>
      <p:sp>
        <p:nvSpPr>
          <p:cNvPr id="12" name="Text 10"/>
          <p:cNvSpPr txBox="1"/>
          <p:nvPr/>
        </p:nvSpPr>
        <p:spPr>
          <a:xfrm>
            <a:off x="822960" y="3493008"/>
            <a:ext cx="1188720" cy="365760"/>
          </a:xfrm>
          <a:prstGeom prst="rect">
            <a:avLst/>
          </a:prstGeom>
          <a:noFill/>
          <a:ln/>
        </p:spPr>
        <p:txBody>
          <a:bodyPr wrap="square" lIns="0" tIns="0" rIns="0" bIns="0" rtlCol="0" anchor="ctr"/>
          <a:lstStyle/>
          <a:p>
            <a:pPr indent="0" marL="0">
              <a:buNone/>
            </a:pPr>
            <a:r>
              <a:rPr lang="en-US" sz="1200" b="1" dirty="0">
                <a:solidFill>
                  <a:schemeClr val="accent1"/>
                </a:solidFill>
              </a:rPr>
              <a:t>Our model</a:t>
            </a:r>
            <a:endParaRPr lang="en-US" sz="1200" dirty="0"/>
          </a:p>
        </p:txBody>
      </p:sp>
      <p:sp>
        <p:nvSpPr>
          <p:cNvPr id="13" name="Text 11"/>
          <p:cNvSpPr txBox="1"/>
          <p:nvPr/>
        </p:nvSpPr>
        <p:spPr>
          <a:xfrm>
            <a:off x="2011680" y="3474720"/>
            <a:ext cx="9418320" cy="411480"/>
          </a:xfrm>
          <a:prstGeom prst="rect">
            <a:avLst/>
          </a:prstGeom>
          <a:noFill/>
          <a:ln/>
        </p:spPr>
        <p:txBody>
          <a:bodyPr wrap="square" lIns="0" tIns="0" rIns="0" bIns="0" rtlCol="0" anchor="ctr"/>
          <a:lstStyle/>
          <a:p>
            <a:pPr indent="0" marL="0">
              <a:buNone/>
            </a:pPr>
            <a:r>
              <a:rPr lang="en-US" sz="1800" b="1" dirty="0">
                <a:solidFill>
                  <a:schemeClr val="accent1"/>
                </a:solidFill>
              </a:rPr>
              <a:t>Lalu sampailah Abu Sammah, budak indah paras rupa</a:t>
            </a:r>
            <a:endParaRPr lang="en-US" sz="1800" dirty="0"/>
          </a:p>
        </p:txBody>
      </p:sp>
      <p:sp>
        <p:nvSpPr>
          <p:cNvPr id="14" name="Example card"/>
          <p:cNvSpPr/>
          <p:nvPr/>
        </p:nvSpPr>
        <p:spPr>
          <a:xfrm>
            <a:off x="548640" y="4251960"/>
            <a:ext cx="11091672" cy="1783080"/>
          </a:xfrm>
          <a:prstGeom prst="roundRect">
            <a:avLst>
              <a:gd name="adj" fmla="val 6154"/>
            </a:avLst>
          </a:prstGeom>
          <a:solidFill>
            <a:schemeClr val="bg2"/>
          </a:solidFill>
          <a:ln w="12700">
            <a:solidFill>
              <a:schemeClr val="bg2"/>
            </a:solidFill>
            <a:prstDash val="solid"/>
          </a:ln>
        </p:spPr>
      </p:sp>
      <p:sp>
        <p:nvSpPr>
          <p:cNvPr id="15" name="Text 13"/>
          <p:cNvSpPr txBox="1"/>
          <p:nvPr/>
        </p:nvSpPr>
        <p:spPr>
          <a:xfrm>
            <a:off x="822960" y="4416552"/>
            <a:ext cx="1188720" cy="365760"/>
          </a:xfrm>
          <a:prstGeom prst="rect">
            <a:avLst/>
          </a:prstGeom>
          <a:noFill/>
          <a:ln/>
        </p:spPr>
        <p:txBody>
          <a:bodyPr wrap="square" lIns="0" tIns="0" rIns="0" bIns="0" rtlCol="0" anchor="ctr"/>
          <a:lstStyle/>
          <a:p>
            <a:pPr indent="0" marL="0">
              <a:buNone/>
            </a:pPr>
            <a:r>
              <a:rPr lang="en-US" sz="1200" b="1" dirty="0">
                <a:solidFill>
                  <a:schemeClr val="accent5"/>
                </a:solidFill>
              </a:rPr>
              <a:t>Acehnese</a:t>
            </a:r>
            <a:endParaRPr lang="en-US" sz="1200" dirty="0"/>
          </a:p>
        </p:txBody>
      </p:sp>
      <p:sp>
        <p:nvSpPr>
          <p:cNvPr id="16" name="Text 14"/>
          <p:cNvSpPr txBox="1"/>
          <p:nvPr/>
        </p:nvSpPr>
        <p:spPr>
          <a:xfrm>
            <a:off x="2011680" y="4389120"/>
            <a:ext cx="9418320" cy="411480"/>
          </a:xfrm>
          <a:prstGeom prst="rect">
            <a:avLst/>
          </a:prstGeom>
          <a:noFill/>
          <a:ln/>
        </p:spPr>
        <p:txBody>
          <a:bodyPr wrap="square" lIns="0" tIns="0" rIns="0" bIns="0" rtlCol="0" anchor="ctr"/>
          <a:lstStyle/>
          <a:p>
            <a:pPr indent="0" marL="0">
              <a:buNone/>
            </a:pPr>
            <a:r>
              <a:rPr lang="en-US" sz="1800" b="1" dirty="0">
                <a:solidFill>
                  <a:schemeClr val="tx1"/>
                </a:solidFill>
              </a:rPr>
              <a:t>Nyo beutoi, jih teungoh jaga warong.</a:t>
            </a:r>
            <a:endParaRPr lang="en-US" sz="1800" dirty="0"/>
          </a:p>
        </p:txBody>
      </p:sp>
      <p:sp>
        <p:nvSpPr>
          <p:cNvPr id="17" name="Text 15"/>
          <p:cNvSpPr txBox="1"/>
          <p:nvPr/>
        </p:nvSpPr>
        <p:spPr>
          <a:xfrm>
            <a:off x="822960" y="4910328"/>
            <a:ext cx="1188720" cy="365760"/>
          </a:xfrm>
          <a:prstGeom prst="rect">
            <a:avLst/>
          </a:prstGeom>
          <a:noFill/>
          <a:ln/>
        </p:spPr>
        <p:txBody>
          <a:bodyPr wrap="square" lIns="0" tIns="0" rIns="0" bIns="0" rtlCol="0" anchor="ctr"/>
          <a:lstStyle/>
          <a:p>
            <a:pPr indent="0" marL="0">
              <a:buNone/>
            </a:pPr>
            <a:r>
              <a:rPr lang="en-US" sz="1200" b="1" dirty="0">
                <a:solidFill>
                  <a:schemeClr val="accent1"/>
                </a:solidFill>
              </a:rPr>
              <a:t>Our model</a:t>
            </a:r>
            <a:endParaRPr lang="en-US" sz="1200" dirty="0"/>
          </a:p>
        </p:txBody>
      </p:sp>
      <p:sp>
        <p:nvSpPr>
          <p:cNvPr id="18" name="Text 16"/>
          <p:cNvSpPr txBox="1"/>
          <p:nvPr/>
        </p:nvSpPr>
        <p:spPr>
          <a:xfrm>
            <a:off x="2011680" y="4892040"/>
            <a:ext cx="9418320" cy="411480"/>
          </a:xfrm>
          <a:prstGeom prst="rect">
            <a:avLst/>
          </a:prstGeom>
          <a:noFill/>
          <a:ln/>
        </p:spPr>
        <p:txBody>
          <a:bodyPr wrap="square" lIns="0" tIns="0" rIns="0" bIns="0" rtlCol="0" anchor="ctr"/>
          <a:lstStyle/>
          <a:p>
            <a:pPr indent="0" marL="0">
              <a:buNone/>
            </a:pPr>
            <a:r>
              <a:rPr lang="en-US" sz="1800" b="1" dirty="0">
                <a:solidFill>
                  <a:schemeClr val="accent1"/>
                </a:solidFill>
              </a:rPr>
              <a:t>Ini benar, dia sedang menjaga warung.</a:t>
            </a:r>
            <a:endParaRPr lang="en-US" sz="1800" dirty="0"/>
          </a:p>
        </p:txBody>
      </p:sp>
      <p:sp>
        <p:nvSpPr>
          <p:cNvPr id="19" name="Text 17"/>
          <p:cNvSpPr txBox="1"/>
          <p:nvPr/>
        </p:nvSpPr>
        <p:spPr>
          <a:xfrm>
            <a:off x="822960" y="5440680"/>
            <a:ext cx="1188720" cy="365760"/>
          </a:xfrm>
          <a:prstGeom prst="rect">
            <a:avLst/>
          </a:prstGeom>
          <a:noFill/>
          <a:ln/>
        </p:spPr>
        <p:txBody>
          <a:bodyPr wrap="square" lIns="0" tIns="0" rIns="0" bIns="0" rtlCol="0" anchor="ctr"/>
          <a:lstStyle/>
          <a:p>
            <a:pPr indent="0" marL="0">
              <a:buNone/>
            </a:pPr>
            <a:r>
              <a:rPr lang="en-US" sz="1200" b="1" dirty="0">
                <a:solidFill>
                  <a:schemeClr val="accent5"/>
                </a:solidFill>
              </a:rPr>
              <a:t>Base NLLB</a:t>
            </a:r>
            <a:endParaRPr lang="en-US" sz="1200" dirty="0"/>
          </a:p>
        </p:txBody>
      </p:sp>
      <p:sp>
        <p:nvSpPr>
          <p:cNvPr id="20" name="Text 18"/>
          <p:cNvSpPr txBox="1"/>
          <p:nvPr/>
        </p:nvSpPr>
        <p:spPr>
          <a:xfrm>
            <a:off x="2011680" y="5422392"/>
            <a:ext cx="4480560" cy="411480"/>
          </a:xfrm>
          <a:prstGeom prst="rect">
            <a:avLst/>
          </a:prstGeom>
          <a:noFill/>
          <a:ln/>
        </p:spPr>
        <p:txBody>
          <a:bodyPr wrap="square" lIns="0" tIns="0" rIns="0" bIns="0" rtlCol="0" anchor="ctr"/>
          <a:lstStyle/>
          <a:p>
            <a:pPr indent="0" marL="0">
              <a:buNone/>
            </a:pPr>
            <a:r>
              <a:rPr lang="en-US" sz="1400" dirty="0">
                <a:solidFill>
                  <a:schemeClr val="accent5"/>
                </a:solidFill>
              </a:rPr>
              <a:t>Ini benar, karena dia sedang menjaga warganya.</a:t>
            </a:r>
            <a:endParaRPr lang="en-US" sz="1400" dirty="0"/>
          </a:p>
        </p:txBody>
      </p:sp>
      <p:sp>
        <p:nvSpPr>
          <p:cNvPr id="21" name="Text 19"/>
          <p:cNvSpPr txBox="1"/>
          <p:nvPr/>
        </p:nvSpPr>
        <p:spPr>
          <a:xfrm>
            <a:off x="6675120" y="5440680"/>
            <a:ext cx="1097280" cy="365760"/>
          </a:xfrm>
          <a:prstGeom prst="rect">
            <a:avLst/>
          </a:prstGeom>
          <a:noFill/>
          <a:ln/>
        </p:spPr>
        <p:txBody>
          <a:bodyPr wrap="square" lIns="0" tIns="0" rIns="0" bIns="0" rtlCol="0" anchor="ctr"/>
          <a:lstStyle/>
          <a:p>
            <a:pPr indent="0" marL="0">
              <a:buNone/>
            </a:pPr>
            <a:r>
              <a:rPr lang="en-US" sz="1200" b="1" dirty="0">
                <a:solidFill>
                  <a:schemeClr val="accent5"/>
                </a:solidFill>
              </a:rPr>
              <a:t>Reference</a:t>
            </a:r>
            <a:endParaRPr lang="en-US" sz="1200" dirty="0"/>
          </a:p>
        </p:txBody>
      </p:sp>
      <p:sp>
        <p:nvSpPr>
          <p:cNvPr id="22" name="Text 20"/>
          <p:cNvSpPr txBox="1"/>
          <p:nvPr/>
        </p:nvSpPr>
        <p:spPr>
          <a:xfrm>
            <a:off x="7772400" y="5422392"/>
            <a:ext cx="3749040" cy="411480"/>
          </a:xfrm>
          <a:prstGeom prst="rect">
            <a:avLst/>
          </a:prstGeom>
          <a:noFill/>
          <a:ln/>
        </p:spPr>
        <p:txBody>
          <a:bodyPr wrap="square" lIns="0" tIns="0" rIns="0" bIns="0" rtlCol="0" anchor="ctr"/>
          <a:lstStyle/>
          <a:p>
            <a:pPr indent="0" marL="0">
              <a:buNone/>
            </a:pPr>
            <a:r>
              <a:rPr lang="en-US" sz="1400" dirty="0">
                <a:solidFill>
                  <a:schemeClr val="accent5"/>
                </a:solidFill>
              </a:rPr>
              <a:t>Iya benar, dia sedang jaga warung.</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APPLICATION</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translator app</a:t>
            </a:r>
            <a:endParaRPr lang="en-US" sz="3600" dirty="0"/>
          </a:p>
        </p:txBody>
      </p:sp>
      <p:sp>
        <p:nvSpPr>
          <p:cNvPr id="4" name="Feature card"/>
          <p:cNvSpPr/>
          <p:nvPr/>
        </p:nvSpPr>
        <p:spPr>
          <a:xfrm>
            <a:off x="548640" y="1417320"/>
            <a:ext cx="2926080" cy="1234440"/>
          </a:xfrm>
          <a:prstGeom prst="roundRect">
            <a:avLst>
              <a:gd name="adj" fmla="val 8889"/>
            </a:avLst>
          </a:prstGeom>
          <a:solidFill>
            <a:schemeClr val="bg2"/>
          </a:solidFill>
          <a:ln w="12700">
            <a:solidFill>
              <a:schemeClr val="bg2"/>
            </a:solidFill>
            <a:prstDash val="solid"/>
          </a:ln>
        </p:spPr>
      </p:sp>
      <p:sp>
        <p:nvSpPr>
          <p:cNvPr id="5" name="Icon circle"/>
          <p:cNvSpPr/>
          <p:nvPr/>
        </p:nvSpPr>
        <p:spPr>
          <a:xfrm>
            <a:off x="685800" y="1554480"/>
            <a:ext cx="502920" cy="502920"/>
          </a:xfrm>
          <a:prstGeom prst="ellipse">
            <a:avLst/>
          </a:prstGeom>
          <a:solidFill>
            <a:schemeClr val="accent1"/>
          </a:solidFill>
          <a:ln w="12700">
            <a:solidFill>
              <a:schemeClr val="accent1"/>
            </a:solidFill>
            <a:prstDash val="solid"/>
          </a:ln>
        </p:spPr>
      </p:sp>
      <p:pic>
        <p:nvPicPr>
          <p:cNvPr id="6" name="Image 0" descr="Wifi icon">    </p:cNvPr>
          <p:cNvPicPr>
            <a:picLocks noChangeAspect="1"/>
          </p:cNvPicPr>
          <p:nvPr/>
        </p:nvPicPr>
        <p:blipFill>
          <a:blip r:embed="rId1"/>
          <a:stretch>
            <a:fillRect/>
          </a:stretch>
        </p:blipFill>
        <p:spPr>
          <a:xfrm>
            <a:off x="821588" y="1690268"/>
            <a:ext cx="231343" cy="231343"/>
          </a:xfrm>
          <a:prstGeom prst="rect">
            <a:avLst/>
          </a:prstGeom>
        </p:spPr>
      </p:pic>
      <p:sp>
        <p:nvSpPr>
          <p:cNvPr id="7" name="Text 4"/>
          <p:cNvSpPr txBox="1"/>
          <p:nvPr/>
        </p:nvSpPr>
        <p:spPr>
          <a:xfrm>
            <a:off x="1298448" y="1554480"/>
            <a:ext cx="2103120" cy="502920"/>
          </a:xfrm>
          <a:prstGeom prst="rect">
            <a:avLst/>
          </a:prstGeom>
          <a:noFill/>
          <a:ln/>
        </p:spPr>
        <p:txBody>
          <a:bodyPr wrap="square" lIns="0" tIns="0" rIns="0" bIns="0" rtlCol="0" anchor="ctr"/>
          <a:lstStyle/>
          <a:p>
            <a:pPr indent="0" marL="0">
              <a:buNone/>
            </a:pPr>
            <a:r>
              <a:rPr lang="en-US" sz="1400" b="1" dirty="0">
                <a:solidFill>
                  <a:schemeClr val="tx1"/>
                </a:solidFill>
              </a:rPr>
              <a:t>Local and offline</a:t>
            </a:r>
            <a:endParaRPr lang="en-US" sz="1400" dirty="0"/>
          </a:p>
        </p:txBody>
      </p:sp>
      <p:sp>
        <p:nvSpPr>
          <p:cNvPr id="8" name="Text 5"/>
          <p:cNvSpPr txBox="1"/>
          <p:nvPr/>
        </p:nvSpPr>
        <p:spPr>
          <a:xfrm>
            <a:off x="685800" y="2103120"/>
            <a:ext cx="2697480" cy="502920"/>
          </a:xfrm>
          <a:prstGeom prst="rect">
            <a:avLst/>
          </a:prstGeom>
          <a:noFill/>
          <a:ln/>
        </p:spPr>
        <p:txBody>
          <a:bodyPr wrap="square" lIns="0" tIns="0" rIns="0" bIns="0" rtlCol="0" anchor="t"/>
          <a:lstStyle/>
          <a:p>
            <a:pPr indent="0" marL="0">
              <a:buNone/>
            </a:pPr>
            <a:r>
              <a:rPr lang="en-US" sz="1200" dirty="0">
                <a:solidFill>
                  <a:schemeClr val="accent5"/>
                </a:solidFill>
              </a:rPr>
              <a:t>Runs at 127.0.0.1:7860; no internet after the first start</a:t>
            </a:r>
            <a:endParaRPr lang="en-US" sz="1200" dirty="0"/>
          </a:p>
        </p:txBody>
      </p:sp>
      <p:sp>
        <p:nvSpPr>
          <p:cNvPr id="9" name="Feature card"/>
          <p:cNvSpPr/>
          <p:nvPr/>
        </p:nvSpPr>
        <p:spPr>
          <a:xfrm>
            <a:off x="3611880" y="1417320"/>
            <a:ext cx="2926080" cy="1234440"/>
          </a:xfrm>
          <a:prstGeom prst="roundRect">
            <a:avLst>
              <a:gd name="adj" fmla="val 8889"/>
            </a:avLst>
          </a:prstGeom>
          <a:solidFill>
            <a:schemeClr val="bg2"/>
          </a:solidFill>
          <a:ln w="12700">
            <a:solidFill>
              <a:schemeClr val="bg2"/>
            </a:solidFill>
            <a:prstDash val="solid"/>
          </a:ln>
        </p:spPr>
      </p:sp>
      <p:sp>
        <p:nvSpPr>
          <p:cNvPr id="10" name="Icon circle"/>
          <p:cNvSpPr/>
          <p:nvPr/>
        </p:nvSpPr>
        <p:spPr>
          <a:xfrm>
            <a:off x="3749040" y="1554480"/>
            <a:ext cx="502920" cy="502920"/>
          </a:xfrm>
          <a:prstGeom prst="ellipse">
            <a:avLst/>
          </a:prstGeom>
          <a:solidFill>
            <a:schemeClr val="accent1"/>
          </a:solidFill>
          <a:ln w="12700">
            <a:solidFill>
              <a:schemeClr val="accent1"/>
            </a:solidFill>
            <a:prstDash val="solid"/>
          </a:ln>
        </p:spPr>
      </p:sp>
      <p:pic>
        <p:nvPicPr>
          <p:cNvPr id="11" name="Image 1" descr="Language icon">    </p:cNvPr>
          <p:cNvPicPr>
            <a:picLocks noChangeAspect="1"/>
          </p:cNvPicPr>
          <p:nvPr/>
        </p:nvPicPr>
        <p:blipFill>
          <a:blip r:embed="rId2"/>
          <a:stretch>
            <a:fillRect/>
          </a:stretch>
        </p:blipFill>
        <p:spPr>
          <a:xfrm>
            <a:off x="3884828" y="1690268"/>
            <a:ext cx="231343" cy="231343"/>
          </a:xfrm>
          <a:prstGeom prst="rect">
            <a:avLst/>
          </a:prstGeom>
        </p:spPr>
      </p:pic>
      <p:sp>
        <p:nvSpPr>
          <p:cNvPr id="12" name="Text 8"/>
          <p:cNvSpPr txBox="1"/>
          <p:nvPr/>
        </p:nvSpPr>
        <p:spPr>
          <a:xfrm>
            <a:off x="4361688" y="1554480"/>
            <a:ext cx="2103120" cy="502920"/>
          </a:xfrm>
          <a:prstGeom prst="rect">
            <a:avLst/>
          </a:prstGeom>
          <a:noFill/>
          <a:ln/>
        </p:spPr>
        <p:txBody>
          <a:bodyPr wrap="square" lIns="0" tIns="0" rIns="0" bIns="0" rtlCol="0" anchor="ctr"/>
          <a:lstStyle/>
          <a:p>
            <a:pPr indent="0" marL="0">
              <a:buNone/>
            </a:pPr>
            <a:r>
              <a:rPr lang="en-US" sz="1400" b="1" dirty="0">
                <a:solidFill>
                  <a:schemeClr val="tx1"/>
                </a:solidFill>
              </a:rPr>
              <a:t>Same normalization</a:t>
            </a:r>
            <a:endParaRPr lang="en-US" sz="1400" dirty="0"/>
          </a:p>
        </p:txBody>
      </p:sp>
      <p:sp>
        <p:nvSpPr>
          <p:cNvPr id="13" name="Text 9"/>
          <p:cNvSpPr txBox="1"/>
          <p:nvPr/>
        </p:nvSpPr>
        <p:spPr>
          <a:xfrm>
            <a:off x="3749040" y="2103120"/>
            <a:ext cx="2697480" cy="502920"/>
          </a:xfrm>
          <a:prstGeom prst="rect">
            <a:avLst/>
          </a:prstGeom>
          <a:noFill/>
          <a:ln/>
        </p:spPr>
        <p:txBody>
          <a:bodyPr wrap="square" lIns="0" tIns="0" rIns="0" bIns="0" rtlCol="0" anchor="t"/>
          <a:lstStyle/>
          <a:p>
            <a:pPr indent="0" marL="0">
              <a:buNone/>
            </a:pPr>
            <a:r>
              <a:rPr lang="en-US" sz="1200" dirty="0">
                <a:solidFill>
                  <a:schemeClr val="accent5"/>
                </a:solidFill>
              </a:rPr>
              <a:t>Input is cleaned exactly like the training data</a:t>
            </a:r>
            <a:endParaRPr lang="en-US" sz="1200" dirty="0"/>
          </a:p>
        </p:txBody>
      </p:sp>
      <p:sp>
        <p:nvSpPr>
          <p:cNvPr id="14" name="Feature card"/>
          <p:cNvSpPr/>
          <p:nvPr/>
        </p:nvSpPr>
        <p:spPr>
          <a:xfrm>
            <a:off x="548640" y="2788920"/>
            <a:ext cx="2926080" cy="1234440"/>
          </a:xfrm>
          <a:prstGeom prst="roundRect">
            <a:avLst>
              <a:gd name="adj" fmla="val 8889"/>
            </a:avLst>
          </a:prstGeom>
          <a:solidFill>
            <a:schemeClr val="bg2"/>
          </a:solidFill>
          <a:ln w="12700">
            <a:solidFill>
              <a:schemeClr val="bg2"/>
            </a:solidFill>
            <a:prstDash val="solid"/>
          </a:ln>
        </p:spPr>
      </p:sp>
      <p:sp>
        <p:nvSpPr>
          <p:cNvPr id="15" name="Icon circle"/>
          <p:cNvSpPr/>
          <p:nvPr/>
        </p:nvSpPr>
        <p:spPr>
          <a:xfrm>
            <a:off x="685800" y="2926080"/>
            <a:ext cx="502920" cy="502920"/>
          </a:xfrm>
          <a:prstGeom prst="ellipse">
            <a:avLst/>
          </a:prstGeom>
          <a:solidFill>
            <a:schemeClr val="accent1"/>
          </a:solidFill>
          <a:ln w="12700">
            <a:solidFill>
              <a:schemeClr val="accent1"/>
            </a:solidFill>
            <a:prstDash val="solid"/>
          </a:ln>
        </p:spPr>
      </p:sp>
      <p:pic>
        <p:nvPicPr>
          <p:cNvPr id="16" name="Image 2" descr="ListOl icon">    </p:cNvPr>
          <p:cNvPicPr>
            <a:picLocks noChangeAspect="1"/>
          </p:cNvPicPr>
          <p:nvPr/>
        </p:nvPicPr>
        <p:blipFill>
          <a:blip r:embed="rId3"/>
          <a:stretch>
            <a:fillRect/>
          </a:stretch>
        </p:blipFill>
        <p:spPr>
          <a:xfrm>
            <a:off x="821588" y="3061868"/>
            <a:ext cx="231343" cy="231343"/>
          </a:xfrm>
          <a:prstGeom prst="rect">
            <a:avLst/>
          </a:prstGeom>
        </p:spPr>
      </p:pic>
      <p:sp>
        <p:nvSpPr>
          <p:cNvPr id="17" name="Text 12"/>
          <p:cNvSpPr txBox="1"/>
          <p:nvPr/>
        </p:nvSpPr>
        <p:spPr>
          <a:xfrm>
            <a:off x="1298448" y="2926080"/>
            <a:ext cx="2103120" cy="502920"/>
          </a:xfrm>
          <a:prstGeom prst="rect">
            <a:avLst/>
          </a:prstGeom>
          <a:noFill/>
          <a:ln/>
        </p:spPr>
        <p:txBody>
          <a:bodyPr wrap="square" lIns="0" tIns="0" rIns="0" bIns="0" rtlCol="0" anchor="ctr"/>
          <a:lstStyle/>
          <a:p>
            <a:pPr indent="0" marL="0">
              <a:buNone/>
            </a:pPr>
            <a:r>
              <a:rPr lang="en-US" sz="1400" b="1" dirty="0">
                <a:solidFill>
                  <a:schemeClr val="tx1"/>
                </a:solidFill>
              </a:rPr>
              <a:t>Sentence by sentence</a:t>
            </a:r>
            <a:endParaRPr lang="en-US" sz="1400" dirty="0"/>
          </a:p>
        </p:txBody>
      </p:sp>
      <p:sp>
        <p:nvSpPr>
          <p:cNvPr id="18" name="Text 13"/>
          <p:cNvSpPr txBox="1"/>
          <p:nvPr/>
        </p:nvSpPr>
        <p:spPr>
          <a:xfrm>
            <a:off x="685800" y="3474720"/>
            <a:ext cx="2697480" cy="502920"/>
          </a:xfrm>
          <a:prstGeom prst="rect">
            <a:avLst/>
          </a:prstGeom>
          <a:noFill/>
          <a:ln/>
        </p:spPr>
        <p:txBody>
          <a:bodyPr wrap="square" lIns="0" tIns="0" rIns="0" bIns="0" rtlCol="0" anchor="t"/>
          <a:lstStyle/>
          <a:p>
            <a:pPr indent="0" marL="0">
              <a:buNone/>
            </a:pPr>
            <a:r>
              <a:rPr lang="en-US" sz="1200" dirty="0">
                <a:solidFill>
                  <a:schemeClr val="accent5"/>
                </a:solidFill>
              </a:rPr>
              <a:t>Details table with original, normalized and translated text</a:t>
            </a:r>
            <a:endParaRPr lang="en-US" sz="1200" dirty="0"/>
          </a:p>
        </p:txBody>
      </p:sp>
      <p:sp>
        <p:nvSpPr>
          <p:cNvPr id="19" name="Feature card"/>
          <p:cNvSpPr/>
          <p:nvPr/>
        </p:nvSpPr>
        <p:spPr>
          <a:xfrm>
            <a:off x="3611880" y="2788920"/>
            <a:ext cx="2926080" cy="1234440"/>
          </a:xfrm>
          <a:prstGeom prst="roundRect">
            <a:avLst>
              <a:gd name="adj" fmla="val 8889"/>
            </a:avLst>
          </a:prstGeom>
          <a:solidFill>
            <a:schemeClr val="bg2"/>
          </a:solidFill>
          <a:ln w="12700">
            <a:solidFill>
              <a:schemeClr val="bg2"/>
            </a:solidFill>
            <a:prstDash val="solid"/>
          </a:ln>
        </p:spPr>
      </p:sp>
      <p:sp>
        <p:nvSpPr>
          <p:cNvPr id="20" name="Icon circle"/>
          <p:cNvSpPr/>
          <p:nvPr/>
        </p:nvSpPr>
        <p:spPr>
          <a:xfrm>
            <a:off x="3749040" y="2926080"/>
            <a:ext cx="502920" cy="502920"/>
          </a:xfrm>
          <a:prstGeom prst="ellipse">
            <a:avLst/>
          </a:prstGeom>
          <a:solidFill>
            <a:schemeClr val="accent1"/>
          </a:solidFill>
          <a:ln w="12700">
            <a:solidFill>
              <a:schemeClr val="accent1"/>
            </a:solidFill>
            <a:prstDash val="solid"/>
          </a:ln>
        </p:spPr>
      </p:sp>
      <p:pic>
        <p:nvPicPr>
          <p:cNvPr id="21" name="Image 3" descr="ProjectDiagram icon">    </p:cNvPr>
          <p:cNvPicPr>
            <a:picLocks noChangeAspect="1"/>
          </p:cNvPicPr>
          <p:nvPr/>
        </p:nvPicPr>
        <p:blipFill>
          <a:blip r:embed="rId4"/>
          <a:stretch>
            <a:fillRect/>
          </a:stretch>
        </p:blipFill>
        <p:spPr>
          <a:xfrm>
            <a:off x="3884828" y="3061868"/>
            <a:ext cx="231343" cy="231343"/>
          </a:xfrm>
          <a:prstGeom prst="rect">
            <a:avLst/>
          </a:prstGeom>
        </p:spPr>
      </p:pic>
      <p:sp>
        <p:nvSpPr>
          <p:cNvPr id="22" name="Text 16"/>
          <p:cNvSpPr txBox="1"/>
          <p:nvPr/>
        </p:nvSpPr>
        <p:spPr>
          <a:xfrm>
            <a:off x="4361688" y="2926080"/>
            <a:ext cx="2103120" cy="502920"/>
          </a:xfrm>
          <a:prstGeom prst="rect">
            <a:avLst/>
          </a:prstGeom>
          <a:noFill/>
          <a:ln/>
        </p:spPr>
        <p:txBody>
          <a:bodyPr wrap="square" lIns="0" tIns="0" rIns="0" bIns="0" rtlCol="0" anchor="ctr"/>
          <a:lstStyle/>
          <a:p>
            <a:pPr indent="0" marL="0">
              <a:buNone/>
            </a:pPr>
            <a:r>
              <a:rPr lang="en-US" sz="1400" b="1" dirty="0">
                <a:solidFill>
                  <a:schemeClr val="tx1"/>
                </a:solidFill>
              </a:rPr>
              <a:t>Model view</a:t>
            </a:r>
            <a:endParaRPr lang="en-US" sz="1400" dirty="0"/>
          </a:p>
        </p:txBody>
      </p:sp>
      <p:sp>
        <p:nvSpPr>
          <p:cNvPr id="23" name="Text 17"/>
          <p:cNvSpPr txBox="1"/>
          <p:nvPr/>
        </p:nvSpPr>
        <p:spPr>
          <a:xfrm>
            <a:off x="3749040" y="3474720"/>
            <a:ext cx="2697480" cy="502920"/>
          </a:xfrm>
          <a:prstGeom prst="rect">
            <a:avLst/>
          </a:prstGeom>
          <a:noFill/>
          <a:ln/>
        </p:spPr>
        <p:txBody>
          <a:bodyPr wrap="square" lIns="0" tIns="0" rIns="0" bIns="0" rtlCol="0" anchor="t"/>
          <a:lstStyle/>
          <a:p>
            <a:pPr indent="0" marL="0">
              <a:buNone/>
            </a:pPr>
            <a:r>
              <a:rPr lang="en-US" sz="1200" dirty="0">
                <a:solidFill>
                  <a:schemeClr val="accent5"/>
                </a:solidFill>
              </a:rPr>
              <a:t>Encoder and decoder tokens for each translation</a:t>
            </a:r>
            <a:endParaRPr lang="en-US" sz="1200" dirty="0"/>
          </a:p>
        </p:txBody>
      </p:sp>
      <p:sp>
        <p:nvSpPr>
          <p:cNvPr id="24" name="Feature card"/>
          <p:cNvSpPr/>
          <p:nvPr/>
        </p:nvSpPr>
        <p:spPr>
          <a:xfrm>
            <a:off x="548640" y="4160520"/>
            <a:ext cx="2926080" cy="1234440"/>
          </a:xfrm>
          <a:prstGeom prst="roundRect">
            <a:avLst>
              <a:gd name="adj" fmla="val 8889"/>
            </a:avLst>
          </a:prstGeom>
          <a:solidFill>
            <a:schemeClr val="bg2"/>
          </a:solidFill>
          <a:ln w="12700">
            <a:solidFill>
              <a:schemeClr val="bg2"/>
            </a:solidFill>
            <a:prstDash val="solid"/>
          </a:ln>
        </p:spPr>
      </p:sp>
      <p:sp>
        <p:nvSpPr>
          <p:cNvPr id="25" name="Icon circle"/>
          <p:cNvSpPr/>
          <p:nvPr/>
        </p:nvSpPr>
        <p:spPr>
          <a:xfrm>
            <a:off x="685800" y="4297680"/>
            <a:ext cx="502920" cy="502920"/>
          </a:xfrm>
          <a:prstGeom prst="ellipse">
            <a:avLst/>
          </a:prstGeom>
          <a:solidFill>
            <a:schemeClr val="accent1"/>
          </a:solidFill>
          <a:ln w="12700">
            <a:solidFill>
              <a:schemeClr val="accent1"/>
            </a:solidFill>
            <a:prstDash val="solid"/>
          </a:ln>
        </p:spPr>
      </p:sp>
      <p:pic>
        <p:nvPicPr>
          <p:cNvPr id="26" name="Image 4" descr="Book icon">    </p:cNvPr>
          <p:cNvPicPr>
            <a:picLocks noChangeAspect="1"/>
          </p:cNvPicPr>
          <p:nvPr/>
        </p:nvPicPr>
        <p:blipFill>
          <a:blip r:embed="rId5"/>
          <a:stretch>
            <a:fillRect/>
          </a:stretch>
        </p:blipFill>
        <p:spPr>
          <a:xfrm>
            <a:off x="821588" y="4433468"/>
            <a:ext cx="231343" cy="231343"/>
          </a:xfrm>
          <a:prstGeom prst="rect">
            <a:avLst/>
          </a:prstGeom>
        </p:spPr>
      </p:pic>
      <p:sp>
        <p:nvSpPr>
          <p:cNvPr id="27" name="Text 20"/>
          <p:cNvSpPr txBox="1"/>
          <p:nvPr/>
        </p:nvSpPr>
        <p:spPr>
          <a:xfrm>
            <a:off x="1298448" y="4297680"/>
            <a:ext cx="2103120" cy="502920"/>
          </a:xfrm>
          <a:prstGeom prst="rect">
            <a:avLst/>
          </a:prstGeom>
          <a:noFill/>
          <a:ln/>
        </p:spPr>
        <p:txBody>
          <a:bodyPr wrap="square" lIns="0" tIns="0" rIns="0" bIns="0" rtlCol="0" anchor="ctr"/>
          <a:lstStyle/>
          <a:p>
            <a:pPr indent="0" marL="0">
              <a:buNone/>
            </a:pPr>
            <a:r>
              <a:rPr lang="en-US" sz="1400" b="1" dirty="0">
                <a:solidFill>
                  <a:schemeClr val="tx1"/>
                </a:solidFill>
              </a:rPr>
              <a:t>Dictionary panel</a:t>
            </a:r>
            <a:endParaRPr lang="en-US" sz="1400" dirty="0"/>
          </a:p>
        </p:txBody>
      </p:sp>
      <p:sp>
        <p:nvSpPr>
          <p:cNvPr id="28" name="Text 21"/>
          <p:cNvSpPr txBox="1"/>
          <p:nvPr/>
        </p:nvSpPr>
        <p:spPr>
          <a:xfrm>
            <a:off x="685800" y="4846320"/>
            <a:ext cx="2697480" cy="502920"/>
          </a:xfrm>
          <a:prstGeom prst="rect">
            <a:avLst/>
          </a:prstGeom>
          <a:noFill/>
          <a:ln/>
        </p:spPr>
        <p:txBody>
          <a:bodyPr wrap="square" lIns="0" tIns="0" rIns="0" bIns="0" rtlCol="0" anchor="t"/>
          <a:lstStyle/>
          <a:p>
            <a:pPr indent="0" marL="0">
              <a:buNone/>
            </a:pPr>
            <a:r>
              <a:rPr lang="en-US" sz="1200" dirty="0">
                <a:solidFill>
                  <a:schemeClr val="accent5"/>
                </a:solidFill>
              </a:rPr>
              <a:t>Word meanings with the best-fitting one ticked</a:t>
            </a:r>
            <a:endParaRPr lang="en-US" sz="1200" dirty="0"/>
          </a:p>
        </p:txBody>
      </p:sp>
      <p:sp>
        <p:nvSpPr>
          <p:cNvPr id="29" name="Feature card"/>
          <p:cNvSpPr/>
          <p:nvPr/>
        </p:nvSpPr>
        <p:spPr>
          <a:xfrm>
            <a:off x="3611880" y="4160520"/>
            <a:ext cx="2926080" cy="1234440"/>
          </a:xfrm>
          <a:prstGeom prst="roundRect">
            <a:avLst>
              <a:gd name="adj" fmla="val 8889"/>
            </a:avLst>
          </a:prstGeom>
          <a:solidFill>
            <a:schemeClr val="bg2"/>
          </a:solidFill>
          <a:ln w="12700">
            <a:solidFill>
              <a:schemeClr val="bg2"/>
            </a:solidFill>
            <a:prstDash val="solid"/>
          </a:ln>
        </p:spPr>
      </p:sp>
      <p:sp>
        <p:nvSpPr>
          <p:cNvPr id="30" name="Icon circle"/>
          <p:cNvSpPr/>
          <p:nvPr/>
        </p:nvSpPr>
        <p:spPr>
          <a:xfrm>
            <a:off x="3749040" y="4297680"/>
            <a:ext cx="502920" cy="502920"/>
          </a:xfrm>
          <a:prstGeom prst="ellipse">
            <a:avLst/>
          </a:prstGeom>
          <a:solidFill>
            <a:schemeClr val="accent1"/>
          </a:solidFill>
          <a:ln w="12700">
            <a:solidFill>
              <a:schemeClr val="accent1"/>
            </a:solidFill>
            <a:prstDash val="solid"/>
          </a:ln>
        </p:spPr>
      </p:sp>
      <p:pic>
        <p:nvPicPr>
          <p:cNvPr id="31" name="Image 5" descr="CheckCircle icon">    </p:cNvPr>
          <p:cNvPicPr>
            <a:picLocks noChangeAspect="1"/>
          </p:cNvPicPr>
          <p:nvPr/>
        </p:nvPicPr>
        <p:blipFill>
          <a:blip r:embed="rId6"/>
          <a:stretch>
            <a:fillRect/>
          </a:stretch>
        </p:blipFill>
        <p:spPr>
          <a:xfrm>
            <a:off x="3884828" y="4433468"/>
            <a:ext cx="231343" cy="231343"/>
          </a:xfrm>
          <a:prstGeom prst="rect">
            <a:avLst/>
          </a:prstGeom>
        </p:spPr>
      </p:pic>
      <p:sp>
        <p:nvSpPr>
          <p:cNvPr id="32" name="Text 24"/>
          <p:cNvSpPr txBox="1"/>
          <p:nvPr/>
        </p:nvSpPr>
        <p:spPr>
          <a:xfrm>
            <a:off x="4361688" y="4297680"/>
            <a:ext cx="2103120" cy="502920"/>
          </a:xfrm>
          <a:prstGeom prst="rect">
            <a:avLst/>
          </a:prstGeom>
          <a:noFill/>
          <a:ln/>
        </p:spPr>
        <p:txBody>
          <a:bodyPr wrap="square" lIns="0" tIns="0" rIns="0" bIns="0" rtlCol="0" anchor="ctr"/>
          <a:lstStyle/>
          <a:p>
            <a:pPr indent="0" marL="0">
              <a:buNone/>
            </a:pPr>
            <a:r>
              <a:rPr lang="en-US" sz="1400" b="1" dirty="0">
                <a:solidFill>
                  <a:schemeClr val="tx1"/>
                </a:solidFill>
              </a:rPr>
              <a:t>Accuracy panel</a:t>
            </a:r>
            <a:endParaRPr lang="en-US" sz="1400" dirty="0"/>
          </a:p>
        </p:txBody>
      </p:sp>
      <p:sp>
        <p:nvSpPr>
          <p:cNvPr id="33" name="Text 25"/>
          <p:cNvSpPr txBox="1"/>
          <p:nvPr/>
        </p:nvSpPr>
        <p:spPr>
          <a:xfrm>
            <a:off x="3749040" y="4846320"/>
            <a:ext cx="2697480" cy="502920"/>
          </a:xfrm>
          <a:prstGeom prst="rect">
            <a:avLst/>
          </a:prstGeom>
          <a:noFill/>
          <a:ln/>
        </p:spPr>
        <p:txBody>
          <a:bodyPr wrap="square" lIns="0" tIns="0" rIns="0" bIns="0" rtlCol="0" anchor="t"/>
          <a:lstStyle/>
          <a:p>
            <a:pPr indent="0" marL="0">
              <a:buNone/>
            </a:pPr>
            <a:r>
              <a:rPr lang="en-US" sz="1200" dirty="0">
                <a:solidFill>
                  <a:schemeClr val="accent5"/>
                </a:solidFill>
              </a:rPr>
              <a:t>Test scores shown next to the translator</a:t>
            </a:r>
            <a:endParaRPr lang="en-US" sz="1200" dirty="0"/>
          </a:p>
        </p:txBody>
      </p:sp>
      <p:sp>
        <p:nvSpPr>
          <p:cNvPr id="34" name="App mock"/>
          <p:cNvSpPr/>
          <p:nvPr/>
        </p:nvSpPr>
        <p:spPr>
          <a:xfrm>
            <a:off x="6812280" y="1417320"/>
            <a:ext cx="4828032" cy="3840480"/>
          </a:xfrm>
          <a:prstGeom prst="roundRect">
            <a:avLst>
              <a:gd name="adj" fmla="val 2857"/>
            </a:avLst>
          </a:prstGeom>
          <a:solidFill>
            <a:schemeClr val="tx2"/>
          </a:solidFill>
          <a:ln w="12700">
            <a:solidFill>
              <a:schemeClr val="tx2"/>
            </a:solidFill>
            <a:prstDash val="solid"/>
          </a:ln>
        </p:spPr>
      </p:sp>
      <p:sp>
        <p:nvSpPr>
          <p:cNvPr id="35" name="Text 27"/>
          <p:cNvSpPr txBox="1"/>
          <p:nvPr/>
        </p:nvSpPr>
        <p:spPr>
          <a:xfrm>
            <a:off x="7086600" y="1600200"/>
            <a:ext cx="4297680" cy="411480"/>
          </a:xfrm>
          <a:prstGeom prst="rect">
            <a:avLst/>
          </a:prstGeom>
          <a:noFill/>
          <a:ln/>
        </p:spPr>
        <p:txBody>
          <a:bodyPr wrap="square" lIns="0" tIns="0" rIns="0" bIns="0" rtlCol="0" anchor="t"/>
          <a:lstStyle/>
          <a:p>
            <a:pPr indent="0" marL="0">
              <a:buNone/>
            </a:pPr>
            <a:r>
              <a:rPr lang="en-US" sz="1800" b="1" dirty="0">
                <a:solidFill>
                  <a:schemeClr val="bg1"/>
                </a:solidFill>
              </a:rPr>
              <a:t>Penerjemah Aceh → Indonesia</a:t>
            </a:r>
            <a:endParaRPr lang="en-US" sz="1800" dirty="0"/>
          </a:p>
        </p:txBody>
      </p:sp>
      <p:sp>
        <p:nvSpPr>
          <p:cNvPr id="36" name="Input box"/>
          <p:cNvSpPr/>
          <p:nvPr/>
        </p:nvSpPr>
        <p:spPr>
          <a:xfrm>
            <a:off x="7086600" y="2148840"/>
            <a:ext cx="2103120" cy="1371600"/>
          </a:xfrm>
          <a:prstGeom prst="roundRect">
            <a:avLst>
              <a:gd name="adj" fmla="val 5333"/>
            </a:avLst>
          </a:prstGeom>
          <a:solidFill>
            <a:schemeClr val="bg1"/>
          </a:solidFill>
          <a:ln w="12700">
            <a:solidFill>
              <a:schemeClr val="bg1"/>
            </a:solidFill>
            <a:prstDash val="solid"/>
          </a:ln>
        </p:spPr>
      </p:sp>
      <p:sp>
        <p:nvSpPr>
          <p:cNvPr id="37" name="Text 29"/>
          <p:cNvSpPr txBox="1"/>
          <p:nvPr/>
        </p:nvSpPr>
        <p:spPr>
          <a:xfrm>
            <a:off x="7178040" y="2194560"/>
            <a:ext cx="1920240" cy="274320"/>
          </a:xfrm>
          <a:prstGeom prst="rect">
            <a:avLst/>
          </a:prstGeom>
          <a:noFill/>
          <a:ln/>
        </p:spPr>
        <p:txBody>
          <a:bodyPr wrap="square" lIns="0" tIns="0" rIns="0" bIns="0" rtlCol="0" anchor="t"/>
          <a:lstStyle/>
          <a:p>
            <a:pPr indent="0" marL="0">
              <a:buNone/>
            </a:pPr>
            <a:r>
              <a:rPr lang="en-US" sz="1100" dirty="0">
                <a:solidFill>
                  <a:schemeClr val="accent5"/>
                </a:solidFill>
              </a:rPr>
              <a:t>Bahasa Aceh</a:t>
            </a:r>
            <a:endParaRPr lang="en-US" sz="1100" dirty="0"/>
          </a:p>
        </p:txBody>
      </p:sp>
      <p:sp>
        <p:nvSpPr>
          <p:cNvPr id="38" name="Text 30"/>
          <p:cNvSpPr txBox="1"/>
          <p:nvPr/>
        </p:nvSpPr>
        <p:spPr>
          <a:xfrm>
            <a:off x="7178040" y="2514600"/>
            <a:ext cx="1920240" cy="914400"/>
          </a:xfrm>
          <a:prstGeom prst="rect">
            <a:avLst/>
          </a:prstGeom>
          <a:noFill/>
          <a:ln/>
        </p:spPr>
        <p:txBody>
          <a:bodyPr wrap="square" lIns="0" tIns="0" rIns="0" bIns="0" rtlCol="0" anchor="t"/>
          <a:lstStyle/>
          <a:p>
            <a:pPr indent="0" marL="0">
              <a:buNone/>
            </a:pPr>
            <a:r>
              <a:rPr lang="en-US" sz="1400" dirty="0">
                <a:solidFill>
                  <a:schemeClr val="tx1"/>
                </a:solidFill>
              </a:rPr>
              <a:t>Lon jak u peukan uroe nyoe.</a:t>
            </a:r>
            <a:endParaRPr lang="en-US" sz="1400" dirty="0"/>
          </a:p>
        </p:txBody>
      </p:sp>
      <p:sp>
        <p:nvSpPr>
          <p:cNvPr id="39" name="Output box"/>
          <p:cNvSpPr/>
          <p:nvPr/>
        </p:nvSpPr>
        <p:spPr>
          <a:xfrm>
            <a:off x="9418320" y="2148840"/>
            <a:ext cx="1965960" cy="1371600"/>
          </a:xfrm>
          <a:prstGeom prst="roundRect">
            <a:avLst>
              <a:gd name="adj" fmla="val 5333"/>
            </a:avLst>
          </a:prstGeom>
          <a:solidFill>
            <a:schemeClr val="bg1"/>
          </a:solidFill>
          <a:ln w="12700">
            <a:solidFill>
              <a:schemeClr val="bg1"/>
            </a:solidFill>
            <a:prstDash val="solid"/>
          </a:ln>
        </p:spPr>
      </p:sp>
      <p:sp>
        <p:nvSpPr>
          <p:cNvPr id="40" name="Text 32"/>
          <p:cNvSpPr txBox="1"/>
          <p:nvPr/>
        </p:nvSpPr>
        <p:spPr>
          <a:xfrm>
            <a:off x="9509760" y="2194560"/>
            <a:ext cx="1783080" cy="274320"/>
          </a:xfrm>
          <a:prstGeom prst="rect">
            <a:avLst/>
          </a:prstGeom>
          <a:noFill/>
          <a:ln/>
        </p:spPr>
        <p:txBody>
          <a:bodyPr wrap="square" lIns="0" tIns="0" rIns="0" bIns="0" rtlCol="0" anchor="t"/>
          <a:lstStyle/>
          <a:p>
            <a:pPr indent="0" marL="0">
              <a:buNone/>
            </a:pPr>
            <a:r>
              <a:rPr lang="en-US" sz="1100" dirty="0">
                <a:solidFill>
                  <a:schemeClr val="accent5"/>
                </a:solidFill>
              </a:rPr>
              <a:t>Bahasa Indonesia</a:t>
            </a:r>
            <a:endParaRPr lang="en-US" sz="1100" dirty="0"/>
          </a:p>
        </p:txBody>
      </p:sp>
      <p:sp>
        <p:nvSpPr>
          <p:cNvPr id="41" name="Text 33"/>
          <p:cNvSpPr txBox="1"/>
          <p:nvPr/>
        </p:nvSpPr>
        <p:spPr>
          <a:xfrm>
            <a:off x="9509760" y="2514600"/>
            <a:ext cx="1783080" cy="914400"/>
          </a:xfrm>
          <a:prstGeom prst="rect">
            <a:avLst/>
          </a:prstGeom>
          <a:noFill/>
          <a:ln/>
        </p:spPr>
        <p:txBody>
          <a:bodyPr wrap="square" lIns="0" tIns="0" rIns="0" bIns="0" rtlCol="0" anchor="t"/>
          <a:lstStyle/>
          <a:p>
            <a:pPr indent="0" marL="0">
              <a:buNone/>
            </a:pPr>
            <a:r>
              <a:rPr lang="en-US" sz="1400" b="1" dirty="0">
                <a:solidFill>
                  <a:schemeClr val="accent1"/>
                </a:solidFill>
              </a:rPr>
              <a:t>Saya pergi ke pasar hari ini.</a:t>
            </a:r>
            <a:endParaRPr lang="en-US" sz="1400" dirty="0"/>
          </a:p>
        </p:txBody>
      </p:sp>
      <p:sp>
        <p:nvSpPr>
          <p:cNvPr id="42" name="Button"/>
          <p:cNvSpPr/>
          <p:nvPr/>
        </p:nvSpPr>
        <p:spPr>
          <a:xfrm>
            <a:off x="7086600" y="3749040"/>
            <a:ext cx="4297680" cy="548640"/>
          </a:xfrm>
          <a:prstGeom prst="roundRect">
            <a:avLst>
              <a:gd name="adj" fmla="val 16667"/>
            </a:avLst>
          </a:prstGeom>
          <a:solidFill>
            <a:srgbClr val="0D9488"/>
          </a:solidFill>
          <a:ln w="12700">
            <a:solidFill>
              <a:srgbClr val="0D9488"/>
            </a:solidFill>
            <a:prstDash val="solid"/>
          </a:ln>
        </p:spPr>
      </p:sp>
      <p:sp>
        <p:nvSpPr>
          <p:cNvPr id="43" name="Text 35"/>
          <p:cNvSpPr txBox="1"/>
          <p:nvPr/>
        </p:nvSpPr>
        <p:spPr>
          <a:xfrm>
            <a:off x="7086600" y="3749040"/>
            <a:ext cx="4297680" cy="548640"/>
          </a:xfrm>
          <a:prstGeom prst="rect">
            <a:avLst/>
          </a:prstGeom>
          <a:noFill/>
          <a:ln/>
        </p:spPr>
        <p:txBody>
          <a:bodyPr wrap="square" lIns="0" tIns="0" rIns="0" bIns="0" rtlCol="0" anchor="ctr"/>
          <a:lstStyle/>
          <a:p>
            <a:pPr algn="ctr" indent="0" marL="0">
              <a:buNone/>
            </a:pPr>
            <a:r>
              <a:rPr lang="en-US" sz="1500" b="1" dirty="0">
                <a:solidFill>
                  <a:schemeClr val="bg1"/>
                </a:solidFill>
              </a:rPr>
              <a:t>Terjemahkan · Translate</a:t>
            </a:r>
            <a:endParaRPr lang="en-US" sz="1500" dirty="0"/>
          </a:p>
        </p:txBody>
      </p:sp>
      <p:sp>
        <p:nvSpPr>
          <p:cNvPr id="44" name="Text 36"/>
          <p:cNvSpPr txBox="1"/>
          <p:nvPr/>
        </p:nvSpPr>
        <p:spPr>
          <a:xfrm>
            <a:off x="7086600" y="4480560"/>
            <a:ext cx="4297680" cy="320040"/>
          </a:xfrm>
          <a:prstGeom prst="rect">
            <a:avLst/>
          </a:prstGeom>
          <a:noFill/>
          <a:ln/>
        </p:spPr>
        <p:txBody>
          <a:bodyPr wrap="square" lIns="0" tIns="0" rIns="0" bIns="0" rtlCol="0" anchor="t"/>
          <a:lstStyle/>
          <a:p>
            <a:pPr indent="0" marL="0">
              <a:buNone/>
            </a:pPr>
            <a:r>
              <a:rPr lang="en-US" sz="1200" dirty="0">
                <a:solidFill>
                  <a:schemeClr val="bg2"/>
                </a:solidFill>
              </a:rPr>
              <a:t>Cara kerja model  ·  Kata per kata  ·  Seberapa akurat?</a:t>
            </a:r>
            <a:endParaRPr lang="en-US" sz="1200" dirty="0"/>
          </a:p>
        </p:txBody>
      </p:sp>
      <p:sp>
        <p:nvSpPr>
          <p:cNvPr id="45" name="Run card"/>
          <p:cNvSpPr/>
          <p:nvPr/>
        </p:nvSpPr>
        <p:spPr>
          <a:xfrm>
            <a:off x="548640" y="5486400"/>
            <a:ext cx="11091672" cy="777240"/>
          </a:xfrm>
          <a:prstGeom prst="roundRect">
            <a:avLst>
              <a:gd name="adj" fmla="val 14118"/>
            </a:avLst>
          </a:prstGeom>
          <a:solidFill>
            <a:schemeClr val="bg2"/>
          </a:solidFill>
          <a:ln w="12700">
            <a:solidFill>
              <a:schemeClr val="bg2"/>
            </a:solidFill>
            <a:prstDash val="solid"/>
          </a:ln>
        </p:spPr>
      </p:sp>
      <p:sp>
        <p:nvSpPr>
          <p:cNvPr id="46" name="Text 38"/>
          <p:cNvSpPr txBox="1"/>
          <p:nvPr/>
        </p:nvSpPr>
        <p:spPr>
          <a:xfrm>
            <a:off x="822960" y="5486400"/>
            <a:ext cx="10607040" cy="777240"/>
          </a:xfrm>
          <a:prstGeom prst="rect">
            <a:avLst/>
          </a:prstGeom>
          <a:noFill/>
          <a:ln/>
        </p:spPr>
        <p:txBody>
          <a:bodyPr wrap="square" lIns="0" tIns="0" rIns="0" bIns="0" rtlCol="0" anchor="ctr"/>
          <a:lstStyle/>
          <a:p>
            <a:pPr indent="0" marL="0">
              <a:buNone/>
            </a:pPr>
            <a:r>
              <a:rPr lang="en-US" sz="1400" dirty="0">
                <a:solidFill>
                  <a:schemeClr val="tx1"/>
                </a:solidFill>
              </a:rPr>
              <a:t>Run it:  ./run_app.sh (Mac)  ·  run_app.bat (Windows)  ·  Colab demo notebook with a public link  ·  model on Hugging Face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QUALITY</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Reproducible, tested and documented</a:t>
            </a:r>
            <a:endParaRPr lang="en-US" sz="3600" dirty="0"/>
          </a:p>
        </p:txBody>
      </p:sp>
      <p:sp>
        <p:nvSpPr>
          <p:cNvPr id="4" name="Stat card"/>
          <p:cNvSpPr/>
          <p:nvPr/>
        </p:nvSpPr>
        <p:spPr>
          <a:xfrm>
            <a:off x="548640" y="1463040"/>
            <a:ext cx="3593592" cy="2286000"/>
          </a:xfrm>
          <a:prstGeom prst="roundRect">
            <a:avLst>
              <a:gd name="adj" fmla="val 4800"/>
            </a:avLst>
          </a:prstGeom>
          <a:solidFill>
            <a:schemeClr val="bg2"/>
          </a:solidFill>
          <a:ln w="12700">
            <a:solidFill>
              <a:schemeClr val="bg2"/>
            </a:solidFill>
            <a:prstDash val="solid"/>
          </a:ln>
        </p:spPr>
      </p:sp>
      <p:sp>
        <p:nvSpPr>
          <p:cNvPr id="5" name="Text 3"/>
          <p:cNvSpPr txBox="1"/>
          <p:nvPr/>
        </p:nvSpPr>
        <p:spPr>
          <a:xfrm>
            <a:off x="822960" y="160020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Georgia" pitchFamily="34" charset="0"/>
                <a:ea typeface="Georgia" pitchFamily="34" charset="-122"/>
                <a:cs typeface="Georgia" pitchFamily="34" charset="-120"/>
              </a:rPr>
              <a:t>91</a:t>
            </a:r>
            <a:endParaRPr lang="en-US" sz="4800" dirty="0"/>
          </a:p>
        </p:txBody>
      </p:sp>
      <p:sp>
        <p:nvSpPr>
          <p:cNvPr id="6" name="Text 4"/>
          <p:cNvSpPr txBox="1"/>
          <p:nvPr/>
        </p:nvSpPr>
        <p:spPr>
          <a:xfrm>
            <a:off x="822960" y="2423160"/>
            <a:ext cx="3108960" cy="365760"/>
          </a:xfrm>
          <a:prstGeom prst="rect">
            <a:avLst/>
          </a:prstGeom>
          <a:noFill/>
          <a:ln/>
        </p:spPr>
        <p:txBody>
          <a:bodyPr wrap="square" lIns="0" tIns="0" rIns="0" bIns="0" rtlCol="0" anchor="t"/>
          <a:lstStyle/>
          <a:p>
            <a:pPr indent="0" marL="0">
              <a:buNone/>
            </a:pPr>
            <a:r>
              <a:rPr lang="en-US" sz="1600" b="1" dirty="0">
                <a:solidFill>
                  <a:schemeClr val="tx1"/>
                </a:solidFill>
              </a:rPr>
              <a:t>automated tests</a:t>
            </a:r>
            <a:endParaRPr lang="en-US" sz="1600" dirty="0"/>
          </a:p>
        </p:txBody>
      </p:sp>
      <p:sp>
        <p:nvSpPr>
          <p:cNvPr id="7" name="Text 5"/>
          <p:cNvSpPr txBox="1"/>
          <p:nvPr/>
        </p:nvSpPr>
        <p:spPr>
          <a:xfrm>
            <a:off x="822960" y="2834640"/>
            <a:ext cx="3108960" cy="868680"/>
          </a:xfrm>
          <a:prstGeom prst="rect">
            <a:avLst/>
          </a:prstGeom>
          <a:noFill/>
          <a:ln/>
        </p:spPr>
        <p:txBody>
          <a:bodyPr wrap="square" lIns="0" tIns="0" rIns="0" bIns="0" rtlCol="0" anchor="t"/>
          <a:lstStyle/>
          <a:p>
            <a:pPr indent="0" marL="0">
              <a:buNone/>
            </a:pPr>
            <a:r>
              <a:rPr lang="en-US" sz="1300" dirty="0">
                <a:solidFill>
                  <a:schemeClr val="accent5"/>
                </a:solidFill>
              </a:rPr>
              <a:t>Leak check, normalization, OCR, alignment, training loop, app and launcher</a:t>
            </a:r>
            <a:endParaRPr lang="en-US" sz="1300" dirty="0"/>
          </a:p>
        </p:txBody>
      </p:sp>
      <p:sp>
        <p:nvSpPr>
          <p:cNvPr id="8" name="Stat card"/>
          <p:cNvSpPr/>
          <p:nvPr/>
        </p:nvSpPr>
        <p:spPr>
          <a:xfrm>
            <a:off x="4297680" y="1463040"/>
            <a:ext cx="3593592" cy="2286000"/>
          </a:xfrm>
          <a:prstGeom prst="roundRect">
            <a:avLst>
              <a:gd name="adj" fmla="val 4800"/>
            </a:avLst>
          </a:prstGeom>
          <a:solidFill>
            <a:schemeClr val="bg2"/>
          </a:solidFill>
          <a:ln w="12700">
            <a:solidFill>
              <a:schemeClr val="bg2"/>
            </a:solidFill>
            <a:prstDash val="solid"/>
          </a:ln>
        </p:spPr>
      </p:sp>
      <p:sp>
        <p:nvSpPr>
          <p:cNvPr id="9" name="Text 7"/>
          <p:cNvSpPr txBox="1"/>
          <p:nvPr/>
        </p:nvSpPr>
        <p:spPr>
          <a:xfrm>
            <a:off x="4572000" y="160020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Georgia" pitchFamily="34" charset="0"/>
                <a:ea typeface="Georgia" pitchFamily="34" charset="-122"/>
                <a:cs typeface="Georgia" pitchFamily="34" charset="-120"/>
              </a:rPr>
              <a:t>1</a:t>
            </a:r>
            <a:endParaRPr lang="en-US" sz="4800" dirty="0"/>
          </a:p>
        </p:txBody>
      </p:sp>
      <p:sp>
        <p:nvSpPr>
          <p:cNvPr id="10" name="Text 8"/>
          <p:cNvSpPr txBox="1"/>
          <p:nvPr/>
        </p:nvSpPr>
        <p:spPr>
          <a:xfrm>
            <a:off x="4572000" y="2423160"/>
            <a:ext cx="3108960" cy="365760"/>
          </a:xfrm>
          <a:prstGeom prst="rect">
            <a:avLst/>
          </a:prstGeom>
          <a:noFill/>
          <a:ln/>
        </p:spPr>
        <p:txBody>
          <a:bodyPr wrap="square" lIns="0" tIns="0" rIns="0" bIns="0" rtlCol="0" anchor="t"/>
          <a:lstStyle/>
          <a:p>
            <a:pPr indent="0" marL="0">
              <a:buNone/>
            </a:pPr>
            <a:r>
              <a:rPr lang="en-US" sz="1600" b="1" dirty="0">
                <a:solidFill>
                  <a:schemeClr val="tx1"/>
                </a:solidFill>
              </a:rPr>
              <a:t>command per stage</a:t>
            </a:r>
            <a:endParaRPr lang="en-US" sz="1600" dirty="0"/>
          </a:p>
        </p:txBody>
      </p:sp>
      <p:sp>
        <p:nvSpPr>
          <p:cNvPr id="11" name="Text 9"/>
          <p:cNvSpPr txBox="1"/>
          <p:nvPr/>
        </p:nvSpPr>
        <p:spPr>
          <a:xfrm>
            <a:off x="4572000" y="2834640"/>
            <a:ext cx="3108960" cy="868680"/>
          </a:xfrm>
          <a:prstGeom prst="rect">
            <a:avLst/>
          </a:prstGeom>
          <a:noFill/>
          <a:ln/>
        </p:spPr>
        <p:txBody>
          <a:bodyPr wrap="square" lIns="0" tIns="0" rIns="0" bIns="0" rtlCol="0" anchor="t"/>
          <a:lstStyle/>
          <a:p>
            <a:pPr indent="0" marL="0">
              <a:buNone/>
            </a:pPr>
            <a:r>
              <a:rPr lang="en-US" sz="1300" dirty="0">
                <a:solidFill>
                  <a:schemeClr val="accent5"/>
                </a:solidFill>
              </a:rPr>
              <a:t>Every step runs from the acehid command line</a:t>
            </a:r>
            <a:endParaRPr lang="en-US" sz="1300" dirty="0"/>
          </a:p>
        </p:txBody>
      </p:sp>
      <p:sp>
        <p:nvSpPr>
          <p:cNvPr id="12" name="Stat card"/>
          <p:cNvSpPr/>
          <p:nvPr/>
        </p:nvSpPr>
        <p:spPr>
          <a:xfrm>
            <a:off x="8046720" y="1463040"/>
            <a:ext cx="3593592" cy="2286000"/>
          </a:xfrm>
          <a:prstGeom prst="roundRect">
            <a:avLst>
              <a:gd name="adj" fmla="val 4800"/>
            </a:avLst>
          </a:prstGeom>
          <a:solidFill>
            <a:schemeClr val="bg2"/>
          </a:solidFill>
          <a:ln w="12700">
            <a:solidFill>
              <a:schemeClr val="bg2"/>
            </a:solidFill>
            <a:prstDash val="solid"/>
          </a:ln>
        </p:spPr>
      </p:sp>
      <p:sp>
        <p:nvSpPr>
          <p:cNvPr id="13" name="Text 11"/>
          <p:cNvSpPr txBox="1"/>
          <p:nvPr/>
        </p:nvSpPr>
        <p:spPr>
          <a:xfrm>
            <a:off x="8321040" y="1600200"/>
            <a:ext cx="3017520" cy="822960"/>
          </a:xfrm>
          <a:prstGeom prst="rect">
            <a:avLst/>
          </a:prstGeom>
          <a:noFill/>
          <a:ln/>
        </p:spPr>
        <p:txBody>
          <a:bodyPr wrap="square" lIns="0" tIns="0" rIns="0" bIns="0" rtlCol="0" anchor="t"/>
          <a:lstStyle/>
          <a:p>
            <a:pPr indent="0" marL="0">
              <a:buNone/>
            </a:pPr>
            <a:r>
              <a:rPr lang="en-US" sz="4800" b="1" dirty="0">
                <a:solidFill>
                  <a:schemeClr val="accent1"/>
                </a:solidFill>
                <a:latin typeface="Georgia" pitchFamily="34" charset="0"/>
                <a:ea typeface="Georgia" pitchFamily="34" charset="-122"/>
                <a:cs typeface="Georgia" pitchFamily="34" charset="-120"/>
              </a:rPr>
              <a:t>Git</a:t>
            </a:r>
            <a:endParaRPr lang="en-US" sz="4800" dirty="0"/>
          </a:p>
        </p:txBody>
      </p:sp>
      <p:sp>
        <p:nvSpPr>
          <p:cNvPr id="14" name="Text 12"/>
          <p:cNvSpPr txBox="1"/>
          <p:nvPr/>
        </p:nvSpPr>
        <p:spPr>
          <a:xfrm>
            <a:off x="8321040" y="2423160"/>
            <a:ext cx="3108960" cy="365760"/>
          </a:xfrm>
          <a:prstGeom prst="rect">
            <a:avLst/>
          </a:prstGeom>
          <a:noFill/>
          <a:ln/>
        </p:spPr>
        <p:txBody>
          <a:bodyPr wrap="square" lIns="0" tIns="0" rIns="0" bIns="0" rtlCol="0" anchor="t"/>
          <a:lstStyle/>
          <a:p>
            <a:pPr indent="0" marL="0">
              <a:buNone/>
            </a:pPr>
            <a:r>
              <a:rPr lang="en-US" sz="1600" b="1" dirty="0">
                <a:solidFill>
                  <a:schemeClr val="tx1"/>
                </a:solidFill>
              </a:rPr>
              <a:t>code and data in the repository</a:t>
            </a:r>
            <a:endParaRPr lang="en-US" sz="1600" dirty="0"/>
          </a:p>
        </p:txBody>
      </p:sp>
      <p:sp>
        <p:nvSpPr>
          <p:cNvPr id="15" name="Text 13"/>
          <p:cNvSpPr txBox="1"/>
          <p:nvPr/>
        </p:nvSpPr>
        <p:spPr>
          <a:xfrm>
            <a:off x="8321040" y="2834640"/>
            <a:ext cx="3108960" cy="868680"/>
          </a:xfrm>
          <a:prstGeom prst="rect">
            <a:avLst/>
          </a:prstGeom>
          <a:noFill/>
          <a:ln/>
        </p:spPr>
        <p:txBody>
          <a:bodyPr wrap="square" lIns="0" tIns="0" rIns="0" bIns="0" rtlCol="0" anchor="t"/>
          <a:lstStyle/>
          <a:p>
            <a:pPr indent="0" marL="0">
              <a:buNone/>
            </a:pPr>
            <a:r>
              <a:rPr lang="en-US" sz="1300" dirty="0">
                <a:solidFill>
                  <a:schemeClr val="accent5"/>
                </a:solidFill>
              </a:rPr>
              <a:t>Source list with licences in config/sources.csv</a:t>
            </a:r>
            <a:endParaRPr lang="en-US" sz="1300" dirty="0"/>
          </a:p>
        </p:txBody>
      </p:sp>
      <p:sp>
        <p:nvSpPr>
          <p:cNvPr id="16" name="Tools card"/>
          <p:cNvSpPr/>
          <p:nvPr/>
        </p:nvSpPr>
        <p:spPr>
          <a:xfrm>
            <a:off x="548640" y="4023360"/>
            <a:ext cx="5486400" cy="2194560"/>
          </a:xfrm>
          <a:prstGeom prst="roundRect">
            <a:avLst>
              <a:gd name="adj" fmla="val 5000"/>
            </a:avLst>
          </a:prstGeom>
          <a:solidFill>
            <a:schemeClr val="bg2"/>
          </a:solidFill>
          <a:ln w="12700">
            <a:solidFill>
              <a:schemeClr val="bg2"/>
            </a:solidFill>
            <a:prstDash val="solid"/>
          </a:ln>
        </p:spPr>
      </p:sp>
      <p:sp>
        <p:nvSpPr>
          <p:cNvPr id="17" name="Text 15"/>
          <p:cNvSpPr txBox="1"/>
          <p:nvPr/>
        </p:nvSpPr>
        <p:spPr>
          <a:xfrm>
            <a:off x="822960" y="4160520"/>
            <a:ext cx="4572000" cy="365760"/>
          </a:xfrm>
          <a:prstGeom prst="rect">
            <a:avLst/>
          </a:prstGeom>
          <a:noFill/>
          <a:ln/>
        </p:spPr>
        <p:txBody>
          <a:bodyPr wrap="square" lIns="0" tIns="0" rIns="0" bIns="0" rtlCol="0" anchor="t"/>
          <a:lstStyle/>
          <a:p>
            <a:pPr indent="0" marL="0">
              <a:buNone/>
            </a:pPr>
            <a:r>
              <a:rPr lang="en-US" sz="1800" b="1" dirty="0">
                <a:solidFill>
                  <a:schemeClr val="tx1"/>
                </a:solidFill>
              </a:rPr>
              <a:t>Tools</a:t>
            </a:r>
            <a:endParaRPr lang="en-US" sz="1800" dirty="0"/>
          </a:p>
        </p:txBody>
      </p:sp>
      <p:sp>
        <p:nvSpPr>
          <p:cNvPr id="18" name="Text 16"/>
          <p:cNvSpPr txBox="1"/>
          <p:nvPr/>
        </p:nvSpPr>
        <p:spPr>
          <a:xfrm>
            <a:off x="822960" y="4617720"/>
            <a:ext cx="4937760" cy="1463040"/>
          </a:xfrm>
          <a:prstGeom prst="rect">
            <a:avLst/>
          </a:prstGeom>
          <a:noFill/>
          <a:ln/>
        </p:spPr>
        <p:txBody>
          <a:bodyPr wrap="square" lIns="0" tIns="0" rIns="0" bIns="0" rtlCol="0" anchor="t"/>
          <a:lstStyle/>
          <a:p>
            <a:pPr indent="0" marL="0">
              <a:buNone/>
            </a:pPr>
            <a:r>
              <a:rPr lang="en-US" sz="1600" dirty="0">
                <a:solidFill>
                  <a:schemeClr val="accent5"/>
                </a:solidFill>
              </a:rPr>
              <a:t>Python  ·  PyTorch  ·  Transformers 5.19  ·  sentencepiece  ·  Gradio 6.29  ·  PyMuPDF  ·  RapidOCR  ·  rapidfuzz  ·  datasketch  ·  sacreBLEU  ·  Google Colab</a:t>
            </a:r>
            <a:endParaRPr lang="en-US" sz="1600" dirty="0"/>
          </a:p>
        </p:txBody>
      </p:sp>
      <p:sp>
        <p:nvSpPr>
          <p:cNvPr id="19" name="AI card"/>
          <p:cNvSpPr/>
          <p:nvPr/>
        </p:nvSpPr>
        <p:spPr>
          <a:xfrm>
            <a:off x="6245352" y="4023360"/>
            <a:ext cx="5394960" cy="2194560"/>
          </a:xfrm>
          <a:prstGeom prst="roundRect">
            <a:avLst>
              <a:gd name="adj" fmla="val 5000"/>
            </a:avLst>
          </a:prstGeom>
          <a:solidFill>
            <a:schemeClr val="tx2"/>
          </a:solidFill>
          <a:ln w="12700">
            <a:solidFill>
              <a:schemeClr val="tx2"/>
            </a:solidFill>
            <a:prstDash val="solid"/>
          </a:ln>
        </p:spPr>
      </p:sp>
      <p:sp>
        <p:nvSpPr>
          <p:cNvPr id="20" name="Text 18"/>
          <p:cNvSpPr txBox="1"/>
          <p:nvPr/>
        </p:nvSpPr>
        <p:spPr>
          <a:xfrm>
            <a:off x="6519672" y="4160520"/>
            <a:ext cx="4572000" cy="365760"/>
          </a:xfrm>
          <a:prstGeom prst="rect">
            <a:avLst/>
          </a:prstGeom>
          <a:noFill/>
          <a:ln/>
        </p:spPr>
        <p:txBody>
          <a:bodyPr wrap="square" lIns="0" tIns="0" rIns="0" bIns="0" rtlCol="0" anchor="t"/>
          <a:lstStyle/>
          <a:p>
            <a:pPr indent="0" marL="0">
              <a:buNone/>
            </a:pPr>
            <a:r>
              <a:rPr lang="en-US" sz="1800" b="1" dirty="0">
                <a:solidFill>
                  <a:schemeClr val="accent2"/>
                </a:solidFill>
              </a:rPr>
              <a:t>AI assistance</a:t>
            </a:r>
            <a:endParaRPr lang="en-US" sz="1800" dirty="0"/>
          </a:p>
        </p:txBody>
      </p:sp>
      <p:sp>
        <p:nvSpPr>
          <p:cNvPr id="21" name="Text 19"/>
          <p:cNvSpPr txBox="1"/>
          <p:nvPr/>
        </p:nvSpPr>
        <p:spPr>
          <a:xfrm>
            <a:off x="6519672" y="4617720"/>
            <a:ext cx="4846320" cy="1463040"/>
          </a:xfrm>
          <a:prstGeom prst="rect">
            <a:avLst/>
          </a:prstGeom>
          <a:noFill/>
          <a:ln/>
        </p:spPr>
        <p:txBody>
          <a:bodyPr wrap="square" lIns="0" tIns="0" rIns="0" bIns="0" rtlCol="0" anchor="t"/>
          <a:lstStyle/>
          <a:p>
            <a:pPr indent="0" marL="0">
              <a:buNone/>
            </a:pPr>
            <a:r>
              <a:rPr lang="en-US" sz="1600" dirty="0">
                <a:solidFill>
                  <a:schemeClr val="bg1"/>
                </a:solidFill>
              </a:rPr>
              <a:t>We used Claude, an AI assistant, to write much of the code. The team chose the data sources, the split rules and the evaluation, ran the training, and checked the results.</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RESPONSIBLE USE</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Licences and credits</a:t>
            </a:r>
            <a:endParaRPr lang="en-US" sz="3600" dirty="0"/>
          </a:p>
        </p:txBody>
      </p:sp>
      <p:sp>
        <p:nvSpPr>
          <p:cNvPr id="4" name="Credit card"/>
          <p:cNvSpPr/>
          <p:nvPr/>
        </p:nvSpPr>
        <p:spPr>
          <a:xfrm>
            <a:off x="548640" y="1463040"/>
            <a:ext cx="5468112" cy="2240280"/>
          </a:xfrm>
          <a:prstGeom prst="roundRect">
            <a:avLst>
              <a:gd name="adj" fmla="val 4898"/>
            </a:avLst>
          </a:prstGeom>
          <a:solidFill>
            <a:schemeClr val="bg2"/>
          </a:solidFill>
          <a:ln w="12700">
            <a:solidFill>
              <a:schemeClr val="bg2"/>
            </a:solidFill>
            <a:prstDash val="solid"/>
          </a:ln>
        </p:spPr>
      </p:sp>
      <p:sp>
        <p:nvSpPr>
          <p:cNvPr id="5" name="Icon circle"/>
          <p:cNvSpPr/>
          <p:nvPr/>
        </p:nvSpPr>
        <p:spPr>
          <a:xfrm>
            <a:off x="822960" y="1737360"/>
            <a:ext cx="685800" cy="685800"/>
          </a:xfrm>
          <a:prstGeom prst="ellipse">
            <a:avLst/>
          </a:prstGeom>
          <a:solidFill>
            <a:schemeClr val="accent1"/>
          </a:solidFill>
          <a:ln w="12700">
            <a:solidFill>
              <a:schemeClr val="accent1"/>
            </a:solidFill>
            <a:prstDash val="solid"/>
          </a:ln>
        </p:spPr>
      </p:sp>
      <p:pic>
        <p:nvPicPr>
          <p:cNvPr id="6" name="Image 0" descr="ShieldAlt icon">    </p:cNvPr>
          <p:cNvPicPr>
            <a:picLocks noChangeAspect="1"/>
          </p:cNvPicPr>
          <p:nvPr/>
        </p:nvPicPr>
        <p:blipFill>
          <a:blip r:embed="rId1"/>
          <a:stretch>
            <a:fillRect/>
          </a:stretch>
        </p:blipFill>
        <p:spPr>
          <a:xfrm>
            <a:off x="1008126" y="1922526"/>
            <a:ext cx="315468" cy="315468"/>
          </a:xfrm>
          <a:prstGeom prst="rect">
            <a:avLst/>
          </a:prstGeom>
        </p:spPr>
      </p:pic>
      <p:sp>
        <p:nvSpPr>
          <p:cNvPr id="7" name="Text 4"/>
          <p:cNvSpPr txBox="1"/>
          <p:nvPr/>
        </p:nvSpPr>
        <p:spPr>
          <a:xfrm>
            <a:off x="1737360" y="1783080"/>
            <a:ext cx="4023360" cy="457200"/>
          </a:xfrm>
          <a:prstGeom prst="rect">
            <a:avLst/>
          </a:prstGeom>
          <a:noFill/>
          <a:ln/>
        </p:spPr>
        <p:txBody>
          <a:bodyPr wrap="square" lIns="0" tIns="0" rIns="0" bIns="0" rtlCol="0" anchor="ctr"/>
          <a:lstStyle/>
          <a:p>
            <a:pPr indent="0" marL="0">
              <a:buNone/>
            </a:pPr>
            <a:r>
              <a:rPr lang="en-US" sz="1800" b="1" dirty="0">
                <a:solidFill>
                  <a:schemeClr val="tx1"/>
                </a:solidFill>
              </a:rPr>
              <a:t>Model</a:t>
            </a:r>
            <a:endParaRPr lang="en-US" sz="1800" dirty="0"/>
          </a:p>
        </p:txBody>
      </p:sp>
      <p:sp>
        <p:nvSpPr>
          <p:cNvPr id="8" name="Text 5"/>
          <p:cNvSpPr txBox="1"/>
          <p:nvPr/>
        </p:nvSpPr>
        <p:spPr>
          <a:xfrm>
            <a:off x="822960" y="2560320"/>
            <a:ext cx="4937760" cy="1051560"/>
          </a:xfrm>
          <a:prstGeom prst="rect">
            <a:avLst/>
          </a:prstGeom>
          <a:noFill/>
          <a:ln/>
        </p:spPr>
        <p:txBody>
          <a:bodyPr wrap="square" lIns="0" tIns="0" rIns="0" bIns="0" rtlCol="0" anchor="t"/>
          <a:lstStyle/>
          <a:p>
            <a:pPr indent="0" marL="0">
              <a:buNone/>
            </a:pPr>
            <a:r>
              <a:rPr lang="en-US" sz="1600" dirty="0">
                <a:solidFill>
                  <a:schemeClr val="accent5"/>
                </a:solidFill>
              </a:rPr>
              <a:t>NLLB-200 weights are CC-BY-NC 4.0, so our fine-tuned model is for research and teaching, not commercial use.</a:t>
            </a:r>
            <a:endParaRPr lang="en-US" sz="1600" dirty="0"/>
          </a:p>
        </p:txBody>
      </p:sp>
      <p:sp>
        <p:nvSpPr>
          <p:cNvPr id="9" name="Credit card"/>
          <p:cNvSpPr/>
          <p:nvPr/>
        </p:nvSpPr>
        <p:spPr>
          <a:xfrm>
            <a:off x="6172200" y="1463040"/>
            <a:ext cx="5468112" cy="2240280"/>
          </a:xfrm>
          <a:prstGeom prst="roundRect">
            <a:avLst>
              <a:gd name="adj" fmla="val 4898"/>
            </a:avLst>
          </a:prstGeom>
          <a:solidFill>
            <a:schemeClr val="bg2"/>
          </a:solidFill>
          <a:ln w="12700">
            <a:solidFill>
              <a:schemeClr val="bg2"/>
            </a:solidFill>
            <a:prstDash val="solid"/>
          </a:ln>
        </p:spPr>
      </p:sp>
      <p:sp>
        <p:nvSpPr>
          <p:cNvPr id="10" name="Icon circle"/>
          <p:cNvSpPr/>
          <p:nvPr/>
        </p:nvSpPr>
        <p:spPr>
          <a:xfrm>
            <a:off x="6446520" y="1737360"/>
            <a:ext cx="685800" cy="685800"/>
          </a:xfrm>
          <a:prstGeom prst="ellipse">
            <a:avLst/>
          </a:prstGeom>
          <a:solidFill>
            <a:schemeClr val="accent1"/>
          </a:solidFill>
          <a:ln w="12700">
            <a:solidFill>
              <a:schemeClr val="accent1"/>
            </a:solidFill>
            <a:prstDash val="solid"/>
          </a:ln>
        </p:spPr>
      </p:sp>
      <p:pic>
        <p:nvPicPr>
          <p:cNvPr id="11" name="Image 1" descr="Database icon">    </p:cNvPr>
          <p:cNvPicPr>
            <a:picLocks noChangeAspect="1"/>
          </p:cNvPicPr>
          <p:nvPr/>
        </p:nvPicPr>
        <p:blipFill>
          <a:blip r:embed="rId2"/>
          <a:stretch>
            <a:fillRect/>
          </a:stretch>
        </p:blipFill>
        <p:spPr>
          <a:xfrm>
            <a:off x="6631686" y="1922526"/>
            <a:ext cx="315468" cy="315468"/>
          </a:xfrm>
          <a:prstGeom prst="rect">
            <a:avLst/>
          </a:prstGeom>
        </p:spPr>
      </p:pic>
      <p:sp>
        <p:nvSpPr>
          <p:cNvPr id="12" name="Text 8"/>
          <p:cNvSpPr txBox="1"/>
          <p:nvPr/>
        </p:nvSpPr>
        <p:spPr>
          <a:xfrm>
            <a:off x="7360920" y="1783080"/>
            <a:ext cx="4023360" cy="457200"/>
          </a:xfrm>
          <a:prstGeom prst="rect">
            <a:avLst/>
          </a:prstGeom>
          <a:noFill/>
          <a:ln/>
        </p:spPr>
        <p:txBody>
          <a:bodyPr wrap="square" lIns="0" tIns="0" rIns="0" bIns="0" rtlCol="0" anchor="ctr"/>
          <a:lstStyle/>
          <a:p>
            <a:pPr indent="0" marL="0">
              <a:buNone/>
            </a:pPr>
            <a:r>
              <a:rPr lang="en-US" sz="1800" b="1" dirty="0">
                <a:solidFill>
                  <a:schemeClr val="tx1"/>
                </a:solidFill>
              </a:rPr>
              <a:t>Open data</a:t>
            </a:r>
            <a:endParaRPr lang="en-US" sz="1800" dirty="0"/>
          </a:p>
        </p:txBody>
      </p:sp>
      <p:sp>
        <p:nvSpPr>
          <p:cNvPr id="13" name="Text 9"/>
          <p:cNvSpPr txBox="1"/>
          <p:nvPr/>
        </p:nvSpPr>
        <p:spPr>
          <a:xfrm>
            <a:off x="6446520" y="2560320"/>
            <a:ext cx="4937760" cy="1051560"/>
          </a:xfrm>
          <a:prstGeom prst="rect">
            <a:avLst/>
          </a:prstGeom>
          <a:noFill/>
          <a:ln/>
        </p:spPr>
        <p:txBody>
          <a:bodyPr wrap="square" lIns="0" tIns="0" rIns="0" bIns="0" rtlCol="0" anchor="t"/>
          <a:lstStyle/>
          <a:p>
            <a:pPr indent="0" marL="0">
              <a:buNone/>
            </a:pPr>
            <a:r>
              <a:rPr lang="en-US" sz="1600" dirty="0">
                <a:solidFill>
                  <a:schemeClr val="accent5"/>
                </a:solidFill>
              </a:rPr>
              <a:t>NusaX, FLORES, NLLB-Seed and Wikipedia are CC-BY-SA 4.0 and credited to their authors.</a:t>
            </a:r>
            <a:endParaRPr lang="en-US" sz="1600" dirty="0"/>
          </a:p>
        </p:txBody>
      </p:sp>
      <p:sp>
        <p:nvSpPr>
          <p:cNvPr id="14" name="Credit card"/>
          <p:cNvSpPr/>
          <p:nvPr/>
        </p:nvSpPr>
        <p:spPr>
          <a:xfrm>
            <a:off x="548640" y="3886200"/>
            <a:ext cx="5468112" cy="2240280"/>
          </a:xfrm>
          <a:prstGeom prst="roundRect">
            <a:avLst>
              <a:gd name="adj" fmla="val 4898"/>
            </a:avLst>
          </a:prstGeom>
          <a:solidFill>
            <a:schemeClr val="bg2"/>
          </a:solidFill>
          <a:ln w="12700">
            <a:solidFill>
              <a:schemeClr val="bg2"/>
            </a:solidFill>
            <a:prstDash val="solid"/>
          </a:ln>
        </p:spPr>
      </p:sp>
      <p:sp>
        <p:nvSpPr>
          <p:cNvPr id="15" name="Icon circle"/>
          <p:cNvSpPr/>
          <p:nvPr/>
        </p:nvSpPr>
        <p:spPr>
          <a:xfrm>
            <a:off x="822960" y="4160520"/>
            <a:ext cx="685800" cy="685800"/>
          </a:xfrm>
          <a:prstGeom prst="ellipse">
            <a:avLst/>
          </a:prstGeom>
          <a:solidFill>
            <a:schemeClr val="accent1"/>
          </a:solidFill>
          <a:ln w="12700">
            <a:solidFill>
              <a:schemeClr val="accent1"/>
            </a:solidFill>
            <a:prstDash val="solid"/>
          </a:ln>
        </p:spPr>
      </p:sp>
      <p:pic>
        <p:nvPicPr>
          <p:cNvPr id="16" name="Image 2" descr="Book icon">    </p:cNvPr>
          <p:cNvPicPr>
            <a:picLocks noChangeAspect="1"/>
          </p:cNvPicPr>
          <p:nvPr/>
        </p:nvPicPr>
        <p:blipFill>
          <a:blip r:embed="rId3"/>
          <a:stretch>
            <a:fillRect/>
          </a:stretch>
        </p:blipFill>
        <p:spPr>
          <a:xfrm>
            <a:off x="1008126" y="4345686"/>
            <a:ext cx="315468" cy="315468"/>
          </a:xfrm>
          <a:prstGeom prst="rect">
            <a:avLst/>
          </a:prstGeom>
        </p:spPr>
      </p:pic>
      <p:sp>
        <p:nvSpPr>
          <p:cNvPr id="17" name="Text 12"/>
          <p:cNvSpPr txBox="1"/>
          <p:nvPr/>
        </p:nvSpPr>
        <p:spPr>
          <a:xfrm>
            <a:off x="1737360" y="4206240"/>
            <a:ext cx="4023360" cy="457200"/>
          </a:xfrm>
          <a:prstGeom prst="rect">
            <a:avLst/>
          </a:prstGeom>
          <a:noFill/>
          <a:ln/>
        </p:spPr>
        <p:txBody>
          <a:bodyPr wrap="square" lIns="0" tIns="0" rIns="0" bIns="0" rtlCol="0" anchor="ctr"/>
          <a:lstStyle/>
          <a:p>
            <a:pPr indent="0" marL="0">
              <a:buNone/>
            </a:pPr>
            <a:r>
              <a:rPr lang="en-US" sz="1800" b="1" dirty="0">
                <a:solidFill>
                  <a:schemeClr val="tx1"/>
                </a:solidFill>
              </a:rPr>
              <a:t>Books and thesis</a:t>
            </a:r>
            <a:endParaRPr lang="en-US" sz="1800" dirty="0"/>
          </a:p>
        </p:txBody>
      </p:sp>
      <p:sp>
        <p:nvSpPr>
          <p:cNvPr id="18" name="Text 13"/>
          <p:cNvSpPr txBox="1"/>
          <p:nvPr/>
        </p:nvSpPr>
        <p:spPr>
          <a:xfrm>
            <a:off x="822960" y="4983480"/>
            <a:ext cx="4937760" cy="1051560"/>
          </a:xfrm>
          <a:prstGeom prst="rect">
            <a:avLst/>
          </a:prstGeom>
          <a:noFill/>
          <a:ln/>
        </p:spPr>
        <p:txBody>
          <a:bodyPr wrap="square" lIns="0" tIns="0" rIns="0" bIns="0" rtlCol="0" anchor="t"/>
          <a:lstStyle/>
          <a:p>
            <a:pPr indent="0" marL="0">
              <a:buNone/>
            </a:pPr>
            <a:r>
              <a:rPr lang="en-US" sz="1600" dirty="0">
                <a:solidFill>
                  <a:schemeClr val="accent5"/>
                </a:solidFill>
              </a:rPr>
              <a:t>Depdikbud (Hikayat Abu Sammah), Inayati (Hikayat Malik Mawot), Kemenag and Tgk. Mahjiddin Jusuf (Quran), Balai Bahasa Aceh (Kamus Budaya).</a:t>
            </a:r>
            <a:endParaRPr lang="en-US" sz="1600" dirty="0"/>
          </a:p>
        </p:txBody>
      </p:sp>
      <p:sp>
        <p:nvSpPr>
          <p:cNvPr id="19" name="Credit card"/>
          <p:cNvSpPr/>
          <p:nvPr/>
        </p:nvSpPr>
        <p:spPr>
          <a:xfrm>
            <a:off x="6172200" y="3886200"/>
            <a:ext cx="5468112" cy="2240280"/>
          </a:xfrm>
          <a:prstGeom prst="roundRect">
            <a:avLst>
              <a:gd name="adj" fmla="val 4898"/>
            </a:avLst>
          </a:prstGeom>
          <a:solidFill>
            <a:schemeClr val="bg2"/>
          </a:solidFill>
          <a:ln w="12700">
            <a:solidFill>
              <a:schemeClr val="bg2"/>
            </a:solidFill>
            <a:prstDash val="solid"/>
          </a:ln>
        </p:spPr>
      </p:sp>
      <p:sp>
        <p:nvSpPr>
          <p:cNvPr id="20" name="Icon circle"/>
          <p:cNvSpPr/>
          <p:nvPr/>
        </p:nvSpPr>
        <p:spPr>
          <a:xfrm>
            <a:off x="6446520" y="4160520"/>
            <a:ext cx="685800" cy="685800"/>
          </a:xfrm>
          <a:prstGeom prst="ellipse">
            <a:avLst/>
          </a:prstGeom>
          <a:solidFill>
            <a:schemeClr val="accent1"/>
          </a:solidFill>
          <a:ln w="12700">
            <a:solidFill>
              <a:schemeClr val="accent1"/>
            </a:solidFill>
            <a:prstDash val="solid"/>
          </a:ln>
        </p:spPr>
      </p:sp>
      <p:pic>
        <p:nvPicPr>
          <p:cNvPr id="21" name="Image 3" descr="FileAlt icon">    </p:cNvPr>
          <p:cNvPicPr>
            <a:picLocks noChangeAspect="1"/>
          </p:cNvPicPr>
          <p:nvPr/>
        </p:nvPicPr>
        <p:blipFill>
          <a:blip r:embed="rId4"/>
          <a:stretch>
            <a:fillRect/>
          </a:stretch>
        </p:blipFill>
        <p:spPr>
          <a:xfrm>
            <a:off x="6631686" y="4345686"/>
            <a:ext cx="315468" cy="315468"/>
          </a:xfrm>
          <a:prstGeom prst="rect">
            <a:avLst/>
          </a:prstGeom>
        </p:spPr>
      </p:pic>
      <p:sp>
        <p:nvSpPr>
          <p:cNvPr id="22" name="Text 16"/>
          <p:cNvSpPr txBox="1"/>
          <p:nvPr/>
        </p:nvSpPr>
        <p:spPr>
          <a:xfrm>
            <a:off x="7360920" y="4206240"/>
            <a:ext cx="4023360" cy="457200"/>
          </a:xfrm>
          <a:prstGeom prst="rect">
            <a:avLst/>
          </a:prstGeom>
          <a:noFill/>
          <a:ln/>
        </p:spPr>
        <p:txBody>
          <a:bodyPr wrap="square" lIns="0" tIns="0" rIns="0" bIns="0" rtlCol="0" anchor="ctr"/>
          <a:lstStyle/>
          <a:p>
            <a:pPr indent="0" marL="0">
              <a:buNone/>
            </a:pPr>
            <a:r>
              <a:rPr lang="en-US" sz="1800" b="1" dirty="0">
                <a:solidFill>
                  <a:schemeClr val="tx1"/>
                </a:solidFill>
              </a:rPr>
              <a:t>Source inventory</a:t>
            </a:r>
            <a:endParaRPr lang="en-US" sz="1800" dirty="0"/>
          </a:p>
        </p:txBody>
      </p:sp>
      <p:sp>
        <p:nvSpPr>
          <p:cNvPr id="23" name="Text 17"/>
          <p:cNvSpPr txBox="1"/>
          <p:nvPr/>
        </p:nvSpPr>
        <p:spPr>
          <a:xfrm>
            <a:off x="6446520" y="4983480"/>
            <a:ext cx="4937760" cy="1051560"/>
          </a:xfrm>
          <a:prstGeom prst="rect">
            <a:avLst/>
          </a:prstGeom>
          <a:noFill/>
          <a:ln/>
        </p:spPr>
        <p:txBody>
          <a:bodyPr wrap="square" lIns="0" tIns="0" rIns="0" bIns="0" rtlCol="0" anchor="t"/>
          <a:lstStyle/>
          <a:p>
            <a:pPr indent="0" marL="0">
              <a:buNone/>
            </a:pPr>
            <a:r>
              <a:rPr lang="en-US" sz="1600" dirty="0">
                <a:solidFill>
                  <a:schemeClr val="accent5"/>
                </a:solidFill>
              </a:rPr>
              <a:t>Every source, its licence and how we used it is recorded in config/sources.csv.</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label"/>
          <p:cNvSpPr txBox="1"/>
          <p:nvPr/>
        </p:nvSpPr>
        <p:spPr>
          <a:xfrm>
            <a:off x="548640" y="201168"/>
            <a:ext cx="7315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CONCLUSION</a:t>
            </a:r>
            <a:endParaRPr lang="en-US" sz="1200" dirty="0"/>
          </a:p>
        </p:txBody>
      </p:sp>
      <p:sp>
        <p:nvSpPr>
          <p:cNvPr id="3" name="Text 0"/>
          <p:cNvSpPr/>
          <p:nvPr>
            <p:ph idx="100" type="title" hasCustomPrompt="1"/>
          </p:nvPr>
        </p:nvSpPr>
        <p:spPr>
          <a:xfrm>
            <a:off x="548640" y="45720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we achieved and what comes next</a:t>
            </a:r>
            <a:endParaRPr lang="en-US" sz="3600" dirty="0"/>
          </a:p>
        </p:txBody>
      </p:sp>
      <p:sp>
        <p:nvSpPr>
          <p:cNvPr id="4" name="Achieved card"/>
          <p:cNvSpPr/>
          <p:nvPr/>
        </p:nvSpPr>
        <p:spPr>
          <a:xfrm>
            <a:off x="548640" y="1417320"/>
            <a:ext cx="5486400" cy="4800600"/>
          </a:xfrm>
          <a:prstGeom prst="roundRect">
            <a:avLst>
              <a:gd name="adj" fmla="val 2286"/>
            </a:avLst>
          </a:prstGeom>
          <a:solidFill>
            <a:schemeClr val="bg2"/>
          </a:solidFill>
          <a:ln w="12700">
            <a:solidFill>
              <a:schemeClr val="bg2"/>
            </a:solidFill>
            <a:prstDash val="solid"/>
          </a:ln>
        </p:spPr>
      </p:sp>
      <p:sp>
        <p:nvSpPr>
          <p:cNvPr id="5" name="Text 3"/>
          <p:cNvSpPr txBox="1"/>
          <p:nvPr/>
        </p:nvSpPr>
        <p:spPr>
          <a:xfrm>
            <a:off x="822960" y="1554480"/>
            <a:ext cx="4572000" cy="411480"/>
          </a:xfrm>
          <a:prstGeom prst="rect">
            <a:avLst/>
          </a:prstGeom>
          <a:noFill/>
          <a:ln/>
        </p:spPr>
        <p:txBody>
          <a:bodyPr wrap="square" lIns="0" tIns="0" rIns="0" bIns="0" rtlCol="0" anchor="t"/>
          <a:lstStyle/>
          <a:p>
            <a:pPr indent="0" marL="0">
              <a:buNone/>
            </a:pPr>
            <a:r>
              <a:rPr lang="en-US" sz="2000" b="1" dirty="0">
                <a:solidFill>
                  <a:schemeClr val="accent1"/>
                </a:solidFill>
              </a:rPr>
              <a:t>Achieved</a:t>
            </a:r>
            <a:endParaRPr lang="en-US" sz="2000" dirty="0"/>
          </a:p>
        </p:txBody>
      </p:sp>
      <p:sp>
        <p:nvSpPr>
          <p:cNvPr id="6" name="Text 4"/>
          <p:cNvSpPr txBox="1"/>
          <p:nvPr/>
        </p:nvSpPr>
        <p:spPr>
          <a:xfrm>
            <a:off x="822960" y="2103120"/>
            <a:ext cx="4937760" cy="40233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Collected and cleaned 17,547 pairs from nine sources</a:t>
            </a:r>
            <a:endParaRPr lang="en-US" sz="1800" dirty="0"/>
          </a:p>
          <a:p>
            <a:pPr marL="342900" indent="-342900">
              <a:spcAft>
                <a:spcPts val="1400"/>
              </a:spcAft>
              <a:buSzPct val="100000"/>
              <a:buChar char="•"/>
            </a:pPr>
            <a:r>
              <a:rPr lang="en-US" sz="1800" dirty="0">
                <a:solidFill>
                  <a:schemeClr val="tx1"/>
                </a:solidFill>
              </a:rPr>
              <a:t>Fine-tuned NLLB-200: NusaX 38.7 → 57.1, FLORES 46.3 → 52.8, hikayat 24.0 → 60.9 chrF++</a:t>
            </a:r>
            <a:endParaRPr lang="en-US" sz="1800" dirty="0"/>
          </a:p>
          <a:p>
            <a:pPr marL="342900" indent="-342900">
              <a:spcAft>
                <a:spcPts val="1400"/>
              </a:spcAft>
              <a:buSzPct val="100000"/>
              <a:buChar char="•"/>
            </a:pPr>
            <a:r>
              <a:rPr lang="en-US" sz="1800" dirty="0">
                <a:solidFill>
                  <a:schemeClr val="tx1"/>
                </a:solidFill>
              </a:rPr>
              <a:t>Compared direct, transfer and neural approaches on the same test set</a:t>
            </a:r>
            <a:endParaRPr lang="en-US" sz="1800" dirty="0"/>
          </a:p>
          <a:p>
            <a:pPr marL="342900" indent="-342900">
              <a:spcAft>
                <a:spcPts val="1400"/>
              </a:spcAft>
              <a:buSzPct val="100000"/>
              <a:buChar char="•"/>
            </a:pPr>
            <a:r>
              <a:rPr lang="en-US" sz="1800" dirty="0">
                <a:solidFill>
                  <a:schemeClr val="tx1"/>
                </a:solidFill>
              </a:rPr>
              <a:t>Added pivot augmentation and dictionary disambiguation</a:t>
            </a:r>
            <a:endParaRPr lang="en-US" sz="1800" dirty="0"/>
          </a:p>
          <a:p>
            <a:pPr marL="342900" indent="-342900">
              <a:spcAft>
                <a:spcPts val="1400"/>
              </a:spcAft>
              <a:buSzPct val="100000"/>
              <a:buChar char="•"/>
            </a:pPr>
            <a:r>
              <a:rPr lang="en-US" sz="1800" dirty="0">
                <a:solidFill>
                  <a:schemeClr val="tx1"/>
                </a:solidFill>
              </a:rPr>
              <a:t>Delivered a local, offline app with encoder and decoder view</a:t>
            </a:r>
            <a:endParaRPr lang="en-US" sz="1800" dirty="0"/>
          </a:p>
        </p:txBody>
      </p:sp>
      <p:sp>
        <p:nvSpPr>
          <p:cNvPr id="7" name="Next card"/>
          <p:cNvSpPr/>
          <p:nvPr/>
        </p:nvSpPr>
        <p:spPr>
          <a:xfrm>
            <a:off x="6245352" y="1417320"/>
            <a:ext cx="5394960" cy="4800600"/>
          </a:xfrm>
          <a:prstGeom prst="roundRect">
            <a:avLst>
              <a:gd name="adj" fmla="val 2286"/>
            </a:avLst>
          </a:prstGeom>
          <a:solidFill>
            <a:schemeClr val="tx2"/>
          </a:solidFill>
          <a:ln w="12700">
            <a:solidFill>
              <a:schemeClr val="tx2"/>
            </a:solidFill>
            <a:prstDash val="solid"/>
          </a:ln>
        </p:spPr>
      </p:sp>
      <p:sp>
        <p:nvSpPr>
          <p:cNvPr id="8" name="Text 6"/>
          <p:cNvSpPr txBox="1"/>
          <p:nvPr/>
        </p:nvSpPr>
        <p:spPr>
          <a:xfrm>
            <a:off x="6519672" y="1554480"/>
            <a:ext cx="4572000" cy="411480"/>
          </a:xfrm>
          <a:prstGeom prst="rect">
            <a:avLst/>
          </a:prstGeom>
          <a:noFill/>
          <a:ln/>
        </p:spPr>
        <p:txBody>
          <a:bodyPr wrap="square" lIns="0" tIns="0" rIns="0" bIns="0" rtlCol="0" anchor="t"/>
          <a:lstStyle/>
          <a:p>
            <a:pPr indent="0" marL="0">
              <a:buNone/>
            </a:pPr>
            <a:r>
              <a:rPr lang="en-US" sz="2000" b="1" dirty="0">
                <a:solidFill>
                  <a:schemeClr val="accent2"/>
                </a:solidFill>
              </a:rPr>
              <a:t>Next steps</a:t>
            </a:r>
            <a:endParaRPr lang="en-US" sz="2000" dirty="0"/>
          </a:p>
        </p:txBody>
      </p:sp>
      <p:sp>
        <p:nvSpPr>
          <p:cNvPr id="9" name="Text 7"/>
          <p:cNvSpPr txBox="1"/>
          <p:nvPr/>
        </p:nvSpPr>
        <p:spPr>
          <a:xfrm>
            <a:off x="6519672" y="2103120"/>
            <a:ext cx="4846320" cy="40233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bg1"/>
                </a:solidFill>
              </a:rPr>
              <a:t>Add more team translations, each checked by a second speaker</a:t>
            </a:r>
            <a:endParaRPr lang="en-US" sz="1800" dirty="0"/>
          </a:p>
          <a:p>
            <a:pPr marL="342900" indent="-342900">
              <a:spcAft>
                <a:spcPts val="1400"/>
              </a:spcAft>
              <a:buSzPct val="100000"/>
              <a:buChar char="•"/>
            </a:pPr>
            <a:r>
              <a:rPr lang="en-US" sz="1800" dirty="0">
                <a:solidFill>
                  <a:schemeClr val="bg1"/>
                </a:solidFill>
              </a:rPr>
              <a:t>Measure each data source's contribution by training with and without it</a:t>
            </a:r>
            <a:endParaRPr lang="en-US" sz="1800" dirty="0"/>
          </a:p>
          <a:p>
            <a:pPr marL="342900" indent="-342900">
              <a:spcAft>
                <a:spcPts val="1400"/>
              </a:spcAft>
              <a:buSzPct val="100000"/>
              <a:buChar char="•"/>
            </a:pPr>
            <a:r>
              <a:rPr lang="en-US" sz="1800" dirty="0">
                <a:solidFill>
                  <a:schemeClr val="bg1"/>
                </a:solidFill>
              </a:rPr>
              <a:t>Extend augmentation with back-translation</a:t>
            </a:r>
            <a:endParaRPr lang="en-US" sz="1800" dirty="0"/>
          </a:p>
          <a:p>
            <a:pPr marL="342900" indent="-342900">
              <a:spcAft>
                <a:spcPts val="1400"/>
              </a:spcAft>
              <a:buSzPct val="100000"/>
              <a:buChar char="•"/>
            </a:pPr>
            <a:r>
              <a:rPr lang="en-US" sz="1800" dirty="0">
                <a:solidFill>
                  <a:schemeClr val="bg1"/>
                </a:solidFill>
              </a:rPr>
              <a:t>Offer a hosted version of the app</a:t>
            </a:r>
            <a:endParaRPr lang="en-US" sz="18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132320" cy="2194560"/>
          </a:xfrm>
          <a:prstGeom prst="rect">
            <a:avLst/>
          </a:prstGeom>
          <a:noFill/>
          <a:ln/>
        </p:spPr>
        <p:txBody>
          <a:bodyPr wrap="square" lIns="0" tIns="0" rIns="0" bIns="0" rtlCol="0" anchor="t"/>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731520" y="4206240"/>
            <a:ext cx="6949440" cy="914400"/>
          </a:xfrm>
          <a:prstGeom prst="rect">
            <a:avLst/>
          </a:prstGeom>
          <a:noFill/>
          <a:ln/>
        </p:spPr>
        <p:txBody>
          <a:bodyPr wrap="square" lIns="0" tIns="0" rIns="0" bIns="0" rtlCol="0" anchor="t"/>
          <a:lstStyle/>
          <a:p>
            <a:pPr indent="0" marL="0">
              <a:buNone/>
            </a:pPr>
            <a:r>
              <a:rPr lang="en-US" sz="2200" dirty="0">
                <a:solidFill>
                  <a:schemeClr val="bg2"/>
                </a:solidFill>
              </a:rPr>
              <a:t>Questions and discussion</a:t>
            </a:r>
            <a:endParaRPr lang="en-US" sz="2200" dirty="0"/>
          </a:p>
        </p:txBody>
      </p:sp>
      <p:sp>
        <p:nvSpPr>
          <p:cNvPr id="4" name="Text 2"/>
          <p:cNvSpPr txBox="1"/>
          <p:nvPr/>
        </p:nvSpPr>
        <p:spPr>
          <a:xfrm>
            <a:off x="731520" y="5852160"/>
            <a:ext cx="8229600" cy="365760"/>
          </a:xfrm>
          <a:prstGeom prst="rect">
            <a:avLst/>
          </a:prstGeom>
          <a:noFill/>
          <a:ln/>
        </p:spPr>
        <p:txBody>
          <a:bodyPr wrap="square" lIns="0" tIns="0" rIns="0" bIns="0" rtlCol="0" anchor="t"/>
          <a:lstStyle/>
          <a:p>
            <a:pPr indent="0" marL="0">
              <a:buNone/>
            </a:pPr>
            <a:r>
              <a:rPr lang="en-US" sz="1400" dirty="0">
                <a:solidFill>
                  <a:schemeClr val="accent6"/>
                </a:solidFill>
              </a:rPr>
              <a:t>Code and data: github.com/Mutaib-yye/aceh_code</a:t>
            </a:r>
            <a:endParaRPr lang="en-US" sz="1400" dirty="0"/>
          </a:p>
        </p:txBody>
      </p:sp>
      <p:sp>
        <p:nvSpPr>
          <p:cNvPr id="5" name="Decor circle"/>
          <p:cNvSpPr/>
          <p:nvPr/>
        </p:nvSpPr>
        <p:spPr>
          <a:xfrm>
            <a:off x="8138160" y="914400"/>
            <a:ext cx="3291840" cy="3291840"/>
          </a:xfrm>
          <a:prstGeom prst="ellipse">
            <a:avLst/>
          </a:prstGeom>
          <a:solidFill>
            <a:srgbClr val="0D9488">
              <a:alpha val="75000"/>
            </a:srgbClr>
          </a:solidFill>
          <a:ln w="12700">
            <a:solidFill>
              <a:srgbClr val="0D9488"/>
            </a:solidFill>
            <a:prstDash val="solid"/>
          </a:ln>
        </p:spPr>
      </p:sp>
      <p:sp>
        <p:nvSpPr>
          <p:cNvPr id="6" name="Decor circle"/>
          <p:cNvSpPr/>
          <p:nvPr/>
        </p:nvSpPr>
        <p:spPr>
          <a:xfrm>
            <a:off x="9692640" y="2926080"/>
            <a:ext cx="2286000" cy="2286000"/>
          </a:xfrm>
          <a:prstGeom prst="ellipse">
            <a:avLst/>
          </a:prstGeom>
          <a:solidFill>
            <a:srgbClr val="E9A23B">
              <a:alpha val="80000"/>
            </a:srgbClr>
          </a:solidFill>
          <a:ln w="12700">
            <a:solidFill>
              <a:srgbClr val="E9A23B"/>
            </a:solidFill>
            <a:prstDash val="solid"/>
          </a:ln>
        </p:spPr>
      </p:sp>
      <p:sp>
        <p:nvSpPr>
          <p:cNvPr id="7" name="Decor circle"/>
          <p:cNvSpPr/>
          <p:nvPr/>
        </p:nvSpPr>
        <p:spPr>
          <a:xfrm>
            <a:off x="7863840" y="4023360"/>
            <a:ext cx="2011680" cy="2011680"/>
          </a:xfrm>
          <a:prstGeom prst="ellipse">
            <a:avLst/>
          </a:prstGeom>
          <a:solidFill>
            <a:srgbClr val="0D9488">
              <a:alpha val="55000"/>
            </a:srgbClr>
          </a:solidFill>
          <a:ln w="12700">
            <a:solidFill>
              <a:srgbClr val="0D9488"/>
            </a:solidFill>
            <a:prstDash val="solid"/>
          </a:ln>
        </p:spPr>
      </p:sp>
    </p:spTree>
  </p:cSld>
  <p:clrMapOvr>
    <a:masterClrMapping/>
  </p:clrMapOvr>
</p:sld>
</file>

<file path=ppt/theme/theme1.xml><?xml version="1.0" encoding="utf-8"?>
<a:theme xmlns:a="http://schemas.openxmlformats.org/drawingml/2006/main" name="Aceh Translator">
  <a:themeElements>
    <a:clrScheme name="Aceh Translator">
      <a:dk1>
        <a:srgbClr val="12303A"/>
      </a:dk1>
      <a:lt1>
        <a:srgbClr val="FFFFFF"/>
      </a:lt1>
      <a:dk2>
        <a:srgbClr val="0B3C49"/>
      </a:dk2>
      <a:lt2>
        <a:srgbClr val="EAF4F4"/>
      </a:lt2>
      <a:accent1>
        <a:srgbClr val="0D9488"/>
      </a:accent1>
      <a:accent2>
        <a:srgbClr val="E9A23B"/>
      </a:accent2>
      <a:accent3>
        <a:srgbClr val="2563EB"/>
      </a:accent3>
      <a:accent4>
        <a:srgbClr val="D9482B"/>
      </a:accent4>
      <a:accent5>
        <a:srgbClr val="4F6F7A"/>
      </a:accent5>
      <a:accent6>
        <a:srgbClr val="9DB4BB"/>
      </a:accent6>
      <a:hlink>
        <a:srgbClr val="0D9488"/>
      </a:hlink>
      <a:folHlink>
        <a:srgbClr val="4F6F7A"/>
      </a:folHlink>
    </a:clrScheme>
    <a:fontScheme name="Aceh Transl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Acehnese to Indonesian Neural Translator</dc:title>
  <dc:subject>PptxGenJS Presentation</dc:subject>
  <dc:creator>Mutaib Rather and team</dc:creator>
  <cp:lastModifiedBy>Mutaib Rather and team</cp:lastModifiedBy>
  <cp:revision>1</cp:revision>
  <dcterms:created xsi:type="dcterms:W3CDTF">2026-10-23T15:52:45Z</dcterms:created>
  <dcterms:modified xsi:type="dcterms:W3CDTF">2026-10-23T15:52:45Z</dcterms:modified>
</cp:coreProperties>
</file>